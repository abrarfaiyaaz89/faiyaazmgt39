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1" r:id="rId5"/>
    <p:sldId id="270" r:id="rId6"/>
    <p:sldId id="257" r:id="rId7"/>
    <p:sldId id="294" r:id="rId8"/>
    <p:sldId id="265" r:id="rId9"/>
    <p:sldId id="266" r:id="rId10"/>
    <p:sldId id="291" r:id="rId11"/>
    <p:sldId id="292" r:id="rId12"/>
    <p:sldId id="293" r:id="rId13"/>
    <p:sldId id="272" r:id="rId14"/>
    <p:sldId id="273" r:id="rId15"/>
    <p:sldId id="274" r:id="rId16"/>
    <p:sldId id="275" r:id="rId17"/>
    <p:sldId id="276" r:id="rId18"/>
    <p:sldId id="277" r:id="rId19"/>
    <p:sldId id="278" r:id="rId20"/>
    <p:sldId id="279" r:id="rId21"/>
    <p:sldId id="280" r:id="rId22"/>
    <p:sldId id="284" r:id="rId23"/>
    <p:sldId id="285" r:id="rId24"/>
    <p:sldId id="286" r:id="rId25"/>
    <p:sldId id="289" r:id="rId26"/>
    <p:sldId id="29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8" autoAdjust="0"/>
    <p:restoredTop sz="86410" autoAdjust="0"/>
  </p:normalViewPr>
  <p:slideViewPr>
    <p:cSldViewPr>
      <p:cViewPr varScale="1">
        <p:scale>
          <a:sx n="64" d="100"/>
          <a:sy n="64" d="100"/>
        </p:scale>
        <p:origin x="924" y="72"/>
      </p:cViewPr>
      <p:guideLst>
        <p:guide orient="horz" pos="2160"/>
        <p:guide pos="2880"/>
      </p:guideLst>
    </p:cSldViewPr>
  </p:slideViewPr>
  <p:outlineViewPr>
    <p:cViewPr>
      <p:scale>
        <a:sx n="33" d="100"/>
        <a:sy n="33" d="100"/>
      </p:scale>
      <p:origin x="0" y="32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http://1.bp.blogspot.com/-Lw43gax02GQ/Voc_6jZjzMI/AAAAAAAAAEI/W_j2d1ImpYk/s1600/mgt300%2B1.jpg"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http://tutor2u.net/business/images/POM%20process.gif" TargetMode="External"/><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http://www.freenomads.com/blog/wp-content/uploads/2013/02/7-Ps-of-Marketing.png"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http://marketingautomation.com/wp-content/uploads/2012/01/sales-function-lesser.jpg"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http://www.businessstudynotes.com/wp-content/uploads/2016/03/Finance-Functions.jpg" TargetMode="External"/><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http://www.kensiumhr.com/sites/default/files/blog/human-capital-management-hcl.jpg" TargetMode="External"/><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http://image.slidesharecdn.com/organisationalfunctions-090309051209-phpapp02/95/organisational-functions-22-728.jpg?cb=1236575566" TargetMode="External"/><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http://www.smallbusinesscomputing.com/imagesvr_ce/6766/help_350.jpg"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Even in the smallest business a number of key tasks, or functions, must be done regularly.</a:t>
            </a:r>
          </a:p>
          <a:p>
            <a:r>
              <a:rPr lang="en-US" dirty="0" smtClean="0">
                <a:latin typeface="Times New Roman" pitchFamily="18" charset="0"/>
                <a:cs typeface="Times New Roman" pitchFamily="18" charset="0"/>
              </a:rPr>
              <a:t>Raw materials must be bought, bills must be paid, customers must be served and customer enquiries must be answered</a:t>
            </a: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Zia                      BBA, Finance,CU</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Functions of Business</a:t>
            </a:r>
            <a:endParaRPr lang="en-US" sz="36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smtClean="0">
                <a:latin typeface="Times New Roman" pitchFamily="18" charset="0"/>
                <a:cs typeface="Times New Roman" pitchFamily="18" charset="0"/>
              </a:rPr>
              <a:t>In a word we can say, Grouping of individuals on the basis of the function each performs in the organization, such as accounting, marketing, manufacturing, financing, administration etc. </a:t>
            </a:r>
          </a:p>
          <a:p>
            <a:r>
              <a:rPr lang="en-US" sz="2800" dirty="0" smtClean="0">
                <a:latin typeface="Times New Roman" pitchFamily="18" charset="0"/>
                <a:cs typeface="Times New Roman" pitchFamily="18" charset="0"/>
              </a:rPr>
              <a:t>Departments in a business organization are structured according to certain functions</a:t>
            </a:r>
            <a:endParaRPr lang="en-US" sz="2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Zia                      BBA, Finance,CU</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Meaning and definition of Functional areas in Business</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of functional areas of business"/>
          <p:cNvPicPr/>
          <p:nvPr/>
        </p:nvPicPr>
        <p:blipFill>
          <a:blip r:embed="rId2" r:link="rId3"/>
          <a:srcRect/>
          <a:stretch>
            <a:fillRect/>
          </a:stretch>
        </p:blipFill>
        <p:spPr bwMode="auto">
          <a:xfrm>
            <a:off x="457200" y="457200"/>
            <a:ext cx="8382000" cy="5943599"/>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Zia                      BBA, Finance,CU</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57200" y="274638"/>
            <a:ext cx="8382000" cy="6202362"/>
          </a:xfrm>
        </p:spPr>
        <p:txBody>
          <a:bodyPr>
            <a:normAutofit/>
          </a:bodyPr>
          <a:lstStyle/>
          <a:p>
            <a:pPr algn="l"/>
            <a:r>
              <a:rPr lang="en-US" sz="3200" b="1" dirty="0" smtClean="0">
                <a:latin typeface="Times New Roman" pitchFamily="18" charset="0"/>
                <a:cs typeface="Times New Roman" pitchFamily="18" charset="0"/>
              </a:rPr>
              <a:t>Functional Areas of Business</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Every business organization performs some key tasks or functions.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Some functions are </a:t>
            </a:r>
            <a:r>
              <a:rPr lang="en-US" sz="3200" b="1" dirty="0" smtClean="0">
                <a:latin typeface="Times New Roman" pitchFamily="18" charset="0"/>
                <a:cs typeface="Times New Roman" pitchFamily="18" charset="0"/>
              </a:rPr>
              <a:t>Managerial </a:t>
            </a:r>
            <a:r>
              <a:rPr lang="en-US" sz="3200" dirty="0" smtClean="0">
                <a:latin typeface="Times New Roman" pitchFamily="18" charset="0"/>
                <a:cs typeface="Times New Roman" pitchFamily="18" charset="0"/>
              </a:rPr>
              <a:t>in nature and some functions are </a:t>
            </a:r>
            <a:r>
              <a:rPr lang="en-US" sz="3200" b="1" dirty="0" smtClean="0">
                <a:latin typeface="Times New Roman" pitchFamily="18" charset="0"/>
                <a:cs typeface="Times New Roman" pitchFamily="18" charset="0"/>
              </a:rPr>
              <a:t>Administrative.</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normAutofit/>
          </a:bodyPr>
          <a:lstStyle/>
          <a:p>
            <a:r>
              <a:rPr lang="en-US" sz="2800" dirty="0" smtClean="0">
                <a:latin typeface="Times New Roman" pitchFamily="18" charset="0"/>
                <a:cs typeface="Times New Roman" pitchFamily="18" charset="0"/>
              </a:rPr>
              <a:t>The activities needed to operate a business can be divided into a number of </a:t>
            </a:r>
            <a:r>
              <a:rPr lang="en-US" sz="2800" i="1" dirty="0" smtClean="0">
                <a:latin typeface="Times New Roman" pitchFamily="18" charset="0"/>
                <a:cs typeface="Times New Roman" pitchFamily="18" charset="0"/>
              </a:rPr>
              <a:t>functional areas</a:t>
            </a:r>
            <a:r>
              <a:rPr lang="en-US" sz="2800" dirty="0" smtClean="0">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management, operations, marketing, accounting, and finance. </a:t>
            </a:r>
          </a:p>
          <a:p>
            <a:r>
              <a:rPr lang="en-US" sz="2800" dirty="0" smtClean="0">
                <a:latin typeface="Times New Roman" pitchFamily="18" charset="0"/>
                <a:cs typeface="Times New Roman" pitchFamily="18" charset="0"/>
              </a:rPr>
              <a:t>In a large </a:t>
            </a:r>
            <a:r>
              <a:rPr lang="en-US" sz="2800" dirty="0" smtClean="0">
                <a:latin typeface="Times New Roman" pitchFamily="18" charset="0"/>
                <a:cs typeface="Times New Roman" pitchFamily="18" charset="0"/>
              </a:rPr>
              <a:t>organization, </a:t>
            </a:r>
            <a:r>
              <a:rPr lang="en-US" sz="2800" dirty="0" smtClean="0">
                <a:latin typeface="Times New Roman" pitchFamily="18" charset="0"/>
                <a:cs typeface="Times New Roman" pitchFamily="18" charset="0"/>
              </a:rPr>
              <a:t>it is usually easier to identify separate functional areas because people work together in different departments. </a:t>
            </a:r>
          </a:p>
          <a:p>
            <a:r>
              <a:rPr lang="en-US" sz="2800" dirty="0" smtClean="0">
                <a:latin typeface="Times New Roman" pitchFamily="18" charset="0"/>
                <a:cs typeface="Times New Roman" pitchFamily="18" charset="0"/>
              </a:rPr>
              <a:t>Each department carries out the tasks that relate to its particular area.</a:t>
            </a:r>
            <a:endParaRPr lang="en-US" sz="2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Zia                      BBA, Finance,CU</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2" name="Title 1"/>
          <p:cNvSpPr>
            <a:spLocks noGrp="1"/>
          </p:cNvSpPr>
          <p:nvPr>
            <p:ph type="title"/>
          </p:nvPr>
        </p:nvSpPr>
        <p:spPr>
          <a:xfrm>
            <a:off x="457200" y="274638"/>
            <a:ext cx="8229600" cy="714375"/>
          </a:xfrm>
        </p:spPr>
        <p:txBody>
          <a:bodyPr>
            <a:normAutofit/>
          </a:bodyPr>
          <a:lstStyle/>
          <a:p>
            <a:r>
              <a:rPr lang="en-US" sz="3200" b="1" dirty="0" smtClean="0">
                <a:latin typeface="Times New Roman" pitchFamily="18" charset="0"/>
                <a:cs typeface="Times New Roman" pitchFamily="18" charset="0"/>
              </a:rPr>
              <a:t>Functional areas in </a:t>
            </a:r>
            <a:r>
              <a:rPr lang="en-US" sz="3200" b="1" dirty="0" smtClean="0">
                <a:latin typeface="Times New Roman" pitchFamily="18" charset="0"/>
                <a:cs typeface="Times New Roman" pitchFamily="18" charset="0"/>
              </a:rPr>
              <a:t>business</a:t>
            </a:r>
            <a:endParaRPr lang="en-US" sz="32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05800" cy="6202362"/>
          </a:xfrm>
        </p:spPr>
        <p:txBody>
          <a:bodyPr>
            <a:normAutofit/>
          </a:bodyPr>
          <a:lstStyle/>
          <a:p>
            <a:pPr algn="l"/>
            <a:r>
              <a:rPr lang="en-US" sz="3200" b="1" dirty="0" smtClean="0">
                <a:latin typeface="Times New Roman" pitchFamily="18" charset="0"/>
                <a:cs typeface="Times New Roman" pitchFamily="18" charset="0"/>
              </a:rPr>
              <a:t>Managerial Functions of business</a:t>
            </a: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1. Production and operations</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2. Sales and Marketing</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3. Finance and Accounting</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4. Human Resource</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5. Customer services</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6. Research and development</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7. IT and support</a:t>
            </a:r>
            <a:endParaRPr lang="en-US" sz="32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Administration is a support function required by all businesses – and this does not mean only keeping files. </a:t>
            </a:r>
          </a:p>
          <a:p>
            <a:r>
              <a:rPr lang="en-US" dirty="0" smtClean="0">
                <a:latin typeface="Times New Roman" pitchFamily="18" charset="0"/>
                <a:cs typeface="Times New Roman" pitchFamily="18" charset="0"/>
              </a:rPr>
              <a:t>Senior administrators carry out a wide range of tasks, from monitoring budgets to interviewing new staff for their departments.</a:t>
            </a: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Zia                      BBA, Finance,CU</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The administration function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74638"/>
            <a:ext cx="8534400" cy="6278562"/>
          </a:xfrm>
        </p:spPr>
        <p:txBody>
          <a:bodyPr>
            <a:normAutofit/>
          </a:bodyPr>
          <a:lstStyle/>
          <a:p>
            <a:pPr algn="l"/>
            <a:r>
              <a:rPr lang="en-US" sz="3000" b="1" dirty="0" smtClean="0">
                <a:latin typeface="Times New Roman" pitchFamily="18" charset="0"/>
                <a:cs typeface="Times New Roman" pitchFamily="18" charset="0"/>
              </a:rPr>
              <a:t>Administrative functions</a:t>
            </a:r>
            <a:r>
              <a:rPr lang="en-US" sz="3000" dirty="0" smtClean="0">
                <a:latin typeface="Times New Roman" pitchFamily="18" charset="0"/>
                <a:cs typeface="Times New Roman" pitchFamily="18" charset="0"/>
              </a:rPr>
              <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Administrative functions are supportive functions required by all businesses. </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
            </a:r>
            <a:br>
              <a:rPr lang="en-US" sz="3000" dirty="0" smtClean="0">
                <a:latin typeface="Times New Roman" pitchFamily="18" charset="0"/>
                <a:cs typeface="Times New Roman" pitchFamily="18" charset="0"/>
              </a:rPr>
            </a:br>
            <a:r>
              <a:rPr lang="en-US" sz="3000" b="1" dirty="0" smtClean="0">
                <a:latin typeface="Times New Roman" pitchFamily="18" charset="0"/>
                <a:cs typeface="Times New Roman" pitchFamily="18" charset="0"/>
              </a:rPr>
              <a:t>Administrative functions included: </a:t>
            </a:r>
            <a:r>
              <a:rPr lang="en-US" sz="3000" dirty="0" smtClean="0">
                <a:latin typeface="Times New Roman" pitchFamily="18" charset="0"/>
                <a:cs typeface="Times New Roman" pitchFamily="18" charset="0"/>
              </a:rPr>
              <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1. Collecting, distributing, and dispatching the mail</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2. Storing and retrieving paper and electronic records</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3. Organizing meetings and preparing meetings documents</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4. Responding promptly to enquiries</a:t>
            </a:r>
            <a:br>
              <a:rPr lang="en-US" sz="3000" dirty="0" smtClean="0">
                <a:latin typeface="Times New Roman" pitchFamily="18" charset="0"/>
                <a:cs typeface="Times New Roman" pitchFamily="18" charset="0"/>
              </a:rPr>
            </a:br>
            <a:r>
              <a:rPr lang="en-US" sz="3000" dirty="0" smtClean="0">
                <a:latin typeface="Times New Roman" pitchFamily="18" charset="0"/>
                <a:cs typeface="Times New Roman" pitchFamily="18" charset="0"/>
              </a:rPr>
              <a:t>5. Preparing documents using word processing , spreadsheet and presentation packages</a:t>
            </a:r>
            <a:endParaRPr lang="en-US" sz="3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74638"/>
            <a:ext cx="8305800" cy="6049962"/>
          </a:xfrm>
        </p:spPr>
        <p:txBody>
          <a:bodyPr>
            <a:normAutofit/>
          </a:bodyPr>
          <a:lstStyle/>
          <a:p>
            <a:pPr algn="l"/>
            <a:r>
              <a:rPr lang="en-US" sz="3200" b="1" dirty="0" smtClean="0">
                <a:latin typeface="Times New Roman" pitchFamily="18" charset="0"/>
                <a:cs typeface="Times New Roman" pitchFamily="18" charset="0"/>
              </a:rPr>
              <a:t>Administrative functions included: </a:t>
            </a: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6. Researching information</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7. Sending and receiving messages by telephone, fax and email</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8. Making arrangements for visitors</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9. Making travel arrangements</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10. Purchasing supplies of office stationery and equipment</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11. Making arrangements for events , such as interviews  or sales conference. </a:t>
            </a:r>
            <a:endParaRPr lang="en-US" sz="32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181600"/>
          </a:xfrm>
        </p:spPr>
        <p:txBody>
          <a:bodyPr>
            <a:noAutofit/>
          </a:bodyPr>
          <a:lstStyle/>
          <a:p>
            <a:r>
              <a:rPr lang="en-US" dirty="0" smtClean="0">
                <a:latin typeface="Times New Roman" pitchFamily="18" charset="0"/>
                <a:cs typeface="Times New Roman" pitchFamily="18" charset="0"/>
              </a:rPr>
              <a:t>Production and Operations Management ("POM") is about the transformation of production and operational inputs into "outputs" that, when distributed, meet the needs of customers. </a:t>
            </a:r>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The process in the above diagram is often referred to as the "Conversion Process". </a:t>
            </a:r>
          </a:p>
          <a:p>
            <a:r>
              <a:rPr lang="en-US" dirty="0" smtClean="0">
                <a:latin typeface="Times New Roman" pitchFamily="18" charset="0"/>
                <a:cs typeface="Times New Roman" pitchFamily="18" charset="0"/>
              </a:rPr>
              <a:t>There are several different methods of handling the conversion or production process - Job, Batch, Flow and Group.</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Production and Operations</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tutor2u.net/business/images/POM%20process.gif"/>
          <p:cNvPicPr/>
          <p:nvPr/>
        </p:nvPicPr>
        <p:blipFill>
          <a:blip r:embed="rId2" r:link="rId3"/>
          <a:srcRect/>
          <a:stretch>
            <a:fillRect/>
          </a:stretch>
        </p:blipFill>
        <p:spPr bwMode="auto">
          <a:xfrm>
            <a:off x="609600" y="762000"/>
            <a:ext cx="7848600" cy="4953000"/>
          </a:xfrm>
          <a:prstGeom prst="rect">
            <a:avLst/>
          </a:prstGeom>
          <a:noFill/>
          <a:ln w="9525">
            <a:noFill/>
            <a:miter lim="800000"/>
            <a:headEnd/>
            <a:tailEnd/>
          </a:ln>
        </p:spPr>
      </p:pic>
      <p:sp>
        <p:nvSpPr>
          <p:cNvPr id="4" name="Footer Placeholder 3"/>
          <p:cNvSpPr>
            <a:spLocks noGrp="1"/>
          </p:cNvSpPr>
          <p:nvPr>
            <p:ph type="ftr" sz="quarter" idx="11"/>
          </p:nvPr>
        </p:nvSpPr>
        <p:spPr/>
        <p:txBody>
          <a:bodyPr/>
          <a:lstStyle/>
          <a:p>
            <a:r>
              <a:rPr lang="en-US" smtClean="0"/>
              <a:t>Zia                      BBA, Finance,CU</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in production functions"/>
          <p:cNvPicPr/>
          <p:nvPr/>
        </p:nvPicPr>
        <p:blipFill>
          <a:blip r:embed="rId2" cstate="print"/>
          <a:srcRect/>
          <a:stretch>
            <a:fillRect/>
          </a:stretch>
        </p:blipFill>
        <p:spPr bwMode="auto">
          <a:xfrm>
            <a:off x="533400" y="304800"/>
            <a:ext cx="8000999" cy="6096000"/>
          </a:xfrm>
          <a:prstGeom prst="rect">
            <a:avLst/>
          </a:prstGeom>
          <a:noFill/>
          <a:ln w="9525">
            <a:noFill/>
            <a:miter lim="800000"/>
            <a:headEnd/>
            <a:tailEnd/>
          </a:ln>
          <a:effectLst>
            <a:outerShdw dist="107763" dir="13500000" algn="ctr" rotWithShape="0">
              <a:srgbClr val="000000">
                <a:alpha val="50000"/>
              </a:srgbClr>
            </a:outerShdw>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This is an important question, because a carefully crafted combination of sales and marketing is vital for successful business growth. </a:t>
            </a:r>
          </a:p>
          <a:p>
            <a:r>
              <a:rPr lang="en-US" dirty="0" smtClean="0">
                <a:latin typeface="Times New Roman" pitchFamily="18" charset="0"/>
                <a:cs typeface="Times New Roman" pitchFamily="18" charset="0"/>
              </a:rPr>
              <a:t>"Selling" or making sales consists of interpersonal interaction-the one-on-one meetings, telephone calls and networking-that you engage in with prospects and customers.</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Sales and Marketing</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7 Ps of marketing"/>
          <p:cNvPicPr/>
          <p:nvPr/>
        </p:nvPicPr>
        <p:blipFill>
          <a:blip r:embed="rId2" r:link="rId3"/>
          <a:srcRect/>
          <a:stretch>
            <a:fillRect/>
          </a:stretch>
        </p:blipFill>
        <p:spPr bwMode="auto">
          <a:xfrm>
            <a:off x="838200" y="609600"/>
            <a:ext cx="7848600" cy="5714999"/>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in salesfunction"/>
          <p:cNvPicPr/>
          <p:nvPr/>
        </p:nvPicPr>
        <p:blipFill>
          <a:blip r:embed="rId2" r:link="rId3"/>
          <a:srcRect/>
          <a:stretch>
            <a:fillRect/>
          </a:stretch>
        </p:blipFill>
        <p:spPr bwMode="auto">
          <a:xfrm>
            <a:off x="457200" y="304800"/>
            <a:ext cx="8153400" cy="60198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105400"/>
          </a:xfrm>
        </p:spPr>
        <p:txBody>
          <a:bodyPr>
            <a:normAutofit/>
          </a:bodyPr>
          <a:lstStyle/>
          <a:p>
            <a:r>
              <a:rPr lang="en-US" sz="2800" dirty="0" smtClean="0">
                <a:latin typeface="Times New Roman" pitchFamily="18" charset="0"/>
                <a:cs typeface="Times New Roman" pitchFamily="18" charset="0"/>
              </a:rPr>
              <a:t>Accounting and finance play an existential role in the management of any business. </a:t>
            </a:r>
          </a:p>
          <a:p>
            <a:r>
              <a:rPr lang="en-US" sz="2800" dirty="0" smtClean="0">
                <a:latin typeface="Times New Roman" pitchFamily="18" charset="0"/>
                <a:cs typeface="Times New Roman" pitchFamily="18" charset="0"/>
              </a:rPr>
              <a:t>In the words of John </a:t>
            </a:r>
            <a:r>
              <a:rPr lang="en-US" sz="2800" dirty="0" err="1" smtClean="0">
                <a:latin typeface="Times New Roman" pitchFamily="18" charset="0"/>
                <a:cs typeface="Times New Roman" pitchFamily="18" charset="0"/>
              </a:rPr>
              <a:t>Nessel</a:t>
            </a:r>
            <a:r>
              <a:rPr lang="en-US" sz="2800" dirty="0" smtClean="0">
                <a:latin typeface="Times New Roman" pitchFamily="18" charset="0"/>
                <a:cs typeface="Times New Roman" pitchFamily="18" charset="0"/>
              </a:rPr>
              <a:t>, president of the Restaurant Resource Group, "If you can't count it, you can't manage it.”</a:t>
            </a:r>
          </a:p>
          <a:p>
            <a:r>
              <a:rPr lang="en-US" sz="2800" dirty="0" smtClean="0">
                <a:latin typeface="Times New Roman" pitchFamily="18" charset="0"/>
                <a:cs typeface="Times New Roman" pitchFamily="18" charset="0"/>
              </a:rPr>
              <a:t>He means that companies operate on money, and if you don't control that money, you don't control your business. </a:t>
            </a:r>
          </a:p>
          <a:p>
            <a:r>
              <a:rPr lang="en-US" sz="2800" dirty="0" smtClean="0">
                <a:latin typeface="Times New Roman" pitchFamily="18" charset="0"/>
                <a:cs typeface="Times New Roman" pitchFamily="18" charset="0"/>
              </a:rPr>
              <a:t>By properly accounting for your company's income and expenses, you can manage the flow of money and thereby direct the course of your business</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Finance and Accounting</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of Finance Functions"/>
          <p:cNvPicPr/>
          <p:nvPr/>
        </p:nvPicPr>
        <p:blipFill>
          <a:blip r:embed="rId2" r:link="rId3"/>
          <a:srcRect/>
          <a:stretch>
            <a:fillRect/>
          </a:stretch>
        </p:blipFill>
        <p:spPr bwMode="auto">
          <a:xfrm>
            <a:off x="914400" y="838200"/>
            <a:ext cx="7772400" cy="5486400"/>
          </a:xfrm>
          <a:prstGeom prst="rect">
            <a:avLst/>
          </a:prstGeom>
          <a:noFill/>
          <a:ln w="9525">
            <a:noFill/>
            <a:miter lim="800000"/>
            <a:headEnd/>
            <a:tailEnd/>
          </a:ln>
        </p:spPr>
      </p:pic>
      <p:sp>
        <p:nvSpPr>
          <p:cNvPr id="4" name="Footer Placeholder 3"/>
          <p:cNvSpPr>
            <a:spLocks noGrp="1"/>
          </p:cNvSpPr>
          <p:nvPr>
            <p:ph type="ftr" sz="quarter" idx="11"/>
          </p:nvPr>
        </p:nvSpPr>
        <p:spPr/>
        <p:txBody>
          <a:bodyPr/>
          <a:lstStyle/>
          <a:p>
            <a:r>
              <a:rPr lang="en-US" smtClean="0"/>
              <a:t>Zia                      BBA, Finance,CU</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A human resources department is a critical component of employee well-being in any business, no matter how small. </a:t>
            </a:r>
          </a:p>
          <a:p>
            <a:r>
              <a:rPr lang="en-US" dirty="0" smtClean="0">
                <a:latin typeface="Times New Roman" pitchFamily="18" charset="0"/>
                <a:cs typeface="Times New Roman" pitchFamily="18" charset="0"/>
              </a:rPr>
              <a:t>HR responsibilities include payroll, benefits, hiring, firing, and keeping up to date with state and federal tax laws.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Human Resource</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in HR functions"/>
          <p:cNvPicPr/>
          <p:nvPr/>
        </p:nvPicPr>
        <p:blipFill>
          <a:blip r:embed="rId2" r:link="rId3"/>
          <a:srcRect/>
          <a:stretch>
            <a:fillRect/>
          </a:stretch>
        </p:blipFill>
        <p:spPr bwMode="auto">
          <a:xfrm>
            <a:off x="762000" y="533400"/>
            <a:ext cx="8001000" cy="55626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Research and development (R&amp;D) is a valuable tool for growing and improving your business. </a:t>
            </a:r>
          </a:p>
          <a:p>
            <a:r>
              <a:rPr lang="en-US" dirty="0" smtClean="0">
                <a:latin typeface="Times New Roman" pitchFamily="18" charset="0"/>
                <a:cs typeface="Times New Roman" pitchFamily="18" charset="0"/>
              </a:rPr>
              <a:t>R&amp;D involves researching your market and your customer needs and developing new and improved products and services to fit these needs.</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Research and Development (R&amp;D)</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in research and development functions"/>
          <p:cNvPicPr/>
          <p:nvPr/>
        </p:nvPicPr>
        <p:blipFill>
          <a:blip r:embed="rId2" r:link="rId3"/>
          <a:srcRect/>
          <a:stretch>
            <a:fillRect/>
          </a:stretch>
        </p:blipFill>
        <p:spPr bwMode="auto">
          <a:xfrm>
            <a:off x="304800" y="381000"/>
            <a:ext cx="8458199" cy="60960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53000"/>
          </a:xfrm>
        </p:spPr>
        <p:txBody>
          <a:bodyPr>
            <a:noAutofit/>
          </a:bodyPr>
          <a:lstStyle/>
          <a:p>
            <a:r>
              <a:rPr lang="en-US" dirty="0" smtClean="0">
                <a:latin typeface="Times New Roman" pitchFamily="18" charset="0"/>
                <a:cs typeface="Times New Roman" pitchFamily="18" charset="0"/>
              </a:rPr>
              <a:t>Customer service is the service provided to customers before, during and after purchasing and using goods and services. </a:t>
            </a:r>
          </a:p>
          <a:p>
            <a:r>
              <a:rPr lang="en-US" dirty="0" smtClean="0">
                <a:latin typeface="Times New Roman" pitchFamily="18" charset="0"/>
                <a:cs typeface="Times New Roman" pitchFamily="18" charset="0"/>
              </a:rPr>
              <a:t>Good customer service provides an experience that meets customer expectations. It produces satisfied customers. </a:t>
            </a:r>
          </a:p>
          <a:p>
            <a:r>
              <a:rPr lang="en-US" dirty="0" smtClean="0">
                <a:latin typeface="Times New Roman" pitchFamily="18" charset="0"/>
                <a:cs typeface="Times New Roman" pitchFamily="18" charset="0"/>
              </a:rPr>
              <a:t>Bad customer service can generate complaints. It can result in lost sales, because consumers might take their business to a competitor.</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Customer Services in Business</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Business-IT alignment is a dynamic state in which a business organization is able to use information technology (IT) effectively to achieve business objectives - typically improved financial performance or marketplace competitiveness.</a:t>
            </a: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Zia                      BBA, Finance,CU</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IT and Support</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mall business IT support"/>
          <p:cNvPicPr/>
          <p:nvPr/>
        </p:nvPicPr>
        <p:blipFill>
          <a:blip r:embed="rId2" r:link="rId3"/>
          <a:srcRect/>
          <a:stretch>
            <a:fillRect/>
          </a:stretch>
        </p:blipFill>
        <p:spPr bwMode="auto">
          <a:xfrm>
            <a:off x="609600" y="914400"/>
            <a:ext cx="7772400" cy="5181600"/>
          </a:xfrm>
          <a:prstGeom prst="rect">
            <a:avLst/>
          </a:prstGeom>
          <a:noFill/>
          <a:ln w="9525">
            <a:noFill/>
            <a:miter lim="800000"/>
            <a:headEnd/>
            <a:tailEnd/>
          </a:ln>
        </p:spPr>
      </p:pic>
      <p:sp>
        <p:nvSpPr>
          <p:cNvPr id="4" name="Footer Placeholder 3"/>
          <p:cNvSpPr>
            <a:spLocks noGrp="1"/>
          </p:cNvSpPr>
          <p:nvPr>
            <p:ph type="ftr" sz="quarter" idx="11"/>
          </p:nvPr>
        </p:nvSpPr>
        <p:spPr/>
        <p:txBody>
          <a:bodyPr/>
          <a:lstStyle/>
          <a:p>
            <a:r>
              <a:rPr lang="en-US" smtClean="0"/>
              <a:t>Zia                      BBA, Finance,CU</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No functional area in a business organization can work in isolation. </a:t>
            </a:r>
          </a:p>
          <a:p>
            <a:r>
              <a:rPr lang="en-US" sz="3000" dirty="0" smtClean="0">
                <a:latin typeface="Times New Roman" pitchFamily="18" charset="0"/>
                <a:cs typeface="Times New Roman" pitchFamily="18" charset="0"/>
              </a:rPr>
              <a:t>Sales people know which customers still owe money and must not be sold any more goods on credit until a bill has been paid; </a:t>
            </a:r>
          </a:p>
          <a:p>
            <a:r>
              <a:rPr lang="en-US" sz="3000" dirty="0" smtClean="0">
                <a:latin typeface="Times New Roman" pitchFamily="18" charset="0"/>
                <a:cs typeface="Times New Roman" pitchFamily="18" charset="0"/>
              </a:rPr>
              <a:t>The manager knows which members of staff are keen and hardworking, without being told, and a customer query can quickly be solved by asking everyone in the office for advice.</a:t>
            </a:r>
          </a:p>
          <a:p>
            <a:endParaRPr lang="en-US" sz="3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Relationships between different functional areas</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581400"/>
            <a:ext cx="7772400" cy="1143000"/>
          </a:xfrm>
        </p:spPr>
        <p:txBody>
          <a:bodyPr>
            <a:normAutofit/>
          </a:bodyPr>
          <a:lstStyle/>
          <a:p>
            <a:r>
              <a:rPr lang="en-US" sz="2800" dirty="0" smtClean="0">
                <a:solidFill>
                  <a:schemeClr val="accent2"/>
                </a:solidFill>
                <a:effectLst>
                  <a:outerShdw blurRad="38100" dist="38100" dir="2700000" algn="tl">
                    <a:srgbClr val="C0C0C0"/>
                  </a:outerShdw>
                </a:effectLst>
                <a:latin typeface="Times New Roman" pitchFamily="18" charset="0"/>
                <a:cs typeface="Times New Roman" pitchFamily="18" charset="0"/>
              </a:rPr>
              <a:t>Thank you for joining us!</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4648200"/>
            <a:ext cx="6400800" cy="990600"/>
          </a:xfrm>
        </p:spPr>
        <p:txBody>
          <a:bodyPr>
            <a:normAutofit/>
          </a:bodyPr>
          <a:lstStyle/>
          <a:p>
            <a:r>
              <a:rPr lang="nl-NL" sz="3600" dirty="0" smtClean="0">
                <a:solidFill>
                  <a:schemeClr val="tx1"/>
                </a:solidFill>
                <a:latin typeface="Times New Roman" pitchFamily="18" charset="0"/>
                <a:cs typeface="Times New Roman" pitchFamily="18" charset="0"/>
              </a:rPr>
              <a:t>Questions?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graphicFrame>
        <p:nvGraphicFramePr>
          <p:cNvPr id="256003" name="Object 3"/>
          <p:cNvGraphicFramePr>
            <a:graphicFrameLocks noChangeAspect="1"/>
          </p:cNvGraphicFramePr>
          <p:nvPr/>
        </p:nvGraphicFramePr>
        <p:xfrm>
          <a:off x="2590800" y="381000"/>
          <a:ext cx="4019550" cy="3200400"/>
        </p:xfrm>
        <a:graphic>
          <a:graphicData uri="http://schemas.openxmlformats.org/presentationml/2006/ole">
            <mc:AlternateContent xmlns:mc="http://schemas.openxmlformats.org/markup-compatibility/2006">
              <mc:Choice xmlns:v="urn:schemas-microsoft-com:vml" Requires="v">
                <p:oleObj spid="_x0000_s1027" name="Clip" r:id="rId4" imgW="1281289" imgH="927947" progId="">
                  <p:embed/>
                </p:oleObj>
              </mc:Choice>
              <mc:Fallback>
                <p:oleObj name="Clip" r:id="rId4" imgW="1281289" imgH="927947"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81000"/>
                        <a:ext cx="4019550" cy="320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256003"/>
                                        </p:tgtEl>
                                        <p:attrNameLst>
                                          <p:attrName>style.visibility</p:attrName>
                                        </p:attrNameLst>
                                      </p:cBhvr>
                                      <p:to>
                                        <p:strVal val="visible"/>
                                      </p:to>
                                    </p:set>
                                    <p:anim calcmode="lin" valueType="num">
                                      <p:cBhvr>
                                        <p:cTn id="7" dur="1000" fill="hold"/>
                                        <p:tgtEl>
                                          <p:spTgt spid="256003"/>
                                        </p:tgtEl>
                                        <p:attrNameLst>
                                          <p:attrName>ppt_w</p:attrName>
                                        </p:attrNameLst>
                                      </p:cBhvr>
                                      <p:tavLst>
                                        <p:tav tm="0">
                                          <p:val>
                                            <p:fltVal val="0"/>
                                          </p:val>
                                        </p:tav>
                                        <p:tav tm="100000">
                                          <p:val>
                                            <p:strVal val="#ppt_w"/>
                                          </p:val>
                                        </p:tav>
                                      </p:tavLst>
                                    </p:anim>
                                    <p:anim calcmode="lin" valueType="num">
                                      <p:cBhvr>
                                        <p:cTn id="8" dur="1000" fill="hold"/>
                                        <p:tgtEl>
                                          <p:spTgt spid="256003"/>
                                        </p:tgtEl>
                                        <p:attrNameLst>
                                          <p:attrName>ppt_h</p:attrName>
                                        </p:attrNameLst>
                                      </p:cBhvr>
                                      <p:tavLst>
                                        <p:tav tm="0">
                                          <p:val>
                                            <p:fltVal val="0"/>
                                          </p:val>
                                        </p:tav>
                                        <p:tav tm="100000">
                                          <p:val>
                                            <p:strVal val="#ppt_h"/>
                                          </p:val>
                                        </p:tav>
                                      </p:tavLst>
                                    </p:anim>
                                    <p:anim calcmode="lin" valueType="num">
                                      <p:cBhvr>
                                        <p:cTn id="9" dur="1000" fill="hold"/>
                                        <p:tgtEl>
                                          <p:spTgt spid="25600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5600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CLAP.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602</Words>
  <Application>Microsoft Office PowerPoint</Application>
  <PresentationFormat>On-screen Show (4:3)</PresentationFormat>
  <Paragraphs>78</Paragraphs>
  <Slides>26</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1" baseType="lpstr">
      <vt:lpstr>Arial</vt:lpstr>
      <vt:lpstr>Calibri</vt:lpstr>
      <vt:lpstr>Times New Roman</vt:lpstr>
      <vt:lpstr>Office Theme</vt:lpstr>
      <vt:lpstr>Clip</vt:lpstr>
      <vt:lpstr>Functions of Business</vt:lpstr>
      <vt:lpstr>Meaning and definition of Functional areas in Business</vt:lpstr>
      <vt:lpstr>PowerPoint Presentation</vt:lpstr>
      <vt:lpstr>Functional Areas of Business  Every business organization performs some key tasks or functions.   Some functions are Managerial in nature and some functions are Administrative. </vt:lpstr>
      <vt:lpstr>Functional areas in business</vt:lpstr>
      <vt:lpstr>Managerial Functions of business  1. Production and operations 2. Sales and Marketing 3. Finance and Accounting 4. Human Resource 5. Customer services 6. Research and development 7. IT and support</vt:lpstr>
      <vt:lpstr>The administration function</vt:lpstr>
      <vt:lpstr>Administrative functions Administrative functions are supportive functions required by all businesses.   Administrative functions included:  1. Collecting, distributing, and dispatching the mail 2. Storing and retrieving paper and electronic records 3. Organizing meetings and preparing meetings documents 4. Responding promptly to enquiries 5. Preparing documents using word processing , spreadsheet and presentation packages</vt:lpstr>
      <vt:lpstr>Administrative functions included:   6. Researching information 7. Sending and receiving messages by telephone, fax and email 8. Making arrangements for visitors 9. Making travel arrangements 10. Purchasing supplies of office stationery and equipment 11. Making arrangements for events , such as interviews  or sales conference. </vt:lpstr>
      <vt:lpstr>Production and Operations</vt:lpstr>
      <vt:lpstr>PowerPoint Presentation</vt:lpstr>
      <vt:lpstr>PowerPoint Presentation</vt:lpstr>
      <vt:lpstr>Sales and Marketing</vt:lpstr>
      <vt:lpstr>PowerPoint Presentation</vt:lpstr>
      <vt:lpstr>PowerPoint Presentation</vt:lpstr>
      <vt:lpstr>Finance and Accounting</vt:lpstr>
      <vt:lpstr>PowerPoint Presentation</vt:lpstr>
      <vt:lpstr>Human Resource</vt:lpstr>
      <vt:lpstr>PowerPoint Presentation</vt:lpstr>
      <vt:lpstr>Research and Development (R&amp;D)</vt:lpstr>
      <vt:lpstr>PowerPoint Presentation</vt:lpstr>
      <vt:lpstr>Customer Services in Business</vt:lpstr>
      <vt:lpstr>IT and Support</vt:lpstr>
      <vt:lpstr>PowerPoint Presentation</vt:lpstr>
      <vt:lpstr>Relationships between different functional areas</vt:lpstr>
      <vt:lpstr>Thank you for joining us!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Areas of Business  Every business organization performs some key tasks or functions. </dc:title>
  <dc:creator>MD.HARISUR RAHMAN</dc:creator>
  <cp:lastModifiedBy>Ramisa Nafisa CU</cp:lastModifiedBy>
  <cp:revision>7</cp:revision>
  <dcterms:created xsi:type="dcterms:W3CDTF">2006-08-16T00:00:00Z</dcterms:created>
  <dcterms:modified xsi:type="dcterms:W3CDTF">2022-04-09T17:13:56Z</dcterms:modified>
</cp:coreProperties>
</file>