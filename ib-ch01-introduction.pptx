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ldx" ContentType="application/vnd.openxmlformats-officedocument.presentationml.slide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64" r:id="rId4"/>
    <p:sldId id="266" r:id="rId5"/>
    <p:sldId id="282" r:id="rId6"/>
    <p:sldId id="268" r:id="rId7"/>
    <p:sldId id="269" r:id="rId8"/>
    <p:sldId id="270" r:id="rId9"/>
    <p:sldId id="271" r:id="rId10"/>
    <p:sldId id="283" r:id="rId11"/>
    <p:sldId id="272" r:id="rId12"/>
    <p:sldId id="273" r:id="rId13"/>
    <p:sldId id="274" r:id="rId14"/>
    <p:sldId id="275" r:id="rId15"/>
    <p:sldId id="286" r:id="rId16"/>
    <p:sldId id="276" r:id="rId17"/>
    <p:sldId id="277" r:id="rId18"/>
    <p:sldId id="278" r:id="rId19"/>
    <p:sldId id="287" r:id="rId20"/>
    <p:sldId id="279" r:id="rId21"/>
    <p:sldId id="280" r:id="rId22"/>
    <p:sldId id="285" r:id="rId23"/>
    <p:sldId id="281" r:id="rId2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8" autoAdjust="0"/>
    <p:restoredTop sz="86410" autoAdjust="0"/>
  </p:normalViewPr>
  <p:slideViewPr>
    <p:cSldViewPr>
      <p:cViewPr varScale="1">
        <p:scale>
          <a:sx n="57" d="100"/>
          <a:sy n="57" d="100"/>
        </p:scale>
        <p:origin x="83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5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44F4F6-4241-4E53-B6F6-8FF956E4A75C}" type="doc">
      <dgm:prSet loTypeId="urn:microsoft.com/office/officeart/2005/8/layout/radial1" loCatId="relationship" qsTypeId="urn:microsoft.com/office/officeart/2005/8/quickstyle/simple2" qsCatId="simple" csTypeId="urn:microsoft.com/office/officeart/2005/8/colors/accent0_1" csCatId="mainScheme" phldr="1"/>
      <dgm:spPr/>
    </dgm:pt>
    <dgm:pt modelId="{D111A588-95B6-4724-8E44-165175372BFA}">
      <dgm:prSet custT="1"/>
      <dgm:spPr/>
      <dgm:t>
        <a:bodyPr/>
        <a:lstStyle/>
        <a:p>
          <a:pPr marR="0" algn="ctr" rtl="0"/>
          <a:endParaRPr lang="en-US" sz="900" baseline="0" dirty="0">
            <a:latin typeface="Times New Roman"/>
          </a:endParaRPr>
        </a:p>
        <a:p>
          <a:pPr marR="0" algn="ctr" rtl="0"/>
          <a:r>
            <a:rPr lang="en-US" sz="1050" b="1" baseline="0" dirty="0">
              <a:latin typeface="Calibri"/>
            </a:rPr>
            <a:t>Business Functions</a:t>
          </a:r>
          <a:endParaRPr lang="en-US" sz="1050" dirty="0"/>
        </a:p>
      </dgm:t>
    </dgm:pt>
    <dgm:pt modelId="{7D59C60D-01D5-453A-8C64-1426BE9C36EB}" type="parTrans" cxnId="{2B9B22AA-88BD-4C24-99A4-429E48C26EDB}">
      <dgm:prSet/>
      <dgm:spPr/>
      <dgm:t>
        <a:bodyPr/>
        <a:lstStyle/>
        <a:p>
          <a:endParaRPr lang="en-US"/>
        </a:p>
      </dgm:t>
    </dgm:pt>
    <dgm:pt modelId="{16E14B29-29C8-4D17-9F89-27B3CF68924D}" type="sibTrans" cxnId="{2B9B22AA-88BD-4C24-99A4-429E48C26EDB}">
      <dgm:prSet/>
      <dgm:spPr/>
      <dgm:t>
        <a:bodyPr/>
        <a:lstStyle/>
        <a:p>
          <a:endParaRPr lang="en-US"/>
        </a:p>
      </dgm:t>
    </dgm:pt>
    <dgm:pt modelId="{8DE36B34-849C-46BF-A09B-129EDC48F27F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+mj-lt"/>
            </a:rPr>
            <a:t>Production</a:t>
          </a:r>
          <a:endParaRPr lang="en-US" sz="2000" dirty="0">
            <a:latin typeface="+mj-lt"/>
          </a:endParaRPr>
        </a:p>
      </dgm:t>
    </dgm:pt>
    <dgm:pt modelId="{712C61D5-77D3-4F05-B1F5-50F9252CF8AA}" type="parTrans" cxnId="{73A42038-69FF-49C9-8195-444F36ED2BD3}">
      <dgm:prSet/>
      <dgm:spPr/>
      <dgm:t>
        <a:bodyPr/>
        <a:lstStyle/>
        <a:p>
          <a:endParaRPr lang="en-US"/>
        </a:p>
      </dgm:t>
    </dgm:pt>
    <dgm:pt modelId="{60811F69-F43F-43CC-8FD8-74ED994EDE53}" type="sibTrans" cxnId="{73A42038-69FF-49C9-8195-444F36ED2BD3}">
      <dgm:prSet/>
      <dgm:spPr/>
      <dgm:t>
        <a:bodyPr/>
        <a:lstStyle/>
        <a:p>
          <a:endParaRPr lang="en-US"/>
        </a:p>
      </dgm:t>
    </dgm:pt>
    <dgm:pt modelId="{955598A5-23DE-4970-944F-2F092265AE73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Calibri"/>
            </a:rPr>
            <a:t>Marketing</a:t>
          </a:r>
          <a:endParaRPr lang="en-US" sz="2000" dirty="0"/>
        </a:p>
      </dgm:t>
    </dgm:pt>
    <dgm:pt modelId="{3A3B78BE-9699-4DEE-B0D9-B5A6EE74701D}" type="parTrans" cxnId="{5D31C65D-C508-440B-B259-486F453C62BC}">
      <dgm:prSet/>
      <dgm:spPr/>
      <dgm:t>
        <a:bodyPr/>
        <a:lstStyle/>
        <a:p>
          <a:endParaRPr lang="en-US"/>
        </a:p>
      </dgm:t>
    </dgm:pt>
    <dgm:pt modelId="{806215CE-4BEC-4358-8EBF-8BECD0C8A55B}" type="sibTrans" cxnId="{5D31C65D-C508-440B-B259-486F453C62BC}">
      <dgm:prSet/>
      <dgm:spPr/>
      <dgm:t>
        <a:bodyPr/>
        <a:lstStyle/>
        <a:p>
          <a:endParaRPr lang="en-US"/>
        </a:p>
      </dgm:t>
    </dgm:pt>
    <dgm:pt modelId="{76C19C88-CA8C-4296-A3F5-F37036DED16C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Calibri"/>
            </a:rPr>
            <a:t>Finance</a:t>
          </a:r>
          <a:endParaRPr lang="en-US" sz="2000" dirty="0"/>
        </a:p>
      </dgm:t>
    </dgm:pt>
    <dgm:pt modelId="{C34C5074-D6E2-4FCB-A779-15C329264D5F}" type="parTrans" cxnId="{CFE01B0F-4015-47E7-8B91-CB027A6140BF}">
      <dgm:prSet/>
      <dgm:spPr/>
      <dgm:t>
        <a:bodyPr/>
        <a:lstStyle/>
        <a:p>
          <a:endParaRPr lang="en-US"/>
        </a:p>
      </dgm:t>
    </dgm:pt>
    <dgm:pt modelId="{C1A1294D-726D-431C-A8B1-0C7D45CB96CB}" type="sibTrans" cxnId="{CFE01B0F-4015-47E7-8B91-CB027A6140BF}">
      <dgm:prSet/>
      <dgm:spPr/>
      <dgm:t>
        <a:bodyPr/>
        <a:lstStyle/>
        <a:p>
          <a:endParaRPr lang="en-US"/>
        </a:p>
      </dgm:t>
    </dgm:pt>
    <dgm:pt modelId="{CFA4D72B-2285-44AD-8936-0A1022FBDE5F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Calibri"/>
            </a:rPr>
            <a:t>Management</a:t>
          </a:r>
          <a:endParaRPr lang="en-US" sz="2000" dirty="0"/>
        </a:p>
      </dgm:t>
    </dgm:pt>
    <dgm:pt modelId="{24A4CCC4-C72A-498F-A388-0098BAB222DA}" type="parTrans" cxnId="{205F8AA4-8D47-424D-8E18-59F26ABC95F3}">
      <dgm:prSet/>
      <dgm:spPr/>
      <dgm:t>
        <a:bodyPr/>
        <a:lstStyle/>
        <a:p>
          <a:endParaRPr lang="en-US"/>
        </a:p>
      </dgm:t>
    </dgm:pt>
    <dgm:pt modelId="{037C0F65-31A3-4B49-88DC-655E37391D1C}" type="sibTrans" cxnId="{205F8AA4-8D47-424D-8E18-59F26ABC95F3}">
      <dgm:prSet/>
      <dgm:spPr/>
      <dgm:t>
        <a:bodyPr/>
        <a:lstStyle/>
        <a:p>
          <a:endParaRPr lang="en-US"/>
        </a:p>
      </dgm:t>
    </dgm:pt>
    <dgm:pt modelId="{71B32538-547B-406B-8A7B-AB8F859B8924}">
      <dgm:prSet custT="1"/>
      <dgm:spPr/>
      <dgm:t>
        <a:bodyPr/>
        <a:lstStyle/>
        <a:p>
          <a:pPr marR="0" algn="ctr" rtl="0"/>
          <a:endParaRPr lang="en-US" sz="2000" baseline="0" dirty="0">
            <a:latin typeface="Times New Roman"/>
          </a:endParaRPr>
        </a:p>
        <a:p>
          <a:pPr marR="0" algn="ctr" rtl="0"/>
          <a:r>
            <a:rPr lang="en-US" sz="2000" baseline="0" dirty="0">
              <a:latin typeface="Calibri"/>
            </a:rPr>
            <a:t>Public- Relations</a:t>
          </a:r>
          <a:endParaRPr lang="en-US" sz="2000" dirty="0"/>
        </a:p>
      </dgm:t>
    </dgm:pt>
    <dgm:pt modelId="{69A16068-993E-4BF7-BBBC-FFC9985E3ED2}" type="parTrans" cxnId="{5DB6C204-50D8-4325-B36D-AD029E469133}">
      <dgm:prSet/>
      <dgm:spPr/>
      <dgm:t>
        <a:bodyPr/>
        <a:lstStyle/>
        <a:p>
          <a:endParaRPr lang="en-US"/>
        </a:p>
      </dgm:t>
    </dgm:pt>
    <dgm:pt modelId="{28A66F1C-FD11-45C0-B463-8EC683B5C08D}" type="sibTrans" cxnId="{5DB6C204-50D8-4325-B36D-AD029E469133}">
      <dgm:prSet/>
      <dgm:spPr/>
      <dgm:t>
        <a:bodyPr/>
        <a:lstStyle/>
        <a:p>
          <a:endParaRPr lang="en-US"/>
        </a:p>
      </dgm:t>
    </dgm:pt>
    <dgm:pt modelId="{2138FFF9-46C7-4091-82B8-836DD2373EB9}">
      <dgm:prSet custT="1"/>
      <dgm:spPr/>
      <dgm:t>
        <a:bodyPr/>
        <a:lstStyle/>
        <a:p>
          <a:pPr marR="0" algn="ctr" rtl="0"/>
          <a:endParaRPr lang="en-US" sz="2000" baseline="0" dirty="0">
            <a:latin typeface="Times New Roman"/>
          </a:endParaRPr>
        </a:p>
        <a:p>
          <a:pPr marR="0" algn="ctr" rtl="0"/>
          <a:r>
            <a:rPr lang="en-US" sz="2000" baseline="0" dirty="0">
              <a:latin typeface="Calibri"/>
            </a:rPr>
            <a:t>Personnel </a:t>
          </a:r>
          <a:endParaRPr lang="en-US" sz="2000" baseline="0" dirty="0">
            <a:latin typeface="Times New Roman"/>
          </a:endParaRPr>
        </a:p>
      </dgm:t>
    </dgm:pt>
    <dgm:pt modelId="{721D89FB-A672-469B-860E-049F5A1170F3}" type="parTrans" cxnId="{CA06480F-C665-45E7-A2E5-7F53B13CF3CE}">
      <dgm:prSet/>
      <dgm:spPr/>
      <dgm:t>
        <a:bodyPr/>
        <a:lstStyle/>
        <a:p>
          <a:endParaRPr lang="en-US"/>
        </a:p>
      </dgm:t>
    </dgm:pt>
    <dgm:pt modelId="{E6F7B4DA-A341-4837-9EDB-3E3057D680BE}" type="sibTrans" cxnId="{CA06480F-C665-45E7-A2E5-7F53B13CF3CE}">
      <dgm:prSet/>
      <dgm:spPr/>
      <dgm:t>
        <a:bodyPr/>
        <a:lstStyle/>
        <a:p>
          <a:endParaRPr lang="en-US"/>
        </a:p>
      </dgm:t>
    </dgm:pt>
    <dgm:pt modelId="{E1B439C8-69EE-47E7-8140-F5B1663FBEA3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Calibri"/>
            </a:rPr>
            <a:t>Administration</a:t>
          </a:r>
          <a:endParaRPr lang="en-US" sz="2000" dirty="0"/>
        </a:p>
      </dgm:t>
    </dgm:pt>
    <dgm:pt modelId="{D021588E-D5A7-41EE-AB19-AEEDEC378A8B}" type="parTrans" cxnId="{A08456C1-57E6-4C88-AB07-6CFA2E2D3757}">
      <dgm:prSet/>
      <dgm:spPr/>
      <dgm:t>
        <a:bodyPr/>
        <a:lstStyle/>
        <a:p>
          <a:endParaRPr lang="en-US"/>
        </a:p>
      </dgm:t>
    </dgm:pt>
    <dgm:pt modelId="{C7823622-A547-4C96-8959-4EF2211E14CF}" type="sibTrans" cxnId="{A08456C1-57E6-4C88-AB07-6CFA2E2D3757}">
      <dgm:prSet/>
      <dgm:spPr/>
      <dgm:t>
        <a:bodyPr/>
        <a:lstStyle/>
        <a:p>
          <a:endParaRPr lang="en-US"/>
        </a:p>
      </dgm:t>
    </dgm:pt>
    <dgm:pt modelId="{E1CFD95C-9AF7-48BF-9D18-F3722AA01279}">
      <dgm:prSet custT="1"/>
      <dgm:spPr/>
      <dgm:t>
        <a:bodyPr/>
        <a:lstStyle/>
        <a:p>
          <a:pPr marR="0" algn="ctr" rtl="0"/>
          <a:r>
            <a:rPr lang="en-US" sz="2000" baseline="0" dirty="0">
              <a:latin typeface="Calibri"/>
            </a:rPr>
            <a:t>Purchasing</a:t>
          </a:r>
          <a:endParaRPr lang="en-US" sz="2000" dirty="0"/>
        </a:p>
      </dgm:t>
    </dgm:pt>
    <dgm:pt modelId="{B1253D36-3A74-45D8-9C90-F42C24447573}" type="parTrans" cxnId="{399B2883-8A18-4483-9BBC-B5B4157AE338}">
      <dgm:prSet/>
      <dgm:spPr/>
      <dgm:t>
        <a:bodyPr/>
        <a:lstStyle/>
        <a:p>
          <a:endParaRPr lang="en-US"/>
        </a:p>
      </dgm:t>
    </dgm:pt>
    <dgm:pt modelId="{70899512-F7F1-4A03-AF4C-B97C7893932E}" type="sibTrans" cxnId="{399B2883-8A18-4483-9BBC-B5B4157AE338}">
      <dgm:prSet/>
      <dgm:spPr/>
      <dgm:t>
        <a:bodyPr/>
        <a:lstStyle/>
        <a:p>
          <a:endParaRPr lang="en-US"/>
        </a:p>
      </dgm:t>
    </dgm:pt>
    <dgm:pt modelId="{52F74009-4478-4298-BA07-79293100D640}" type="pres">
      <dgm:prSet presAssocID="{2C44F4F6-4241-4E53-B6F6-8FF956E4A75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602F13-7E62-4B0C-9471-2F0095B42C11}" type="pres">
      <dgm:prSet presAssocID="{D111A588-95B6-4724-8E44-165175372BFA}" presName="centerShape" presStyleLbl="node0" presStyleIdx="0" presStyleCnt="1" custLinFactNeighborX="2785" custLinFactNeighborY="-407"/>
      <dgm:spPr/>
    </dgm:pt>
    <dgm:pt modelId="{CC3D1086-E507-4519-B1DD-CA4191567F49}" type="pres">
      <dgm:prSet presAssocID="{712C61D5-77D3-4F05-B1F5-50F9252CF8AA}" presName="Name9" presStyleLbl="parChTrans1D2" presStyleIdx="0" presStyleCnt="8"/>
      <dgm:spPr/>
    </dgm:pt>
    <dgm:pt modelId="{58D63877-F569-4CE4-A2D5-CA2617B2C4A9}" type="pres">
      <dgm:prSet presAssocID="{712C61D5-77D3-4F05-B1F5-50F9252CF8AA}" presName="connTx" presStyleLbl="parChTrans1D2" presStyleIdx="0" presStyleCnt="8"/>
      <dgm:spPr/>
    </dgm:pt>
    <dgm:pt modelId="{A18814C0-6F81-4AE0-A403-45A632705A7B}" type="pres">
      <dgm:prSet presAssocID="{8DE36B34-849C-46BF-A09B-129EDC48F27F}" presName="node" presStyleLbl="node1" presStyleIdx="0" presStyleCnt="8" custScaleX="172845">
        <dgm:presLayoutVars>
          <dgm:bulletEnabled val="1"/>
        </dgm:presLayoutVars>
      </dgm:prSet>
      <dgm:spPr/>
    </dgm:pt>
    <dgm:pt modelId="{7F9C834C-8C59-4CC2-9800-8FF7EB38A5C4}" type="pres">
      <dgm:prSet presAssocID="{3A3B78BE-9699-4DEE-B0D9-B5A6EE74701D}" presName="Name9" presStyleLbl="parChTrans1D2" presStyleIdx="1" presStyleCnt="8"/>
      <dgm:spPr/>
    </dgm:pt>
    <dgm:pt modelId="{ADF2077C-B2B8-453C-B7B1-8A8482E6A5C1}" type="pres">
      <dgm:prSet presAssocID="{3A3B78BE-9699-4DEE-B0D9-B5A6EE74701D}" presName="connTx" presStyleLbl="parChTrans1D2" presStyleIdx="1" presStyleCnt="8"/>
      <dgm:spPr/>
    </dgm:pt>
    <dgm:pt modelId="{0B91B07C-3C58-4789-8B7A-017528670C29}" type="pres">
      <dgm:prSet presAssocID="{955598A5-23DE-4970-944F-2F092265AE73}" presName="node" presStyleLbl="node1" presStyleIdx="1" presStyleCnt="8" custScaleX="152824" custRadScaleRad="102378" custRadScaleInc="22789">
        <dgm:presLayoutVars>
          <dgm:bulletEnabled val="1"/>
        </dgm:presLayoutVars>
      </dgm:prSet>
      <dgm:spPr/>
    </dgm:pt>
    <dgm:pt modelId="{0160A2FA-E4F0-4E24-AAD9-04216E7EBEA2}" type="pres">
      <dgm:prSet presAssocID="{C34C5074-D6E2-4FCB-A779-15C329264D5F}" presName="Name9" presStyleLbl="parChTrans1D2" presStyleIdx="2" presStyleCnt="8"/>
      <dgm:spPr/>
    </dgm:pt>
    <dgm:pt modelId="{F57331BB-8E95-4C9E-943D-D8A5753F7313}" type="pres">
      <dgm:prSet presAssocID="{C34C5074-D6E2-4FCB-A779-15C329264D5F}" presName="connTx" presStyleLbl="parChTrans1D2" presStyleIdx="2" presStyleCnt="8"/>
      <dgm:spPr/>
    </dgm:pt>
    <dgm:pt modelId="{45B25EBF-4163-40A0-9127-684363200388}" type="pres">
      <dgm:prSet presAssocID="{76C19C88-CA8C-4296-A3F5-F37036DED16C}" presName="node" presStyleLbl="node1" presStyleIdx="2" presStyleCnt="8" custScaleX="137388">
        <dgm:presLayoutVars>
          <dgm:bulletEnabled val="1"/>
        </dgm:presLayoutVars>
      </dgm:prSet>
      <dgm:spPr/>
    </dgm:pt>
    <dgm:pt modelId="{FE81427D-0EDF-4784-939F-FA055A88E47B}" type="pres">
      <dgm:prSet presAssocID="{24A4CCC4-C72A-498F-A388-0098BAB222DA}" presName="Name9" presStyleLbl="parChTrans1D2" presStyleIdx="3" presStyleCnt="8"/>
      <dgm:spPr/>
    </dgm:pt>
    <dgm:pt modelId="{8CACB2F6-EA7C-4392-BB92-DBAE79550393}" type="pres">
      <dgm:prSet presAssocID="{24A4CCC4-C72A-498F-A388-0098BAB222DA}" presName="connTx" presStyleLbl="parChTrans1D2" presStyleIdx="3" presStyleCnt="8"/>
      <dgm:spPr/>
    </dgm:pt>
    <dgm:pt modelId="{0AE64C73-1662-497C-9F6D-6CC72DD4CB1B}" type="pres">
      <dgm:prSet presAssocID="{CFA4D72B-2285-44AD-8936-0A1022FBDE5F}" presName="node" presStyleLbl="node1" presStyleIdx="3" presStyleCnt="8" custScaleX="211548" custRadScaleRad="108179" custRadScaleInc="-38784">
        <dgm:presLayoutVars>
          <dgm:bulletEnabled val="1"/>
        </dgm:presLayoutVars>
      </dgm:prSet>
      <dgm:spPr/>
    </dgm:pt>
    <dgm:pt modelId="{DDBBA6D0-B566-402F-B14F-444091954AD4}" type="pres">
      <dgm:prSet presAssocID="{69A16068-993E-4BF7-BBBC-FFC9985E3ED2}" presName="Name9" presStyleLbl="parChTrans1D2" presStyleIdx="4" presStyleCnt="8"/>
      <dgm:spPr/>
    </dgm:pt>
    <dgm:pt modelId="{321B05BA-61CC-470B-B034-1F0AAD275FC4}" type="pres">
      <dgm:prSet presAssocID="{69A16068-993E-4BF7-BBBC-FFC9985E3ED2}" presName="connTx" presStyleLbl="parChTrans1D2" presStyleIdx="4" presStyleCnt="8"/>
      <dgm:spPr/>
    </dgm:pt>
    <dgm:pt modelId="{2F445AF3-609C-4D22-8D1D-BACF90F77649}" type="pres">
      <dgm:prSet presAssocID="{71B32538-547B-406B-8A7B-AB8F859B8924}" presName="node" presStyleLbl="node1" presStyleIdx="4" presStyleCnt="8" custScaleX="150137">
        <dgm:presLayoutVars>
          <dgm:bulletEnabled val="1"/>
        </dgm:presLayoutVars>
      </dgm:prSet>
      <dgm:spPr/>
    </dgm:pt>
    <dgm:pt modelId="{E2C3E690-CA36-48B0-8E57-189588A9A6FC}" type="pres">
      <dgm:prSet presAssocID="{721D89FB-A672-469B-860E-049F5A1170F3}" presName="Name9" presStyleLbl="parChTrans1D2" presStyleIdx="5" presStyleCnt="8"/>
      <dgm:spPr/>
    </dgm:pt>
    <dgm:pt modelId="{179C8117-2FEB-4A03-AD09-1CFE914B6747}" type="pres">
      <dgm:prSet presAssocID="{721D89FB-A672-469B-860E-049F5A1170F3}" presName="connTx" presStyleLbl="parChTrans1D2" presStyleIdx="5" presStyleCnt="8"/>
      <dgm:spPr/>
    </dgm:pt>
    <dgm:pt modelId="{B1BB4500-34B1-468C-A4A3-600E5AA5CF0D}" type="pres">
      <dgm:prSet presAssocID="{2138FFF9-46C7-4091-82B8-836DD2373EB9}" presName="node" presStyleLbl="node1" presStyleIdx="5" presStyleCnt="8" custScaleX="159479" custRadScaleRad="101948" custRadScaleInc="27162">
        <dgm:presLayoutVars>
          <dgm:bulletEnabled val="1"/>
        </dgm:presLayoutVars>
      </dgm:prSet>
      <dgm:spPr/>
    </dgm:pt>
    <dgm:pt modelId="{B7A88A76-A9EA-4521-8ABB-A5F866CF8BE3}" type="pres">
      <dgm:prSet presAssocID="{D021588E-D5A7-41EE-AB19-AEEDEC378A8B}" presName="Name9" presStyleLbl="parChTrans1D2" presStyleIdx="6" presStyleCnt="8"/>
      <dgm:spPr/>
    </dgm:pt>
    <dgm:pt modelId="{EEF1B201-8D1B-4D0C-BDCA-E3983EBF9A9F}" type="pres">
      <dgm:prSet presAssocID="{D021588E-D5A7-41EE-AB19-AEEDEC378A8B}" presName="connTx" presStyleLbl="parChTrans1D2" presStyleIdx="6" presStyleCnt="8"/>
      <dgm:spPr/>
    </dgm:pt>
    <dgm:pt modelId="{C3D8855C-12EA-4787-8656-1A84C13E155E}" type="pres">
      <dgm:prSet presAssocID="{E1B439C8-69EE-47E7-8140-F5B1663FBEA3}" presName="node" presStyleLbl="node1" presStyleIdx="6" presStyleCnt="8" custScaleX="232897">
        <dgm:presLayoutVars>
          <dgm:bulletEnabled val="1"/>
        </dgm:presLayoutVars>
      </dgm:prSet>
      <dgm:spPr/>
    </dgm:pt>
    <dgm:pt modelId="{C01D4EC6-9860-4624-8738-BE11219DA09D}" type="pres">
      <dgm:prSet presAssocID="{B1253D36-3A74-45D8-9C90-F42C24447573}" presName="Name9" presStyleLbl="parChTrans1D2" presStyleIdx="7" presStyleCnt="8"/>
      <dgm:spPr/>
    </dgm:pt>
    <dgm:pt modelId="{3D4B4583-AA55-4860-A1F0-1A5F1F9850FB}" type="pres">
      <dgm:prSet presAssocID="{B1253D36-3A74-45D8-9C90-F42C24447573}" presName="connTx" presStyleLbl="parChTrans1D2" presStyleIdx="7" presStyleCnt="8"/>
      <dgm:spPr/>
    </dgm:pt>
    <dgm:pt modelId="{4D007FC2-D0DD-4C7D-A2E6-97DE83A76544}" type="pres">
      <dgm:prSet presAssocID="{E1CFD95C-9AF7-48BF-9D18-F3722AA01279}" presName="node" presStyleLbl="node1" presStyleIdx="7" presStyleCnt="8" custScaleX="178506" custScaleY="85319" custRadScaleRad="100279" custRadScaleInc="-32484">
        <dgm:presLayoutVars>
          <dgm:bulletEnabled val="1"/>
        </dgm:presLayoutVars>
      </dgm:prSet>
      <dgm:spPr/>
    </dgm:pt>
  </dgm:ptLst>
  <dgm:cxnLst>
    <dgm:cxn modelId="{F3200F03-88E5-4794-BEFA-B257A2F7D0B6}" type="presOf" srcId="{CFA4D72B-2285-44AD-8936-0A1022FBDE5F}" destId="{0AE64C73-1662-497C-9F6D-6CC72DD4CB1B}" srcOrd="0" destOrd="0" presId="urn:microsoft.com/office/officeart/2005/8/layout/radial1"/>
    <dgm:cxn modelId="{5DB6C204-50D8-4325-B36D-AD029E469133}" srcId="{D111A588-95B6-4724-8E44-165175372BFA}" destId="{71B32538-547B-406B-8A7B-AB8F859B8924}" srcOrd="4" destOrd="0" parTransId="{69A16068-993E-4BF7-BBBC-FFC9985E3ED2}" sibTransId="{28A66F1C-FD11-45C0-B463-8EC683B5C08D}"/>
    <dgm:cxn modelId="{CFE01B0F-4015-47E7-8B91-CB027A6140BF}" srcId="{D111A588-95B6-4724-8E44-165175372BFA}" destId="{76C19C88-CA8C-4296-A3F5-F37036DED16C}" srcOrd="2" destOrd="0" parTransId="{C34C5074-D6E2-4FCB-A779-15C329264D5F}" sibTransId="{C1A1294D-726D-431C-A8B1-0C7D45CB96CB}"/>
    <dgm:cxn modelId="{CA06480F-C665-45E7-A2E5-7F53B13CF3CE}" srcId="{D111A588-95B6-4724-8E44-165175372BFA}" destId="{2138FFF9-46C7-4091-82B8-836DD2373EB9}" srcOrd="5" destOrd="0" parTransId="{721D89FB-A672-469B-860E-049F5A1170F3}" sibTransId="{E6F7B4DA-A341-4837-9EDB-3E3057D680BE}"/>
    <dgm:cxn modelId="{8C895615-2D25-4477-BE42-3C6C83304556}" type="presOf" srcId="{E1B439C8-69EE-47E7-8140-F5B1663FBEA3}" destId="{C3D8855C-12EA-4787-8656-1A84C13E155E}" srcOrd="0" destOrd="0" presId="urn:microsoft.com/office/officeart/2005/8/layout/radial1"/>
    <dgm:cxn modelId="{C2AE791E-7468-42F9-9D81-DDC4A0A20D82}" type="presOf" srcId="{24A4CCC4-C72A-498F-A388-0098BAB222DA}" destId="{8CACB2F6-EA7C-4392-BB92-DBAE79550393}" srcOrd="1" destOrd="0" presId="urn:microsoft.com/office/officeart/2005/8/layout/radial1"/>
    <dgm:cxn modelId="{26E55E21-EE89-4979-B7C9-20F5695EF997}" type="presOf" srcId="{69A16068-993E-4BF7-BBBC-FFC9985E3ED2}" destId="{321B05BA-61CC-470B-B034-1F0AAD275FC4}" srcOrd="1" destOrd="0" presId="urn:microsoft.com/office/officeart/2005/8/layout/radial1"/>
    <dgm:cxn modelId="{001E0124-EFCD-414B-9DFE-823180DE67C5}" type="presOf" srcId="{2C44F4F6-4241-4E53-B6F6-8FF956E4A75C}" destId="{52F74009-4478-4298-BA07-79293100D640}" srcOrd="0" destOrd="0" presId="urn:microsoft.com/office/officeart/2005/8/layout/radial1"/>
    <dgm:cxn modelId="{6940332C-9994-48F9-8A01-1B1327268813}" type="presOf" srcId="{71B32538-547B-406B-8A7B-AB8F859B8924}" destId="{2F445AF3-609C-4D22-8D1D-BACF90F77649}" srcOrd="0" destOrd="0" presId="urn:microsoft.com/office/officeart/2005/8/layout/radial1"/>
    <dgm:cxn modelId="{B814622F-7415-4DF8-A8D3-58C225DEECF6}" type="presOf" srcId="{3A3B78BE-9699-4DEE-B0D9-B5A6EE74701D}" destId="{7F9C834C-8C59-4CC2-9800-8FF7EB38A5C4}" srcOrd="0" destOrd="0" presId="urn:microsoft.com/office/officeart/2005/8/layout/radial1"/>
    <dgm:cxn modelId="{88D2F032-1577-4038-B646-5700507AE6E2}" type="presOf" srcId="{24A4CCC4-C72A-498F-A388-0098BAB222DA}" destId="{FE81427D-0EDF-4784-939F-FA055A88E47B}" srcOrd="0" destOrd="0" presId="urn:microsoft.com/office/officeart/2005/8/layout/radial1"/>
    <dgm:cxn modelId="{73A42038-69FF-49C9-8195-444F36ED2BD3}" srcId="{D111A588-95B6-4724-8E44-165175372BFA}" destId="{8DE36B34-849C-46BF-A09B-129EDC48F27F}" srcOrd="0" destOrd="0" parTransId="{712C61D5-77D3-4F05-B1F5-50F9252CF8AA}" sibTransId="{60811F69-F43F-43CC-8FD8-74ED994EDE53}"/>
    <dgm:cxn modelId="{0C52053C-1BF3-42D8-B0F1-0DD49F48BAE4}" type="presOf" srcId="{D111A588-95B6-4724-8E44-165175372BFA}" destId="{3D602F13-7E62-4B0C-9471-2F0095B42C11}" srcOrd="0" destOrd="0" presId="urn:microsoft.com/office/officeart/2005/8/layout/radial1"/>
    <dgm:cxn modelId="{5D31C65D-C508-440B-B259-486F453C62BC}" srcId="{D111A588-95B6-4724-8E44-165175372BFA}" destId="{955598A5-23DE-4970-944F-2F092265AE73}" srcOrd="1" destOrd="0" parTransId="{3A3B78BE-9699-4DEE-B0D9-B5A6EE74701D}" sibTransId="{806215CE-4BEC-4358-8EBF-8BECD0C8A55B}"/>
    <dgm:cxn modelId="{48321A65-737C-4577-8659-F5DB65904B31}" type="presOf" srcId="{712C61D5-77D3-4F05-B1F5-50F9252CF8AA}" destId="{58D63877-F569-4CE4-A2D5-CA2617B2C4A9}" srcOrd="1" destOrd="0" presId="urn:microsoft.com/office/officeart/2005/8/layout/radial1"/>
    <dgm:cxn modelId="{9F09496C-43A9-444A-BDA3-FBD0A2D9289B}" type="presOf" srcId="{C34C5074-D6E2-4FCB-A779-15C329264D5F}" destId="{0160A2FA-E4F0-4E24-AAD9-04216E7EBEA2}" srcOrd="0" destOrd="0" presId="urn:microsoft.com/office/officeart/2005/8/layout/radial1"/>
    <dgm:cxn modelId="{4212AE4C-6FAD-472A-A42D-3C13F36751D9}" type="presOf" srcId="{69A16068-993E-4BF7-BBBC-FFC9985E3ED2}" destId="{DDBBA6D0-B566-402F-B14F-444091954AD4}" srcOrd="0" destOrd="0" presId="urn:microsoft.com/office/officeart/2005/8/layout/radial1"/>
    <dgm:cxn modelId="{B007FC4E-37B1-4824-A8B2-E73DE42F6FCF}" type="presOf" srcId="{76C19C88-CA8C-4296-A3F5-F37036DED16C}" destId="{45B25EBF-4163-40A0-9127-684363200388}" srcOrd="0" destOrd="0" presId="urn:microsoft.com/office/officeart/2005/8/layout/radial1"/>
    <dgm:cxn modelId="{45D62772-61C5-4DF8-A8E0-101F2928CBF6}" type="presOf" srcId="{721D89FB-A672-469B-860E-049F5A1170F3}" destId="{179C8117-2FEB-4A03-AD09-1CFE914B6747}" srcOrd="1" destOrd="0" presId="urn:microsoft.com/office/officeart/2005/8/layout/radial1"/>
    <dgm:cxn modelId="{7C623254-EB5E-458E-A9BD-0D98E831F567}" type="presOf" srcId="{712C61D5-77D3-4F05-B1F5-50F9252CF8AA}" destId="{CC3D1086-E507-4519-B1DD-CA4191567F49}" srcOrd="0" destOrd="0" presId="urn:microsoft.com/office/officeart/2005/8/layout/radial1"/>
    <dgm:cxn modelId="{C84EC078-CD1E-49FE-961C-762D8418E5F5}" type="presOf" srcId="{E1CFD95C-9AF7-48BF-9D18-F3722AA01279}" destId="{4D007FC2-D0DD-4C7D-A2E6-97DE83A76544}" srcOrd="0" destOrd="0" presId="urn:microsoft.com/office/officeart/2005/8/layout/radial1"/>
    <dgm:cxn modelId="{399B2883-8A18-4483-9BBC-B5B4157AE338}" srcId="{D111A588-95B6-4724-8E44-165175372BFA}" destId="{E1CFD95C-9AF7-48BF-9D18-F3722AA01279}" srcOrd="7" destOrd="0" parTransId="{B1253D36-3A74-45D8-9C90-F42C24447573}" sibTransId="{70899512-F7F1-4A03-AF4C-B97C7893932E}"/>
    <dgm:cxn modelId="{D1396989-E715-4545-821B-08FACE408A8C}" type="presOf" srcId="{721D89FB-A672-469B-860E-049F5A1170F3}" destId="{E2C3E690-CA36-48B0-8E57-189588A9A6FC}" srcOrd="0" destOrd="0" presId="urn:microsoft.com/office/officeart/2005/8/layout/radial1"/>
    <dgm:cxn modelId="{BF8A8D92-5152-4853-A516-47AE33A5B062}" type="presOf" srcId="{8DE36B34-849C-46BF-A09B-129EDC48F27F}" destId="{A18814C0-6F81-4AE0-A403-45A632705A7B}" srcOrd="0" destOrd="0" presId="urn:microsoft.com/office/officeart/2005/8/layout/radial1"/>
    <dgm:cxn modelId="{FE827893-F308-4E55-B86F-91365D7CA3DF}" type="presOf" srcId="{D021588E-D5A7-41EE-AB19-AEEDEC378A8B}" destId="{EEF1B201-8D1B-4D0C-BDCA-E3983EBF9A9F}" srcOrd="1" destOrd="0" presId="urn:microsoft.com/office/officeart/2005/8/layout/radial1"/>
    <dgm:cxn modelId="{F1341595-1F40-4685-AD29-C795C7E1D820}" type="presOf" srcId="{B1253D36-3A74-45D8-9C90-F42C24447573}" destId="{C01D4EC6-9860-4624-8738-BE11219DA09D}" srcOrd="0" destOrd="0" presId="urn:microsoft.com/office/officeart/2005/8/layout/radial1"/>
    <dgm:cxn modelId="{205F8AA4-8D47-424D-8E18-59F26ABC95F3}" srcId="{D111A588-95B6-4724-8E44-165175372BFA}" destId="{CFA4D72B-2285-44AD-8936-0A1022FBDE5F}" srcOrd="3" destOrd="0" parTransId="{24A4CCC4-C72A-498F-A388-0098BAB222DA}" sibTransId="{037C0F65-31A3-4B49-88DC-655E37391D1C}"/>
    <dgm:cxn modelId="{2B9B22AA-88BD-4C24-99A4-429E48C26EDB}" srcId="{2C44F4F6-4241-4E53-B6F6-8FF956E4A75C}" destId="{D111A588-95B6-4724-8E44-165175372BFA}" srcOrd="0" destOrd="0" parTransId="{7D59C60D-01D5-453A-8C64-1426BE9C36EB}" sibTransId="{16E14B29-29C8-4D17-9F89-27B3CF68924D}"/>
    <dgm:cxn modelId="{F3376DBD-A836-4993-8A43-83015F15CF76}" type="presOf" srcId="{955598A5-23DE-4970-944F-2F092265AE73}" destId="{0B91B07C-3C58-4789-8B7A-017528670C29}" srcOrd="0" destOrd="0" presId="urn:microsoft.com/office/officeart/2005/8/layout/radial1"/>
    <dgm:cxn modelId="{A08456C1-57E6-4C88-AB07-6CFA2E2D3757}" srcId="{D111A588-95B6-4724-8E44-165175372BFA}" destId="{E1B439C8-69EE-47E7-8140-F5B1663FBEA3}" srcOrd="6" destOrd="0" parTransId="{D021588E-D5A7-41EE-AB19-AEEDEC378A8B}" sibTransId="{C7823622-A547-4C96-8959-4EF2211E14CF}"/>
    <dgm:cxn modelId="{53841AC6-033F-426B-9F76-412C4E8AA141}" type="presOf" srcId="{C34C5074-D6E2-4FCB-A779-15C329264D5F}" destId="{F57331BB-8E95-4C9E-943D-D8A5753F7313}" srcOrd="1" destOrd="0" presId="urn:microsoft.com/office/officeart/2005/8/layout/radial1"/>
    <dgm:cxn modelId="{E881E6D4-CA0E-4C66-8A07-E25C096BE466}" type="presOf" srcId="{3A3B78BE-9699-4DEE-B0D9-B5A6EE74701D}" destId="{ADF2077C-B2B8-453C-B7B1-8A8482E6A5C1}" srcOrd="1" destOrd="0" presId="urn:microsoft.com/office/officeart/2005/8/layout/radial1"/>
    <dgm:cxn modelId="{6ACB96E2-E1CA-4D80-B620-D81D7DCF200C}" type="presOf" srcId="{B1253D36-3A74-45D8-9C90-F42C24447573}" destId="{3D4B4583-AA55-4860-A1F0-1A5F1F9850FB}" srcOrd="1" destOrd="0" presId="urn:microsoft.com/office/officeart/2005/8/layout/radial1"/>
    <dgm:cxn modelId="{1F973DE7-FA98-4AC9-9041-BA78D1D5F8ED}" type="presOf" srcId="{2138FFF9-46C7-4091-82B8-836DD2373EB9}" destId="{B1BB4500-34B1-468C-A4A3-600E5AA5CF0D}" srcOrd="0" destOrd="0" presId="urn:microsoft.com/office/officeart/2005/8/layout/radial1"/>
    <dgm:cxn modelId="{71E29BF6-A053-43B9-ACA1-9A26D5C6FC5E}" type="presOf" srcId="{D021588E-D5A7-41EE-AB19-AEEDEC378A8B}" destId="{B7A88A76-A9EA-4521-8ABB-A5F866CF8BE3}" srcOrd="0" destOrd="0" presId="urn:microsoft.com/office/officeart/2005/8/layout/radial1"/>
    <dgm:cxn modelId="{C48E86E3-6AEA-4F13-9FC2-9E1569189D55}" type="presParOf" srcId="{52F74009-4478-4298-BA07-79293100D640}" destId="{3D602F13-7E62-4B0C-9471-2F0095B42C11}" srcOrd="0" destOrd="0" presId="urn:microsoft.com/office/officeart/2005/8/layout/radial1"/>
    <dgm:cxn modelId="{42084901-371E-4276-9213-35447CCBE7C5}" type="presParOf" srcId="{52F74009-4478-4298-BA07-79293100D640}" destId="{CC3D1086-E507-4519-B1DD-CA4191567F49}" srcOrd="1" destOrd="0" presId="urn:microsoft.com/office/officeart/2005/8/layout/radial1"/>
    <dgm:cxn modelId="{053428DE-CDAD-491A-A682-D05AA3DB3723}" type="presParOf" srcId="{CC3D1086-E507-4519-B1DD-CA4191567F49}" destId="{58D63877-F569-4CE4-A2D5-CA2617B2C4A9}" srcOrd="0" destOrd="0" presId="urn:microsoft.com/office/officeart/2005/8/layout/radial1"/>
    <dgm:cxn modelId="{D9BEF722-AA5C-4F7B-9493-5014D4934F31}" type="presParOf" srcId="{52F74009-4478-4298-BA07-79293100D640}" destId="{A18814C0-6F81-4AE0-A403-45A632705A7B}" srcOrd="2" destOrd="0" presId="urn:microsoft.com/office/officeart/2005/8/layout/radial1"/>
    <dgm:cxn modelId="{7A4D5EBC-CAB7-4088-9C77-F88EDBEA6C3B}" type="presParOf" srcId="{52F74009-4478-4298-BA07-79293100D640}" destId="{7F9C834C-8C59-4CC2-9800-8FF7EB38A5C4}" srcOrd="3" destOrd="0" presId="urn:microsoft.com/office/officeart/2005/8/layout/radial1"/>
    <dgm:cxn modelId="{5D0B1C62-85FB-4B4D-965F-F1FE67377D1A}" type="presParOf" srcId="{7F9C834C-8C59-4CC2-9800-8FF7EB38A5C4}" destId="{ADF2077C-B2B8-453C-B7B1-8A8482E6A5C1}" srcOrd="0" destOrd="0" presId="urn:microsoft.com/office/officeart/2005/8/layout/radial1"/>
    <dgm:cxn modelId="{24FA81D4-EE70-4D6A-A571-CCC0A5600122}" type="presParOf" srcId="{52F74009-4478-4298-BA07-79293100D640}" destId="{0B91B07C-3C58-4789-8B7A-017528670C29}" srcOrd="4" destOrd="0" presId="urn:microsoft.com/office/officeart/2005/8/layout/radial1"/>
    <dgm:cxn modelId="{7F4DF351-05F5-4928-974A-CA0550146B89}" type="presParOf" srcId="{52F74009-4478-4298-BA07-79293100D640}" destId="{0160A2FA-E4F0-4E24-AAD9-04216E7EBEA2}" srcOrd="5" destOrd="0" presId="urn:microsoft.com/office/officeart/2005/8/layout/radial1"/>
    <dgm:cxn modelId="{CB9677BC-C82B-49C4-BCF4-119A4DF2BEF3}" type="presParOf" srcId="{0160A2FA-E4F0-4E24-AAD9-04216E7EBEA2}" destId="{F57331BB-8E95-4C9E-943D-D8A5753F7313}" srcOrd="0" destOrd="0" presId="urn:microsoft.com/office/officeart/2005/8/layout/radial1"/>
    <dgm:cxn modelId="{5168ADEC-3419-4C81-B22E-FA2264718393}" type="presParOf" srcId="{52F74009-4478-4298-BA07-79293100D640}" destId="{45B25EBF-4163-40A0-9127-684363200388}" srcOrd="6" destOrd="0" presId="urn:microsoft.com/office/officeart/2005/8/layout/radial1"/>
    <dgm:cxn modelId="{8D85DAD4-3828-4203-B7E2-6E47EE6418F9}" type="presParOf" srcId="{52F74009-4478-4298-BA07-79293100D640}" destId="{FE81427D-0EDF-4784-939F-FA055A88E47B}" srcOrd="7" destOrd="0" presId="urn:microsoft.com/office/officeart/2005/8/layout/radial1"/>
    <dgm:cxn modelId="{DCCE2639-B379-4AE5-9853-4C0B969AAFE0}" type="presParOf" srcId="{FE81427D-0EDF-4784-939F-FA055A88E47B}" destId="{8CACB2F6-EA7C-4392-BB92-DBAE79550393}" srcOrd="0" destOrd="0" presId="urn:microsoft.com/office/officeart/2005/8/layout/radial1"/>
    <dgm:cxn modelId="{A82EA0FB-9522-4697-A879-4E888B57E142}" type="presParOf" srcId="{52F74009-4478-4298-BA07-79293100D640}" destId="{0AE64C73-1662-497C-9F6D-6CC72DD4CB1B}" srcOrd="8" destOrd="0" presId="urn:microsoft.com/office/officeart/2005/8/layout/radial1"/>
    <dgm:cxn modelId="{45525940-DD3A-4B97-AAEC-C4261CC46EAB}" type="presParOf" srcId="{52F74009-4478-4298-BA07-79293100D640}" destId="{DDBBA6D0-B566-402F-B14F-444091954AD4}" srcOrd="9" destOrd="0" presId="urn:microsoft.com/office/officeart/2005/8/layout/radial1"/>
    <dgm:cxn modelId="{7FF4A277-2CE0-4E57-8B2E-7880791989B6}" type="presParOf" srcId="{DDBBA6D0-B566-402F-B14F-444091954AD4}" destId="{321B05BA-61CC-470B-B034-1F0AAD275FC4}" srcOrd="0" destOrd="0" presId="urn:microsoft.com/office/officeart/2005/8/layout/radial1"/>
    <dgm:cxn modelId="{B535E0A2-17C0-4C8A-83EF-8D0A15695B81}" type="presParOf" srcId="{52F74009-4478-4298-BA07-79293100D640}" destId="{2F445AF3-609C-4D22-8D1D-BACF90F77649}" srcOrd="10" destOrd="0" presId="urn:microsoft.com/office/officeart/2005/8/layout/radial1"/>
    <dgm:cxn modelId="{2CAB62AC-F0CA-4196-BDFC-23460AA6452E}" type="presParOf" srcId="{52F74009-4478-4298-BA07-79293100D640}" destId="{E2C3E690-CA36-48B0-8E57-189588A9A6FC}" srcOrd="11" destOrd="0" presId="urn:microsoft.com/office/officeart/2005/8/layout/radial1"/>
    <dgm:cxn modelId="{8D982E6D-B67A-4ABA-8DD1-1E5BAB8739CE}" type="presParOf" srcId="{E2C3E690-CA36-48B0-8E57-189588A9A6FC}" destId="{179C8117-2FEB-4A03-AD09-1CFE914B6747}" srcOrd="0" destOrd="0" presId="urn:microsoft.com/office/officeart/2005/8/layout/radial1"/>
    <dgm:cxn modelId="{31613FE7-B799-48CA-8A2C-8CD9113F8978}" type="presParOf" srcId="{52F74009-4478-4298-BA07-79293100D640}" destId="{B1BB4500-34B1-468C-A4A3-600E5AA5CF0D}" srcOrd="12" destOrd="0" presId="urn:microsoft.com/office/officeart/2005/8/layout/radial1"/>
    <dgm:cxn modelId="{EECF5A48-CE4D-4076-84A3-85E5B004320E}" type="presParOf" srcId="{52F74009-4478-4298-BA07-79293100D640}" destId="{B7A88A76-A9EA-4521-8ABB-A5F866CF8BE3}" srcOrd="13" destOrd="0" presId="urn:microsoft.com/office/officeart/2005/8/layout/radial1"/>
    <dgm:cxn modelId="{0B12EE53-3A01-446E-82FD-7B01EE584031}" type="presParOf" srcId="{B7A88A76-A9EA-4521-8ABB-A5F866CF8BE3}" destId="{EEF1B201-8D1B-4D0C-BDCA-E3983EBF9A9F}" srcOrd="0" destOrd="0" presId="urn:microsoft.com/office/officeart/2005/8/layout/radial1"/>
    <dgm:cxn modelId="{50663375-32CF-40CF-84D7-7F506697F25F}" type="presParOf" srcId="{52F74009-4478-4298-BA07-79293100D640}" destId="{C3D8855C-12EA-4787-8656-1A84C13E155E}" srcOrd="14" destOrd="0" presId="urn:microsoft.com/office/officeart/2005/8/layout/radial1"/>
    <dgm:cxn modelId="{B926EF0F-CA73-4987-B85F-2F2BA461959C}" type="presParOf" srcId="{52F74009-4478-4298-BA07-79293100D640}" destId="{C01D4EC6-9860-4624-8738-BE11219DA09D}" srcOrd="15" destOrd="0" presId="urn:microsoft.com/office/officeart/2005/8/layout/radial1"/>
    <dgm:cxn modelId="{922F8D3F-FC0B-43B1-9C2A-63EA9F6B3F3B}" type="presParOf" srcId="{C01D4EC6-9860-4624-8738-BE11219DA09D}" destId="{3D4B4583-AA55-4860-A1F0-1A5F1F9850FB}" srcOrd="0" destOrd="0" presId="urn:microsoft.com/office/officeart/2005/8/layout/radial1"/>
    <dgm:cxn modelId="{6F4E0227-0F64-440F-B032-E3EDC88DD9C1}" type="presParOf" srcId="{52F74009-4478-4298-BA07-79293100D640}" destId="{4D007FC2-D0DD-4C7D-A2E6-97DE83A76544}" srcOrd="1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02F13-7E62-4B0C-9471-2F0095B42C11}">
      <dsp:nvSpPr>
        <dsp:cNvPr id="0" name=""/>
        <dsp:cNvSpPr/>
      </dsp:nvSpPr>
      <dsp:spPr>
        <a:xfrm>
          <a:off x="3797602" y="2078677"/>
          <a:ext cx="1219070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 baseline="0" dirty="0">
            <a:latin typeface="Times New Roman"/>
          </a:endParaRPr>
        </a:p>
        <a:p>
          <a:pPr marL="0" marR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baseline="0" dirty="0">
              <a:latin typeface="Calibri"/>
            </a:rPr>
            <a:t>Business Functions</a:t>
          </a:r>
          <a:endParaRPr lang="en-US" sz="1050" kern="1200" dirty="0"/>
        </a:p>
      </dsp:txBody>
      <dsp:txXfrm>
        <a:off x="3976131" y="2257206"/>
        <a:ext cx="862012" cy="862012"/>
      </dsp:txXfrm>
    </dsp:sp>
    <dsp:sp modelId="{CC3D1086-E507-4519-B1DD-CA4191567F49}">
      <dsp:nvSpPr>
        <dsp:cNvPr id="0" name=""/>
        <dsp:cNvSpPr/>
      </dsp:nvSpPr>
      <dsp:spPr>
        <a:xfrm rot="16007149">
          <a:off x="3928737" y="1645946"/>
          <a:ext cx="841278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841278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328344" y="1638626"/>
        <a:ext cx="42063" cy="42063"/>
      </dsp:txXfrm>
    </dsp:sp>
    <dsp:sp modelId="{A18814C0-6F81-4AE0-A403-45A632705A7B}">
      <dsp:nvSpPr>
        <dsp:cNvPr id="0" name=""/>
        <dsp:cNvSpPr/>
      </dsp:nvSpPr>
      <dsp:spPr>
        <a:xfrm>
          <a:off x="3238029" y="20932"/>
          <a:ext cx="2107101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+mj-lt"/>
            </a:rPr>
            <a:t>Production</a:t>
          </a:r>
          <a:endParaRPr lang="en-US" sz="2000" kern="1200" dirty="0">
            <a:latin typeface="+mj-lt"/>
          </a:endParaRPr>
        </a:p>
      </dsp:txBody>
      <dsp:txXfrm>
        <a:off x="3546607" y="199461"/>
        <a:ext cx="1489945" cy="862012"/>
      </dsp:txXfrm>
    </dsp:sp>
    <dsp:sp modelId="{7F9C834C-8C59-4CC2-9800-8FF7EB38A5C4}">
      <dsp:nvSpPr>
        <dsp:cNvPr id="0" name=""/>
        <dsp:cNvSpPr/>
      </dsp:nvSpPr>
      <dsp:spPr>
        <a:xfrm rot="19103893">
          <a:off x="4777581" y="2045116"/>
          <a:ext cx="676806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676806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9064" y="2041909"/>
        <a:ext cx="33840" cy="33840"/>
      </dsp:txXfrm>
    </dsp:sp>
    <dsp:sp modelId="{0B91B07C-3C58-4789-8B7A-017528670C29}">
      <dsp:nvSpPr>
        <dsp:cNvPr id="0" name=""/>
        <dsp:cNvSpPr/>
      </dsp:nvSpPr>
      <dsp:spPr>
        <a:xfrm>
          <a:off x="4990152" y="733930"/>
          <a:ext cx="1863031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Marketing</a:t>
          </a:r>
          <a:endParaRPr lang="en-US" sz="2000" kern="1200" dirty="0"/>
        </a:p>
      </dsp:txBody>
      <dsp:txXfrm>
        <a:off x="5262987" y="912459"/>
        <a:ext cx="1317361" cy="862012"/>
      </dsp:txXfrm>
    </dsp:sp>
    <dsp:sp modelId="{0160A2FA-E4F0-4E24-AAD9-04216E7EBEA2}">
      <dsp:nvSpPr>
        <dsp:cNvPr id="0" name=""/>
        <dsp:cNvSpPr/>
      </dsp:nvSpPr>
      <dsp:spPr>
        <a:xfrm rot="29633">
          <a:off x="5016640" y="2681961"/>
          <a:ext cx="512212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512212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59941" y="2682868"/>
        <a:ext cx="25610" cy="25610"/>
      </dsp:txXfrm>
    </dsp:sp>
    <dsp:sp modelId="{45B25EBF-4163-40A0-9127-684363200388}">
      <dsp:nvSpPr>
        <dsp:cNvPr id="0" name=""/>
        <dsp:cNvSpPr/>
      </dsp:nvSpPr>
      <dsp:spPr>
        <a:xfrm>
          <a:off x="5528784" y="2095564"/>
          <a:ext cx="1674856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Finance</a:t>
          </a:r>
          <a:endParaRPr lang="en-US" sz="2000" kern="1200" dirty="0"/>
        </a:p>
      </dsp:txBody>
      <dsp:txXfrm>
        <a:off x="5774061" y="2274093"/>
        <a:ext cx="1184302" cy="862012"/>
      </dsp:txXfrm>
    </dsp:sp>
    <dsp:sp modelId="{FE81427D-0EDF-4784-939F-FA055A88E47B}">
      <dsp:nvSpPr>
        <dsp:cNvPr id="0" name=""/>
        <dsp:cNvSpPr/>
      </dsp:nvSpPr>
      <dsp:spPr>
        <a:xfrm rot="2306764">
          <a:off x="4807462" y="3274493"/>
          <a:ext cx="710859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710859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45120" y="3270434"/>
        <a:ext cx="35542" cy="35542"/>
      </dsp:txXfrm>
    </dsp:sp>
    <dsp:sp modelId="{0AE64C73-1662-497C-9F6D-6CC72DD4CB1B}">
      <dsp:nvSpPr>
        <dsp:cNvPr id="0" name=""/>
        <dsp:cNvSpPr/>
      </dsp:nvSpPr>
      <dsp:spPr>
        <a:xfrm>
          <a:off x="4811491" y="3423396"/>
          <a:ext cx="2578918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Management</a:t>
          </a:r>
          <a:endParaRPr lang="en-US" sz="2000" kern="1200" dirty="0"/>
        </a:p>
      </dsp:txBody>
      <dsp:txXfrm>
        <a:off x="5189165" y="3601925"/>
        <a:ext cx="1823570" cy="862012"/>
      </dsp:txXfrm>
    </dsp:sp>
    <dsp:sp modelId="{DDBBA6D0-B566-402F-B14F-444091954AD4}">
      <dsp:nvSpPr>
        <dsp:cNvPr id="0" name=""/>
        <dsp:cNvSpPr/>
      </dsp:nvSpPr>
      <dsp:spPr>
        <a:xfrm rot="5589743">
          <a:off x="3911811" y="3720001"/>
          <a:ext cx="875122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875122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327495" y="3711836"/>
        <a:ext cx="43756" cy="43756"/>
      </dsp:txXfrm>
    </dsp:sp>
    <dsp:sp modelId="{2F445AF3-609C-4D22-8D1D-BACF90F77649}">
      <dsp:nvSpPr>
        <dsp:cNvPr id="0" name=""/>
        <dsp:cNvSpPr/>
      </dsp:nvSpPr>
      <dsp:spPr>
        <a:xfrm>
          <a:off x="3376442" y="4170197"/>
          <a:ext cx="1830275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baseline="0" dirty="0">
            <a:latin typeface="Times New Roman"/>
          </a:endParaRPr>
        </a:p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Public- Relations</a:t>
          </a:r>
          <a:endParaRPr lang="en-US" sz="2000" kern="1200" dirty="0"/>
        </a:p>
      </dsp:txBody>
      <dsp:txXfrm>
        <a:off x="3644480" y="4348726"/>
        <a:ext cx="1294199" cy="862012"/>
      </dsp:txXfrm>
    </dsp:sp>
    <dsp:sp modelId="{E2C3E690-CA36-48B0-8E57-189588A9A6FC}">
      <dsp:nvSpPr>
        <dsp:cNvPr id="0" name=""/>
        <dsp:cNvSpPr/>
      </dsp:nvSpPr>
      <dsp:spPr>
        <a:xfrm rot="8558835">
          <a:off x="3177192" y="3296283"/>
          <a:ext cx="830586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830586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571721" y="3289232"/>
        <a:ext cx="41529" cy="41529"/>
      </dsp:txXfrm>
    </dsp:sp>
    <dsp:sp modelId="{B1BB4500-34B1-468C-A4A3-600E5AA5CF0D}">
      <dsp:nvSpPr>
        <dsp:cNvPr id="0" name=""/>
        <dsp:cNvSpPr/>
      </dsp:nvSpPr>
      <dsp:spPr>
        <a:xfrm>
          <a:off x="1673214" y="3423406"/>
          <a:ext cx="1944160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baseline="0" dirty="0">
            <a:latin typeface="Times New Roman"/>
          </a:endParaRPr>
        </a:p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Personnel </a:t>
          </a:r>
          <a:endParaRPr lang="en-US" sz="2000" kern="1200" baseline="0" dirty="0">
            <a:latin typeface="Times New Roman"/>
          </a:endParaRPr>
        </a:p>
      </dsp:txBody>
      <dsp:txXfrm>
        <a:off x="1957930" y="3601935"/>
        <a:ext cx="1374728" cy="862012"/>
      </dsp:txXfrm>
    </dsp:sp>
    <dsp:sp modelId="{B7A88A76-A9EA-4521-8ABB-A5F866CF8BE3}">
      <dsp:nvSpPr>
        <dsp:cNvPr id="0" name=""/>
        <dsp:cNvSpPr/>
      </dsp:nvSpPr>
      <dsp:spPr>
        <a:xfrm rot="10773494">
          <a:off x="3636306" y="2679821"/>
          <a:ext cx="161316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161316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712931" y="2689501"/>
        <a:ext cx="8065" cy="8065"/>
      </dsp:txXfrm>
    </dsp:sp>
    <dsp:sp modelId="{C3D8855C-12EA-4787-8656-1A84C13E155E}">
      <dsp:nvSpPr>
        <dsp:cNvPr id="0" name=""/>
        <dsp:cNvSpPr/>
      </dsp:nvSpPr>
      <dsp:spPr>
        <a:xfrm>
          <a:off x="797359" y="2095564"/>
          <a:ext cx="2839177" cy="1219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Administration</a:t>
          </a:r>
          <a:endParaRPr lang="en-US" sz="2000" kern="1200" dirty="0"/>
        </a:p>
      </dsp:txBody>
      <dsp:txXfrm>
        <a:off x="1213147" y="2274093"/>
        <a:ext cx="2007601" cy="862012"/>
      </dsp:txXfrm>
    </dsp:sp>
    <dsp:sp modelId="{C01D4EC6-9860-4624-8738-BE11219DA09D}">
      <dsp:nvSpPr>
        <dsp:cNvPr id="0" name=""/>
        <dsp:cNvSpPr/>
      </dsp:nvSpPr>
      <dsp:spPr>
        <a:xfrm rot="12927914">
          <a:off x="3176441" y="2086052"/>
          <a:ext cx="809327" cy="27425"/>
        </a:xfrm>
        <a:custGeom>
          <a:avLst/>
          <a:gdLst/>
          <a:ahLst/>
          <a:cxnLst/>
          <a:rect l="0" t="0" r="0" b="0"/>
          <a:pathLst>
            <a:path>
              <a:moveTo>
                <a:pt x="0" y="13712"/>
              </a:moveTo>
              <a:lnTo>
                <a:pt x="809327" y="13712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560872" y="2079532"/>
        <a:ext cx="40466" cy="40466"/>
      </dsp:txXfrm>
    </dsp:sp>
    <dsp:sp modelId="{4D007FC2-D0DD-4C7D-A2E6-97DE83A76544}">
      <dsp:nvSpPr>
        <dsp:cNvPr id="0" name=""/>
        <dsp:cNvSpPr/>
      </dsp:nvSpPr>
      <dsp:spPr>
        <a:xfrm>
          <a:off x="1557248" y="913073"/>
          <a:ext cx="2176113" cy="10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Calibri"/>
            </a:rPr>
            <a:t>Purchasing</a:t>
          </a:r>
          <a:endParaRPr lang="en-US" sz="2000" kern="1200" dirty="0"/>
        </a:p>
      </dsp:txBody>
      <dsp:txXfrm>
        <a:off x="1875932" y="1065392"/>
        <a:ext cx="1538745" cy="735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E0F07CE-4461-4017-95B1-A91E8C07CEC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BC70EDB-4C9F-4647-9E35-FC2B35472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0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D3DC-F528-4A13-83D7-FBFFB553DC23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5414E-E423-4AA7-9115-22430106930A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021E-6619-4864-A531-3884F35E32A7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DFE3-3671-4C77-A794-9454035D069E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FF9-9250-4A02-8C90-88308FB02D50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E3E7-E479-45A0-88C4-97E832A8FDBB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965B-E1FC-427C-BDD7-3848850C6CD6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14A7-7431-4D1E-80F9-B52A126333B3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AD4F3-7D92-4A32-93B2-FC37AE7C3940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23E4-558D-4565-A361-9AAAD6994D0A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95C6-9248-480B-8F88-B02939DB07A4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38D27-F322-4708-B7D9-2C8C224BC33F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Zia                                                 CU Finance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59781-F032-4057-9B41-94247908A6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PowerPoint_Slide.sldx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sLpjXBXBS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828800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Introduction to Business</a:t>
            </a:r>
            <a:br>
              <a:rPr lang="en-US" dirty="0"/>
            </a:br>
            <a:r>
              <a:rPr lang="en-US" dirty="0"/>
              <a:t>Course Code: BCC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1600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First Semester’ 2025</a:t>
            </a:r>
          </a:p>
          <a:p>
            <a:r>
              <a:rPr lang="en-US" dirty="0"/>
              <a:t>BBA Program</a:t>
            </a:r>
          </a:p>
          <a:p>
            <a:r>
              <a:rPr lang="en-US" dirty="0"/>
              <a:t>Department of Management, CU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Course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Course outcomes: T</a:t>
            </a:r>
            <a:r>
              <a:rPr lang="en-US" dirty="0"/>
              <a:t>o enhance student learning and introduce students to business in a </a:t>
            </a:r>
            <a:r>
              <a:rPr lang="en-US" dirty="0">
                <a:solidFill>
                  <a:srgbClr val="FF0000"/>
                </a:solidFill>
              </a:rPr>
              <a:t>fundamental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practical</a:t>
            </a:r>
            <a:r>
              <a:rPr lang="en-US" dirty="0"/>
              <a:t> way. </a:t>
            </a:r>
            <a:endParaRPr lang="en-US" dirty="0">
              <a:cs typeface="Arial" charset="0"/>
            </a:endParaRPr>
          </a:p>
          <a:p>
            <a:r>
              <a:rPr lang="en-US" dirty="0">
                <a:cs typeface="Arial" charset="0"/>
              </a:rPr>
              <a:t>Teaching Method: Lectures, in-class exercise, assignment, presentation.</a:t>
            </a:r>
          </a:p>
          <a:p>
            <a:r>
              <a:rPr lang="en-US" dirty="0">
                <a:cs typeface="Arial" charset="0"/>
              </a:rPr>
              <a:t>Literature: Basic Text: </a:t>
            </a:r>
            <a:r>
              <a:rPr lang="en-US" dirty="0"/>
              <a:t>Introduction to Business by Mohammed </a:t>
            </a:r>
            <a:r>
              <a:rPr lang="en-US" dirty="0" err="1"/>
              <a:t>Ziaul</a:t>
            </a:r>
            <a:r>
              <a:rPr lang="en-US" dirty="0"/>
              <a:t> </a:t>
            </a:r>
            <a:r>
              <a:rPr lang="en-US" dirty="0" err="1"/>
              <a:t>Hoque</a:t>
            </a:r>
            <a:endParaRPr lang="en-US" dirty="0"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Objective of Introduction to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US" dirty="0"/>
              <a:t>Its goal is to explain </a:t>
            </a:r>
            <a:r>
              <a:rPr lang="en-US" dirty="0">
                <a:solidFill>
                  <a:srgbClr val="FF0000"/>
                </a:solidFill>
              </a:rPr>
              <a:t>what</a:t>
            </a:r>
            <a:r>
              <a:rPr lang="en-US" dirty="0"/>
              <a:t> is business in a thorough but concise way, </a:t>
            </a:r>
            <a:r>
              <a:rPr lang="en-US" dirty="0">
                <a:solidFill>
                  <a:srgbClr val="FF0000"/>
                </a:solidFill>
              </a:rPr>
              <a:t>why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how</a:t>
            </a:r>
            <a:r>
              <a:rPr lang="en-US" dirty="0"/>
              <a:t> to do business and to </a:t>
            </a:r>
            <a:r>
              <a:rPr lang="en-US" dirty="0">
                <a:solidFill>
                  <a:srgbClr val="FF0000"/>
                </a:solidFill>
              </a:rPr>
              <a:t>whom</a:t>
            </a:r>
            <a:r>
              <a:rPr lang="en-US" dirty="0"/>
              <a:t> it is important.</a:t>
            </a:r>
          </a:p>
          <a:p>
            <a:r>
              <a:rPr lang="en-US" dirty="0"/>
              <a:t>This course is purposely brief and covers business essentials specifically Bangladesh Perspective.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Chapter 01: Introduction (Chapter Outline)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Meaning</a:t>
            </a:r>
          </a:p>
          <a:p>
            <a:r>
              <a:rPr lang="en-US" dirty="0"/>
              <a:t>Foundation of Business</a:t>
            </a:r>
          </a:p>
          <a:p>
            <a:r>
              <a:rPr lang="en-US" dirty="0"/>
              <a:t>Importance of Business</a:t>
            </a:r>
          </a:p>
          <a:p>
            <a:r>
              <a:rPr lang="en-US" dirty="0"/>
              <a:t>Principles of Business</a:t>
            </a:r>
          </a:p>
          <a:p>
            <a:r>
              <a:rPr lang="en-US" dirty="0"/>
              <a:t>Functions of Business</a:t>
            </a:r>
          </a:p>
          <a:p>
            <a:r>
              <a:rPr lang="en-US" dirty="0"/>
              <a:t>Objectives of Business</a:t>
            </a:r>
          </a:p>
          <a:p>
            <a:r>
              <a:rPr lang="en-US" dirty="0"/>
              <a:t>Process of Business</a:t>
            </a:r>
          </a:p>
          <a:p>
            <a:r>
              <a:rPr lang="en-US" dirty="0"/>
              <a:t>Environment of Business</a:t>
            </a:r>
          </a:p>
          <a:p>
            <a:r>
              <a:rPr lang="en-US" dirty="0"/>
              <a:t>Business Challenges of Business</a:t>
            </a:r>
          </a:p>
        </p:txBody>
      </p:sp>
      <p:pic>
        <p:nvPicPr>
          <p:cNvPr id="4" name="Picture 3" descr="Image result for Images of introduction to business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2286000"/>
            <a:ext cx="3028950" cy="3200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Business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Historically: Business is ‘activities’ and ‘interests’</a:t>
            </a:r>
          </a:p>
          <a:p>
            <a:r>
              <a:rPr lang="en-US" dirty="0"/>
              <a:t>Literally: Business is ‘remain busy’</a:t>
            </a:r>
          </a:p>
          <a:p>
            <a:r>
              <a:rPr lang="en-US" dirty="0"/>
              <a:t>Philosophically: Business is ‘State of being Busy’</a:t>
            </a:r>
          </a:p>
          <a:p>
            <a:r>
              <a:rPr lang="en-US" dirty="0"/>
              <a:t>History of Business: Ancient age (civilization, Barter System), Middle age (IR, SMEs) and Modern age (MNCs, Virtual)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800" b="1" dirty="0"/>
              <a:t>Business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business means the exchange of goods and services with a view to earn profit.</a:t>
            </a:r>
          </a:p>
        </p:txBody>
      </p:sp>
      <p:pic>
        <p:nvPicPr>
          <p:cNvPr id="4" name="Picture 3" descr="Image result for images of business"/>
          <p:cNvPicPr/>
          <p:nvPr/>
        </p:nvPicPr>
        <p:blipFill>
          <a:blip r:embed="rId2" cstate="print">
            <a:duotone>
              <a:prstClr val="black"/>
              <a:schemeClr val="tx1">
                <a:lumMod val="65000"/>
                <a:lumOff val="3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133600" y="2895600"/>
            <a:ext cx="4495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Examples of Business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105400" y="2362200"/>
            <a:ext cx="2214826" cy="2558698"/>
          </a:xfrm>
          <a:prstGeom prst="rect">
            <a:avLst/>
          </a:prstGeom>
          <a:noFill/>
          <a:ln w="12700">
            <a:solidFill>
              <a:srgbClr val="0D0D0D"/>
            </a:solidFill>
            <a:miter lim="800000"/>
            <a:headEnd/>
            <a:tailEnd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6" name="Object 1"/>
          <p:cNvPicPr/>
          <p:nvPr/>
        </p:nvPicPr>
        <p:blipFill>
          <a:blip r:embed="rId3">
            <a:lum contrast="80000"/>
          </a:blip>
          <a:srcRect l="-4417" t="-51538" r="-25610" b="-33076"/>
          <a:stretch>
            <a:fillRect/>
          </a:stretch>
        </p:blipFill>
        <p:spPr bwMode="auto">
          <a:xfrm>
            <a:off x="2743200" y="2286000"/>
            <a:ext cx="2727457" cy="30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Object 2"/>
          <p:cNvPicPr>
            <a:picLocks noGrp="1"/>
          </p:cNvPicPr>
          <p:nvPr>
            <p:ph idx="1"/>
          </p:nvPr>
        </p:nvPicPr>
        <p:blipFill>
          <a:blip r:embed="rId4">
            <a:lum contrast="60000"/>
          </a:blip>
          <a:srcRect l="-2710" t="-48734" r="-15047" b="-31647"/>
          <a:stretch>
            <a:fillRect/>
          </a:stretch>
        </p:blipFill>
        <p:spPr bwMode="auto">
          <a:xfrm>
            <a:off x="2667000" y="3200400"/>
            <a:ext cx="2590800" cy="362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Object 3"/>
          <p:cNvPicPr/>
          <p:nvPr/>
        </p:nvPicPr>
        <p:blipFill>
          <a:blip r:embed="rId5">
            <a:lum contrast="60000"/>
          </a:blip>
          <a:srcRect l="-4320" t="-47525" r="-4214" b="-30693"/>
          <a:stretch>
            <a:fillRect/>
          </a:stretch>
        </p:blipFill>
        <p:spPr bwMode="auto">
          <a:xfrm>
            <a:off x="2895600" y="4343400"/>
            <a:ext cx="2279374" cy="368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/>
          <p:cNvSpPr/>
          <p:nvPr/>
        </p:nvSpPr>
        <p:spPr>
          <a:xfrm>
            <a:off x="533400" y="5105400"/>
            <a:ext cx="80010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Business is the money earning activities of a man and women and keep busy with investing and operating activities (economic transaction).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6000" b="1" dirty="0"/>
              <a:t>Business Equation</a:t>
            </a:r>
            <a:br>
              <a:rPr lang="en-US" sz="20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US" b="1" dirty="0"/>
              <a:t>Business = </a:t>
            </a:r>
            <a:r>
              <a:rPr lang="el-GR" b="1" dirty="0"/>
              <a:t>Σ</a:t>
            </a:r>
            <a:r>
              <a:rPr lang="en-US" b="1" dirty="0"/>
              <a:t>I+</a:t>
            </a:r>
            <a:r>
              <a:rPr lang="el-GR" b="1" dirty="0"/>
              <a:t>Σ</a:t>
            </a:r>
            <a:r>
              <a:rPr lang="en-US" b="1" dirty="0"/>
              <a:t>T+</a:t>
            </a:r>
            <a:r>
              <a:rPr lang="el-GR" b="1" dirty="0"/>
              <a:t>Σ</a:t>
            </a:r>
            <a:r>
              <a:rPr lang="en-US" b="1" dirty="0"/>
              <a:t>AT+</a:t>
            </a:r>
            <a:r>
              <a:rPr lang="el-GR" b="1" dirty="0"/>
              <a:t>Σ</a:t>
            </a:r>
            <a:r>
              <a:rPr lang="en-US" b="1" dirty="0"/>
              <a:t>DS; </a:t>
            </a:r>
            <a:r>
              <a:rPr lang="en-US" dirty="0"/>
              <a:t>where</a:t>
            </a:r>
          </a:p>
          <a:p>
            <a:r>
              <a:rPr lang="en-US" dirty="0"/>
              <a:t>I= Industries</a:t>
            </a:r>
          </a:p>
          <a:p>
            <a:r>
              <a:rPr lang="en-US" dirty="0"/>
              <a:t>T= Trades</a:t>
            </a:r>
          </a:p>
          <a:p>
            <a:r>
              <a:rPr lang="en-US" dirty="0"/>
              <a:t>AT   = Auxiliaries to Trade</a:t>
            </a:r>
          </a:p>
          <a:p>
            <a:r>
              <a:rPr lang="en-US" dirty="0"/>
              <a:t>DS   = Direct Services</a:t>
            </a:r>
          </a:p>
          <a:p>
            <a:r>
              <a:rPr lang="el-GR" b="1" dirty="0"/>
              <a:t>Σ</a:t>
            </a:r>
            <a:r>
              <a:rPr lang="en-US" b="1" dirty="0"/>
              <a:t>   </a:t>
            </a:r>
            <a:r>
              <a:rPr lang="en-US" dirty="0"/>
              <a:t>= Summation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Foundation of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r>
              <a:rPr lang="en-US" sz="2800" dirty="0"/>
              <a:t>Resources (natural &amp; capital)</a:t>
            </a:r>
          </a:p>
          <a:p>
            <a:r>
              <a:rPr lang="en-US" sz="2800" dirty="0"/>
              <a:t>Goods and services</a:t>
            </a:r>
          </a:p>
          <a:p>
            <a:r>
              <a:rPr lang="en-US" sz="2800" dirty="0"/>
              <a:t>Allocation of resources and products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Others:</a:t>
            </a:r>
            <a:r>
              <a:rPr lang="en-US" sz="2800" dirty="0"/>
              <a:t> Business idea development</a:t>
            </a:r>
          </a:p>
          <a:p>
            <a:r>
              <a:rPr lang="en-US" sz="2800" dirty="0"/>
              <a:t>Start with small</a:t>
            </a:r>
          </a:p>
          <a:p>
            <a:r>
              <a:rPr lang="en-US" sz="2800" dirty="0"/>
              <a:t>Quality products</a:t>
            </a:r>
          </a:p>
          <a:p>
            <a:r>
              <a:rPr lang="en-US" sz="2800" dirty="0"/>
              <a:t>Strong Management and leadership</a:t>
            </a:r>
          </a:p>
          <a:p>
            <a:r>
              <a:rPr lang="en-US" sz="2800" dirty="0"/>
              <a:t>Customers Loyalty</a:t>
            </a:r>
          </a:p>
          <a:p>
            <a:r>
              <a:rPr lang="en-US" sz="2800" dirty="0"/>
              <a:t>Capital Requirements</a:t>
            </a:r>
          </a:p>
        </p:txBody>
      </p:sp>
      <p:pic>
        <p:nvPicPr>
          <p:cNvPr id="4" name="Picture 3" descr="Image result for images of apple inc"/>
          <p:cNvPicPr/>
          <p:nvPr/>
        </p:nvPicPr>
        <p:blipFill>
          <a:blip r:embed="rId2" cstate="print">
            <a:duotone>
              <a:prstClr val="black"/>
              <a:schemeClr val="bg1">
                <a:tint val="45000"/>
                <a:satMod val="400000"/>
              </a:schemeClr>
            </a:duotone>
            <a:lum bright="40000"/>
          </a:blip>
          <a:srcRect/>
          <a:stretch>
            <a:fillRect/>
          </a:stretch>
        </p:blipFill>
        <p:spPr bwMode="auto">
          <a:xfrm>
            <a:off x="6172200" y="3124200"/>
            <a:ext cx="2362200" cy="2362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Apple Founder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4818" name="Picture 2" descr="https://qph.ec.quoracdn.net/main-qimg-db0be927efb230c3ca8036e5c3ecac37-c?convert_to_webp=tr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905000"/>
            <a:ext cx="6248400" cy="434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Importance of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of goods and services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capital and other resources in production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Self-employment and provision of employment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Preservation of natural resources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development and innovation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generation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general income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 social development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in the development of education, science and technology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international relations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Basic Principles of Business</a:t>
            </a:r>
            <a:endParaRPr lang="en-US" dirty="0"/>
          </a:p>
        </p:txBody>
      </p:sp>
      <p:pic>
        <p:nvPicPr>
          <p:cNvPr id="4" name="Diagram 11"/>
          <p:cNvPicPr/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</a:blip>
          <a:srcRect t="-21571" b="-21855"/>
          <a:stretch>
            <a:fillRect/>
          </a:stretch>
        </p:blipFill>
        <p:spPr bwMode="auto">
          <a:xfrm>
            <a:off x="1143000" y="1676400"/>
            <a:ext cx="7010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Function of Business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533400" y="1143000"/>
          <a:ext cx="8001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Objectives of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Direct: </a:t>
            </a:r>
          </a:p>
          <a:p>
            <a:pPr marL="0" indent="0">
              <a:buNone/>
            </a:pPr>
            <a:r>
              <a:rPr lang="en-US" b="1" dirty="0"/>
              <a:t>a)Economic objects </a:t>
            </a:r>
            <a:r>
              <a:rPr lang="en-US" dirty="0"/>
              <a:t>– Profit earn, meet the demand, proper utilization of assets, creating customers, improve technology, etc. </a:t>
            </a:r>
          </a:p>
          <a:p>
            <a:pPr marL="0" indent="0">
              <a:buNone/>
            </a:pPr>
            <a:r>
              <a:rPr lang="en-US" b="1" dirty="0"/>
              <a:t>b)Social motives </a:t>
            </a:r>
            <a:r>
              <a:rPr lang="en-US" dirty="0"/>
              <a:t>– supply goods and services to the society, get social status, create employment, contribute to the social development, social responsibility, fair behavior to all stakeholders.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Objectives of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212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Indirect: </a:t>
            </a:r>
          </a:p>
          <a:p>
            <a:pPr marL="0" indent="0">
              <a:buNone/>
            </a:pPr>
            <a:r>
              <a:rPr lang="en-US" b="1" dirty="0"/>
              <a:t>c) Human Welfare or humanitarian: </a:t>
            </a:r>
            <a:r>
              <a:rPr lang="en-US" dirty="0"/>
              <a:t>good relationship between worker and management, develops worker community, good relationship with customers, increase life standard, follows the core values of company, </a:t>
            </a:r>
          </a:p>
          <a:p>
            <a:pPr marL="0" indent="0">
              <a:buNone/>
            </a:pPr>
            <a:r>
              <a:rPr lang="en-US" b="1" dirty="0"/>
              <a:t>d) National Interest and Motives </a:t>
            </a:r>
            <a:r>
              <a:rPr lang="en-US" dirty="0"/>
              <a:t>– economic development, increase revenue, remove illegal and sensitive business, public responsibility (compliance with law, ethics), optimum utilization of resources, Development of backward areas.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Business Process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762000" y="1143000"/>
          <a:ext cx="75438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Slide" r:id="rId2" imgW="3959502" imgH="2968657" progId="PowerPoint.Slide.12">
                  <p:embed/>
                </p:oleObj>
              </mc:Choice>
              <mc:Fallback>
                <p:oleObj name="Slide" r:id="rId2" imgW="3959502" imgH="2968657" progId="PowerPoint.Slide.12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143000"/>
                        <a:ext cx="7543800" cy="518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Business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context of business, environment refers to all external forces or factors which have a bearing on the operation, and functions of a business.</a:t>
            </a:r>
          </a:p>
        </p:txBody>
      </p:sp>
      <p:pic>
        <p:nvPicPr>
          <p:cNvPr id="4" name="Picture 3" descr="Image result for images of business environment"/>
          <p:cNvPicPr/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438400" y="3276600"/>
            <a:ext cx="4648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Business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Environment</a:t>
            </a:r>
          </a:p>
          <a:p>
            <a:r>
              <a:rPr lang="en-US" dirty="0"/>
              <a:t>External Environment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8" name="Picture 7" descr="Image result for images of business environment"/>
          <p:cNvPicPr/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295400" y="2895600"/>
            <a:ext cx="6324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Present scenario of business in Bangladesh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Economy is expanding</a:t>
            </a:r>
          </a:p>
          <a:p>
            <a:r>
              <a:rPr lang="en-US" dirty="0"/>
              <a:t>New industry based on information technology is developing</a:t>
            </a:r>
          </a:p>
          <a:p>
            <a:r>
              <a:rPr lang="en-US" dirty="0"/>
              <a:t>Service industry is growing fast</a:t>
            </a:r>
          </a:p>
          <a:p>
            <a:r>
              <a:rPr lang="en-US" dirty="0"/>
              <a:t>Main contribution coming from RMG sector</a:t>
            </a:r>
          </a:p>
          <a:p>
            <a:r>
              <a:rPr lang="en-US" dirty="0"/>
              <a:t>Outsourcing is now more interesting for young people</a:t>
            </a:r>
          </a:p>
          <a:p>
            <a:r>
              <a:rPr lang="en-US" dirty="0"/>
              <a:t>Tourism industry is now becoming popular</a:t>
            </a:r>
          </a:p>
          <a:p>
            <a:r>
              <a:rPr lang="en-US" dirty="0"/>
              <a:t>Manpower export in another contributing sector for Bangladesh.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Business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Insufficient capital</a:t>
            </a:r>
          </a:p>
          <a:p>
            <a:r>
              <a:rPr lang="en-US" dirty="0"/>
              <a:t>High interest rate</a:t>
            </a:r>
          </a:p>
          <a:p>
            <a:r>
              <a:rPr lang="en-US" dirty="0"/>
              <a:t>Inappropriate government policy</a:t>
            </a:r>
          </a:p>
          <a:p>
            <a:r>
              <a:rPr lang="en-US" dirty="0"/>
              <a:t>Political unrest</a:t>
            </a:r>
          </a:p>
          <a:p>
            <a:r>
              <a:rPr lang="en-US" dirty="0"/>
              <a:t>Lack of necessary raw material</a:t>
            </a:r>
          </a:p>
          <a:p>
            <a:r>
              <a:rPr lang="en-US" dirty="0"/>
              <a:t>Inappropriate management</a:t>
            </a:r>
          </a:p>
          <a:p>
            <a:r>
              <a:rPr lang="en-US" dirty="0"/>
              <a:t>Lack of infrastructure</a:t>
            </a:r>
          </a:p>
          <a:p>
            <a:r>
              <a:rPr lang="en-US" dirty="0"/>
              <a:t>Unable to keep pace with the advanced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Prospects of Doing Business in Bangladesh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dirty="0"/>
              <a:t>Prospect of IT industry in Bangladesh</a:t>
            </a:r>
          </a:p>
          <a:p>
            <a:r>
              <a:rPr lang="en-US" dirty="0"/>
              <a:t>Prospect of agricultural industry in Bangladesh</a:t>
            </a:r>
          </a:p>
          <a:p>
            <a:r>
              <a:rPr lang="en-US" dirty="0"/>
              <a:t>Prospect of pharmaceutical industry in Bangladesh</a:t>
            </a:r>
          </a:p>
          <a:p>
            <a:r>
              <a:rPr lang="en-US" dirty="0"/>
              <a:t>Prospect of outsourcing in Bangladesh</a:t>
            </a:r>
          </a:p>
          <a:p>
            <a:r>
              <a:rPr lang="en-US" dirty="0"/>
              <a:t>Prospect of garments industry in Bangladesh</a:t>
            </a:r>
          </a:p>
          <a:p>
            <a:r>
              <a:rPr lang="en-US" dirty="0"/>
              <a:t>Prospect of banking industry in Bangladesh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How a Business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https://www.youtube.com/watch?v=osLpjXBXBS0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60825"/>
            <a:ext cx="7772400" cy="914400"/>
          </a:xfrm>
        </p:spPr>
        <p:txBody>
          <a:bodyPr>
            <a:normAutofit/>
          </a:bodyPr>
          <a:lstStyle/>
          <a:p>
            <a:r>
              <a:rPr lang="en-US" dirty="0"/>
              <a:t>Thanks!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990600"/>
          </a:xfrm>
        </p:spPr>
        <p:txBody>
          <a:bodyPr/>
          <a:lstStyle/>
          <a:p>
            <a:r>
              <a:rPr lang="en-US" dirty="0"/>
              <a:t>Question?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9781-F032-4057-9B41-94247908A6A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Zia                                                 CU Finance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52400"/>
            <a:ext cx="4724400" cy="3778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740</Words>
  <Application>Microsoft Office PowerPoint</Application>
  <PresentationFormat>On-screen Show (4:3)</PresentationFormat>
  <Paragraphs>139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Slide</vt:lpstr>
      <vt:lpstr>Introduction to Business Course Code: BCC 101</vt:lpstr>
      <vt:lpstr>Course Organization</vt:lpstr>
      <vt:lpstr>Objective of Introduction to Business</vt:lpstr>
      <vt:lpstr>Chapter 01: Introduction (Chapter Outline)</vt:lpstr>
      <vt:lpstr>Business Meaning</vt:lpstr>
      <vt:lpstr>Business Meaning</vt:lpstr>
      <vt:lpstr>Examples of Business </vt:lpstr>
      <vt:lpstr>Business Equation </vt:lpstr>
      <vt:lpstr>Foundation of Business</vt:lpstr>
      <vt:lpstr>Apple Founder</vt:lpstr>
      <vt:lpstr>Importance of Business</vt:lpstr>
      <vt:lpstr>Basic Principles of Business</vt:lpstr>
      <vt:lpstr>Function of Business</vt:lpstr>
      <vt:lpstr>Objectives of Business</vt:lpstr>
      <vt:lpstr>Objectives of Business</vt:lpstr>
      <vt:lpstr>Business Process</vt:lpstr>
      <vt:lpstr>Business Environment</vt:lpstr>
      <vt:lpstr>Business Environment</vt:lpstr>
      <vt:lpstr>Present scenario of business in Bangladesh</vt:lpstr>
      <vt:lpstr>Business Challenges</vt:lpstr>
      <vt:lpstr>Prospects of Doing Business in Bangladesh</vt:lpstr>
      <vt:lpstr>How a Business works?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Business</dc:title>
  <dc:creator>Zia</dc:creator>
  <cp:lastModifiedBy>User</cp:lastModifiedBy>
  <cp:revision>71</cp:revision>
  <dcterms:created xsi:type="dcterms:W3CDTF">2017-01-01T12:13:51Z</dcterms:created>
  <dcterms:modified xsi:type="dcterms:W3CDTF">2025-07-07T17:43:45Z</dcterms:modified>
</cp:coreProperties>
</file>