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jpeg" ContentType="image/jpe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4809ED-ABEC-47DC-A73C-61C6689DEF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93FCB8-7513-43A2-A05E-EFFD965085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2"/>
          <p:cNvGrpSpPr/>
          <p:nvPr/>
        </p:nvGrpSpPr>
        <p:grpSpPr>
          <a:xfrm>
            <a:off x="-3238560" y="0"/>
            <a:ext cx="11925360" cy="3809880"/>
            <a:chOff x="-3238560" y="0"/>
            <a:chExt cx="11925360" cy="3809880"/>
          </a:xfrm>
        </p:grpSpPr>
        <p:sp>
          <p:nvSpPr>
            <p:cNvPr id="1" name="AutoShape 3"/>
            <p:cNvSpPr/>
            <p:nvPr/>
          </p:nvSpPr>
          <p:spPr>
            <a:xfrm>
              <a:off x="-3238560" y="685800"/>
              <a:ext cx="4114800" cy="3124080"/>
            </a:xfrm>
            <a:custGeom>
              <a:avLst/>
              <a:gdLst/>
              <a:ahLst/>
              <a:rect l="l" t="t" r="r" b="b"/>
              <a:pathLst>
                <a:path w="64000" h="64000">
                  <a:moveTo>
                    <a:pt x="-15240" y="5746"/>
                  </a:moveTo>
                  <a:cubicBezTo>
                    <a:pt x="-6654" y="11730"/>
                    <a:pt x="-1536" y="21534"/>
                    <a:pt x="-1536" y="32000"/>
                  </a:cubicBezTo>
                  <a:cubicBezTo>
                    <a:pt x="-1536" y="-23071"/>
                    <a:pt x="-6654" y="-13267"/>
                    <a:pt x="-15240" y="-7283"/>
                  </a:cubicBezTo>
                  <a:cubicBezTo>
                    <a:pt x="-15240" y="-7283"/>
                    <a:pt x="-15240" y="-7283"/>
                    <a:pt x="-15241" y="-7283"/>
                  </a:cubicBezTo>
                  <a:lnTo>
                    <a:pt x="-15240" y="-7282"/>
                  </a:lnTo>
                  <a:lnTo>
                    <a:pt x="-15240" y="5746"/>
                  </a:lnTo>
                  <a:lnTo>
                    <a:pt x="-15241" y="5746"/>
                  </a:lnTo>
                  <a:cubicBezTo>
                    <a:pt x="-15240" y="5746"/>
                    <a:pt x="-15240" y="5746"/>
                    <a:pt x="-15240" y="5746"/>
                  </a:cubicBezTo>
                  <a:close/>
                </a:path>
              </a:pathLst>
            </a:custGeom>
            <a:solidFill>
              <a:srgbClr val="ff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2" name="AutoShape 4"/>
            <p:cNvSpPr/>
            <p:nvPr/>
          </p:nvSpPr>
          <p:spPr>
            <a:xfrm>
              <a:off x="-2425680" y="0"/>
              <a:ext cx="3093840" cy="3154320"/>
            </a:xfrm>
            <a:custGeom>
              <a:avLst/>
              <a:gdLst/>
              <a:ahLst/>
              <a:rect l="l" t="t" r="r" b="b"/>
              <a:pathLst>
                <a:path w="64000" h="64000">
                  <a:moveTo>
                    <a:pt x="-15459" y="5595"/>
                  </a:moveTo>
                  <a:cubicBezTo>
                    <a:pt x="-6746" y="11560"/>
                    <a:pt x="-1536" y="21440"/>
                    <a:pt x="-1536" y="32000"/>
                  </a:cubicBezTo>
                  <a:cubicBezTo>
                    <a:pt x="-1536" y="-22977"/>
                    <a:pt x="-6746" y="-13097"/>
                    <a:pt x="-15459" y="-7132"/>
                  </a:cubicBezTo>
                  <a:cubicBezTo>
                    <a:pt x="-15459" y="-7132"/>
                    <a:pt x="-15459" y="-7132"/>
                    <a:pt x="-15460" y="-7132"/>
                  </a:cubicBezTo>
                  <a:lnTo>
                    <a:pt x="-15459" y="-7131"/>
                  </a:lnTo>
                  <a:lnTo>
                    <a:pt x="-15459" y="5595"/>
                  </a:lnTo>
                  <a:lnTo>
                    <a:pt x="-15460" y="5595"/>
                  </a:lnTo>
                  <a:cubicBezTo>
                    <a:pt x="-15459" y="5595"/>
                    <a:pt x="-15459" y="5595"/>
                    <a:pt x="-15459" y="5595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3" name="Line 5"/>
            <p:cNvSpPr/>
            <p:nvPr/>
          </p:nvSpPr>
          <p:spPr>
            <a:xfrm>
              <a:off x="1371600" y="1523880"/>
              <a:ext cx="731520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Verdana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369800" y="301320"/>
            <a:ext cx="7313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0000cc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369800" y="1827360"/>
            <a:ext cx="7313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Click to edit the outline text format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lvl="1" marL="743040" indent="-285840">
              <a:spcBef>
                <a:spcPts val="726"/>
              </a:spcBef>
              <a:buClr>
                <a:srgbClr val="ffcc00"/>
              </a:buClr>
              <a:buSzPct val="7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Second Outline Level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lvl="2" marL="1143000" indent="-228600">
              <a:spcBef>
                <a:spcPts val="726"/>
              </a:spcBef>
              <a:buClr>
                <a:srgbClr val="0000cc"/>
              </a:buClr>
              <a:buSzPct val="65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Third Outline Level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lvl="3" marL="1600200" indent="-228600">
              <a:spcBef>
                <a:spcPts val="726"/>
              </a:spcBef>
              <a:buClr>
                <a:srgbClr val="ffcc00"/>
              </a:buClr>
              <a:buSzPct val="7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Fourth Outline Level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lvl="4" marL="2057400" indent="-228600">
              <a:spcBef>
                <a:spcPts val="726"/>
              </a:spcBef>
              <a:buClr>
                <a:srgbClr val="0000cc"/>
              </a:buClr>
              <a:buSzPct val="6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Fifth Outline Level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lvl="5" marL="2057400" indent="-228600">
              <a:spcBef>
                <a:spcPts val="726"/>
              </a:spcBef>
              <a:buClr>
                <a:srgbClr val="000000"/>
              </a:buClr>
              <a:buSzPct val="6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Sixth Outline Level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lvl="6" marL="2057400" indent="-228600">
              <a:spcBef>
                <a:spcPts val="726"/>
              </a:spcBef>
              <a:buClr>
                <a:srgbClr val="000000"/>
              </a:buClr>
              <a:buSzPct val="6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Seventh Outline Level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55FA8AA-33C8-47A6-BEF7-4535DFC62E0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/>
          <p:cNvGrpSpPr/>
          <p:nvPr/>
        </p:nvGrpSpPr>
        <p:grpSpPr>
          <a:xfrm>
            <a:off x="-3222720" y="304920"/>
            <a:ext cx="11909520" cy="4724280"/>
            <a:chOff x="-3222720" y="304920"/>
            <a:chExt cx="11909520" cy="4724280"/>
          </a:xfrm>
        </p:grpSpPr>
        <p:sp>
          <p:nvSpPr>
            <p:cNvPr id="10" name="Line 3"/>
            <p:cNvSpPr/>
            <p:nvPr/>
          </p:nvSpPr>
          <p:spPr>
            <a:xfrm>
              <a:off x="1447920" y="2514600"/>
              <a:ext cx="723888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11" name="AutoShape 4"/>
            <p:cNvSpPr/>
            <p:nvPr/>
          </p:nvSpPr>
          <p:spPr>
            <a:xfrm>
              <a:off x="-2514600" y="1371600"/>
              <a:ext cx="3657600" cy="3657600"/>
            </a:xfrm>
            <a:custGeom>
              <a:avLst/>
              <a:gdLst/>
              <a:ahLst/>
              <a:rect l="l" t="t" r="r" b="b"/>
              <a:pathLst>
                <a:path w="64000" h="64000">
                  <a:moveTo>
                    <a:pt x="-21453" y="2368"/>
                  </a:moveTo>
                  <a:cubicBezTo>
                    <a:pt x="-9409" y="7280"/>
                    <a:pt x="-1536" y="18993"/>
                    <a:pt x="-1536" y="32000"/>
                  </a:cubicBezTo>
                  <a:cubicBezTo>
                    <a:pt x="-1536" y="-20530"/>
                    <a:pt x="-9409" y="-8817"/>
                    <a:pt x="-21453" y="-3905"/>
                  </a:cubicBezTo>
                  <a:cubicBezTo>
                    <a:pt x="-21454" y="-3905"/>
                    <a:pt x="-21454" y="-3905"/>
                    <a:pt x="-21454" y="-3905"/>
                  </a:cubicBezTo>
                  <a:lnTo>
                    <a:pt x="-21453" y="-3904"/>
                  </a:lnTo>
                  <a:lnTo>
                    <a:pt x="-21453" y="2368"/>
                  </a:lnTo>
                  <a:lnTo>
                    <a:pt x="-21454" y="2368"/>
                  </a:lnTo>
                  <a:cubicBezTo>
                    <a:pt x="-21454" y="2368"/>
                    <a:pt x="-21454" y="2368"/>
                    <a:pt x="-21453" y="2368"/>
                  </a:cubicBezTo>
                  <a:close/>
                </a:path>
              </a:pathLst>
            </a:custGeom>
            <a:solidFill>
              <a:srgbClr val="ff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12" name="AutoShape 5"/>
            <p:cNvSpPr/>
            <p:nvPr/>
          </p:nvSpPr>
          <p:spPr>
            <a:xfrm>
              <a:off x="-3222720" y="304920"/>
              <a:ext cx="4038840" cy="4038480"/>
            </a:xfrm>
            <a:custGeom>
              <a:avLst/>
              <a:gdLst/>
              <a:ahLst/>
              <a:rect l="l" t="t" r="r" b="b"/>
              <a:pathLst>
                <a:path w="64000" h="64000">
                  <a:moveTo>
                    <a:pt x="-14542" y="6246"/>
                  </a:moveTo>
                  <a:cubicBezTo>
                    <a:pt x="-6364" y="12279"/>
                    <a:pt x="-1536" y="21837"/>
                    <a:pt x="-1536" y="32000"/>
                  </a:cubicBezTo>
                  <a:cubicBezTo>
                    <a:pt x="-1536" y="-23374"/>
                    <a:pt x="-6364" y="-13816"/>
                    <a:pt x="-14542" y="-7783"/>
                  </a:cubicBezTo>
                  <a:cubicBezTo>
                    <a:pt x="-14543" y="-7783"/>
                    <a:pt x="-14543" y="-7783"/>
                    <a:pt x="-14543" y="-7783"/>
                  </a:cubicBezTo>
                  <a:lnTo>
                    <a:pt x="-14542" y="-7782"/>
                  </a:lnTo>
                  <a:lnTo>
                    <a:pt x="-14542" y="6246"/>
                  </a:lnTo>
                  <a:lnTo>
                    <a:pt x="-14543" y="6246"/>
                  </a:lnTo>
                  <a:cubicBezTo>
                    <a:pt x="-14543" y="6246"/>
                    <a:pt x="-14543" y="6246"/>
                    <a:pt x="-14542" y="6246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Verdana"/>
              </a:endParaRPr>
            </a:p>
          </p:txBody>
        </p:sp>
      </p:grp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369800" y="301320"/>
            <a:ext cx="7313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0000cc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369800" y="1827360"/>
            <a:ext cx="7313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Click to edit the outline text format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lvl="1" marL="743040" indent="-285840">
              <a:spcBef>
                <a:spcPts val="726"/>
              </a:spcBef>
              <a:buClr>
                <a:srgbClr val="ffcc00"/>
              </a:buClr>
              <a:buSzPct val="7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Second Outline Level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lvl="2" marL="1143000" indent="-228600">
              <a:spcBef>
                <a:spcPts val="726"/>
              </a:spcBef>
              <a:buClr>
                <a:srgbClr val="0000cc"/>
              </a:buClr>
              <a:buSzPct val="65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Third Outline Level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lvl="3" marL="1600200" indent="-228600">
              <a:spcBef>
                <a:spcPts val="726"/>
              </a:spcBef>
              <a:buClr>
                <a:srgbClr val="ffcc00"/>
              </a:buClr>
              <a:buSzPct val="7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Fourth Outline Level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lvl="4" marL="2057400" indent="-228600">
              <a:spcBef>
                <a:spcPts val="726"/>
              </a:spcBef>
              <a:buClr>
                <a:srgbClr val="0000cc"/>
              </a:buClr>
              <a:buSzPct val="6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Fifth Outline Level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lvl="5" marL="2057400" indent="-228600">
              <a:spcBef>
                <a:spcPts val="726"/>
              </a:spcBef>
              <a:buClr>
                <a:srgbClr val="000000"/>
              </a:buClr>
              <a:buSzPct val="6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Sixth Outline Level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lvl="6" marL="2057400" indent="-228600">
              <a:spcBef>
                <a:spcPts val="726"/>
              </a:spcBef>
              <a:buClr>
                <a:srgbClr val="000000"/>
              </a:buClr>
              <a:buSzPct val="6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Seventh Outline Level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CAA702-D032-4426-9E49-0E1782FD080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442520" y="985320"/>
            <a:ext cx="7239240" cy="144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0000cc"/>
                </a:solidFill>
                <a:latin typeface="Arial"/>
              </a:rPr>
              <a:t>International Business</a:t>
            </a:r>
            <a:br>
              <a:rPr sz="3600"/>
            </a:b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066680" y="301320"/>
            <a:ext cx="7616880" cy="91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0000cc"/>
                </a:solidFill>
                <a:latin typeface="Arial"/>
              </a:rPr>
              <a:t>Learning Objectives</a:t>
            </a: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990360" y="1676520"/>
            <a:ext cx="7924680" cy="449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Verdana"/>
              </a:rPr>
              <a:t>After studying this, chapter students will be able to understand:</a:t>
            </a: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00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Verdana"/>
              </a:rPr>
              <a:t>The meaning and significances of International Business</a:t>
            </a: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00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Verdana"/>
              </a:rPr>
              <a:t>Different types of International Business and the challenges face in to International Business</a:t>
            </a: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00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Verdana"/>
              </a:rPr>
              <a:t>Management system of IB and forms of Economic Integration</a:t>
            </a: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  <a:p>
            <a:pPr marL="34308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369800" y="301320"/>
            <a:ext cx="73134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0000cc"/>
                </a:solidFill>
                <a:latin typeface="Arial"/>
              </a:rPr>
              <a:t>Chapter Outline</a:t>
            </a: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837720" y="1827360"/>
            <a:ext cx="7845480" cy="411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26" lnSpcReduction="10000"/>
          </a:bodyPr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Meaning of International Business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Importance of International Business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Challenges of International Business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Forms of Entry of International business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Management of International Business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Forms of Economic Integration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WTO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369800" y="456840"/>
            <a:ext cx="7313400" cy="76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0000cc"/>
                </a:solidFill>
                <a:latin typeface="Arial"/>
              </a:rPr>
              <a:t>Meaning of Globalization</a:t>
            </a: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228240" y="1827000"/>
            <a:ext cx="8915400" cy="4878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Globalization simply means growing inter-dependence over the countries.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Globalization refers to the increasing integration of economies around the world, particularly through trade and financial flows (IMF, 2000). 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900" spc="-1" strike="noStrike">
                <a:solidFill>
                  <a:srgbClr val="000000"/>
                </a:solidFill>
                <a:latin typeface="Verdana"/>
              </a:rPr>
              <a:t>Globalization can be divided in to two forms: 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Globalization of markets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Globalization of production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1" descr="Image result for images of international business"/>
          <p:cNvPicPr/>
          <p:nvPr/>
        </p:nvPicPr>
        <p:blipFill>
          <a:blip r:embed="rId1"/>
          <a:stretch/>
        </p:blipFill>
        <p:spPr>
          <a:xfrm>
            <a:off x="1905120" y="1828800"/>
            <a:ext cx="5562360" cy="327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6840" y="272880"/>
            <a:ext cx="7620120" cy="116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0000cc"/>
                </a:solidFill>
                <a:latin typeface="Arial"/>
              </a:rPr>
              <a:t>International Business</a:t>
            </a:r>
            <a:br>
              <a:rPr sz="2000"/>
            </a:br>
            <a:endParaRPr b="0" lang="en-US" sz="32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3580920" y="1523880"/>
            <a:ext cx="53341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751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Verdana"/>
              </a:rPr>
              <a:t>IB refers to a broad series of activities involved in conducting business across national boundaries.</a:t>
            </a:r>
            <a:endParaRPr b="0" lang="en-US" sz="30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51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Verdana"/>
              </a:rPr>
              <a:t>International business gives promise of large scale of profits if the organization can run the business successfully. </a:t>
            </a:r>
            <a:endParaRPr b="0" lang="en-US" sz="3000" spc="-1" strike="noStrike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28" name="Picture 2" descr=""/>
          <p:cNvPicPr/>
          <p:nvPr/>
        </p:nvPicPr>
        <p:blipFill>
          <a:blip r:embed="rId1"/>
          <a:stretch/>
        </p:blipFill>
        <p:spPr>
          <a:xfrm>
            <a:off x="457200" y="1523880"/>
            <a:ext cx="2666880" cy="3886200"/>
          </a:xfrm>
          <a:prstGeom prst="rect">
            <a:avLst/>
          </a:prstGeom>
          <a:ln w="0">
            <a:noFill/>
          </a:ln>
        </p:spPr>
      </p:pic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6840" y="1523880"/>
            <a:ext cx="30481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26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369800" y="301680"/>
            <a:ext cx="7313400" cy="106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0000cc"/>
                </a:solidFill>
                <a:latin typeface="Arial"/>
              </a:rPr>
              <a:t>Objectives of International Business</a:t>
            </a: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80520" y="1380600"/>
            <a:ext cx="8458200" cy="5334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Higher rates of profit</a:t>
            </a: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Expanding the production capacity</a:t>
            </a: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Avoid brutal competition in home country</a:t>
            </a: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To get access in large scale global market</a:t>
            </a: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To avoid political instability in local market</a:t>
            </a: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To adopt technological advancement</a:t>
            </a: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To use competent human resources in foreign country</a:t>
            </a: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To avoid high cost of transportation</a:t>
            </a: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To exploit nearness of raw materials</a:t>
            </a: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To get advantage of liberalization</a:t>
            </a: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To increase market share</a:t>
            </a: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To avoid Tariff and import quota of respective country</a:t>
            </a:r>
            <a:endParaRPr b="0" lang="en-US" sz="2800" spc="-1" strike="noStrike">
              <a:solidFill>
                <a:srgbClr val="000000"/>
              </a:solidFill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90360" y="301680"/>
            <a:ext cx="7692840" cy="145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0000cc"/>
                </a:solidFill>
                <a:latin typeface="Arial"/>
              </a:rPr>
              <a:t>Importance of International Business</a:t>
            </a:r>
            <a:br>
              <a:rPr sz="3600"/>
            </a:b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837720" y="1827360"/>
            <a:ext cx="7845480" cy="411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01"/>
          </a:bodyPr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Optimum and proper uses of world resources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Open market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Economic growth of world at large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Increasing living standard of life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Increased socio-economic welfare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Reduced risk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Large-scale of economies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Cultural transformation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369800" y="301320"/>
            <a:ext cx="73134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0000cc"/>
                </a:solidFill>
                <a:latin typeface="Arial"/>
              </a:rPr>
              <a:t>Dimensions of international business</a:t>
            </a: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85800" y="1599840"/>
            <a:ext cx="8229600" cy="4876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Domestic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International- involving export and import – Abul Khair Group. 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Multinational- investing in other countries with adjusting the products, services, and business practices – Uni lever BD limited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369800" y="301320"/>
            <a:ext cx="73134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0000cc"/>
                </a:solidFill>
                <a:latin typeface="Arial"/>
              </a:rPr>
              <a:t>Dimensions of international business</a:t>
            </a: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685800" y="1599840"/>
            <a:ext cx="8229600" cy="4876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Global – Doing business worldwide without considering the local responsiveness and producing and distributing same quality product globally – BMW automobile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Transnational – Doing business using locational advantage and core competencies and paying attention to local responsiveness – Microsoft. 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369800" y="301320"/>
            <a:ext cx="73134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0000cc"/>
                </a:solidFill>
                <a:latin typeface="Arial"/>
              </a:rPr>
              <a:t>Difference between international and domestic business</a:t>
            </a: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066680" y="1523520"/>
            <a:ext cx="6477120" cy="5334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 the point of 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Environment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Plan and strategy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Competition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Currency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Tariff and quotas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Research and development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369800" y="301320"/>
            <a:ext cx="73134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0000cc"/>
                </a:solidFill>
                <a:latin typeface="Arial"/>
              </a:rPr>
              <a:t>Difference between international and domestic business</a:t>
            </a: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987480" y="1523520"/>
            <a:ext cx="7013520" cy="5334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Human resources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Organizational vision and objectives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Investment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Distribution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Logistics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Advertising and promotions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Legal aspects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  <a:p>
            <a:pPr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369800" y="301320"/>
            <a:ext cx="73134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0000cc"/>
                </a:solidFill>
                <a:latin typeface="Arial"/>
              </a:rPr>
              <a:t>Forms of entering International Businesses</a:t>
            </a: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85800" y="1444680"/>
            <a:ext cx="7997760" cy="5184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Exporting: Direct, indirect, Intra-Corporate Transfers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Licensing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Franchising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Special Modes: 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0" lang="en-US" sz="29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Management Contracts, 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0" lang="en-US" sz="29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Turnkey Projects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Foreign Direct Investment with strategic alliance 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0" lang="en-US" sz="29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Mergers and acquisitions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0" lang="en-US" sz="29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Joint venture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lnSpc>
                <a:spcPct val="100000"/>
              </a:lnSpc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FDI without alliance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6840" y="301680"/>
            <a:ext cx="8226360" cy="68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0000cc"/>
                </a:solidFill>
                <a:latin typeface="Arial"/>
              </a:rPr>
              <a:t>Franchising vs. Licensing</a:t>
            </a: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  <p:graphicFrame>
        <p:nvGraphicFramePr>
          <p:cNvPr id="45" name=""/>
          <p:cNvGraphicFramePr/>
          <p:nvPr/>
        </p:nvGraphicFramePr>
        <p:xfrm>
          <a:off x="457200" y="1219320"/>
          <a:ext cx="8458200" cy="5456160"/>
        </p:xfrm>
        <a:graphic>
          <a:graphicData uri="http://schemas.openxmlformats.org/drawingml/2006/table">
            <a:tbl>
              <a:tblPr/>
              <a:tblGrid>
                <a:gridCol w="2271600"/>
                <a:gridCol w="2978280"/>
                <a:gridCol w="3208320"/>
              </a:tblGrid>
              <a:tr h="247320">
                <a:tc>
                  <a:txBody>
                    <a:bodyPr lIns="9360" rIns="9360" tIns="9360" bIns="936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Verdana"/>
                        </a:rPr>
                        <a:t>Basis for Comparison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Verdana"/>
                        </a:rPr>
                        <a:t>Licensing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Verdana"/>
                        </a:rPr>
                        <a:t>Franchising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99cc00"/>
                    </a:solidFill>
                  </a:tcPr>
                </a:tc>
              </a:tr>
              <a:tr h="1805400"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Verdana"/>
                        </a:rPr>
                        <a:t>Meaning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Licensing is an arrangement in which a company (licensor) sells the right to use intellectual property or produce a company's product to the licensee, for royalty.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cb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Franchising is an arrangement in which the franchisor permits franchisee to use business model or brand name for a fee, to conduct business, as an independent branch of the parent company (franchisor).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cb"/>
                    </a:solidFill>
                  </a:tcPr>
                </a:tc>
              </a:tr>
              <a:tr h="779400"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Verdana"/>
                        </a:rPr>
                        <a:t>Governed by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Contract Law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e7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Franchising regulations or Company Law as the case may be.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e7"/>
                    </a:solidFill>
                  </a:tcPr>
                </a:tc>
              </a:tr>
              <a:tr h="269640"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Verdana"/>
                        </a:rPr>
                        <a:t>Registration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Not necessary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cb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Mandatory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cb"/>
                    </a:solidFill>
                  </a:tcPr>
                </a:tc>
              </a:tr>
              <a:tr h="269280"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Verdana"/>
                        </a:rPr>
                        <a:t>Training and support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Not provided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e7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Provided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e7"/>
                    </a:solidFill>
                  </a:tcPr>
                </a:tc>
              </a:tr>
              <a:tr h="1292760"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Verdana"/>
                        </a:rPr>
                        <a:t>Degree of control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The licensor has control on the use of intellectual property by the licensee, but has no control on the licensee's business.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cb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Franchisor exerts considerable control over franchisee's business and process.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cb"/>
                    </a:solidFill>
                  </a:tcPr>
                </a:tc>
              </a:tr>
              <a:tr h="524160"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Verdana"/>
                        </a:rPr>
                        <a:t>Process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Involves one time transfer of property or rights.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e7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Needs ongoing assistance of franchiser.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ff6e7"/>
                    </a:solidFill>
                  </a:tcPr>
                </a:tc>
              </a:tr>
              <a:tr h="268200"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Verdana"/>
                        </a:rPr>
                        <a:t>Fee structure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Negotiable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cb"/>
                    </a:solidFill>
                  </a:tcPr>
                </a:tc>
                <a:tc>
                  <a:txBody>
                    <a:bodyPr lIns="9360" rIns="9360" tIns="9360" bIns="9360" anchor="ctr">
                      <a:noAutofit/>
                    </a:bodyPr>
                    <a:p>
                      <a:pPr>
                        <a:lnSpc>
                          <a:spcPct val="107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Standard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anchor="ctr" marL="9360" marR="936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eecc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7720" y="533160"/>
            <a:ext cx="784548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0000cc"/>
                </a:solidFill>
                <a:latin typeface="Arial"/>
              </a:rPr>
              <a:t>Challenges of International Business</a:t>
            </a:r>
            <a:br>
              <a:rPr sz="3600"/>
            </a:b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066680" y="1827360"/>
            <a:ext cx="7616880" cy="411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Management Myopia 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Political Obstacles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National Controls 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High Investment required 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Economic obstacles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Social/ Cultural obstacles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066680" y="301680"/>
            <a:ext cx="7616880" cy="152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0000cc"/>
                </a:solidFill>
                <a:latin typeface="Arial"/>
              </a:rPr>
              <a:t>Management of International Business</a:t>
            </a:r>
            <a:br>
              <a:rPr sz="3600"/>
            </a:b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914040" y="1827000"/>
            <a:ext cx="7769160" cy="381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212"/>
          </a:bodyPr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The elements of market analysis required to launch a business overseas 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Guidance on how to influence the international strategy of your business 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Advice on how to construct a dynamic market entry strategy 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Easy ways to search for a competitive advantage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1" descr="Image result for images of international business management"/>
          <p:cNvPicPr/>
          <p:nvPr/>
        </p:nvPicPr>
        <p:blipFill>
          <a:blip r:embed="rId1"/>
          <a:stretch/>
        </p:blipFill>
        <p:spPr>
          <a:xfrm>
            <a:off x="1066680" y="1752480"/>
            <a:ext cx="6705720" cy="457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7720" y="609480"/>
            <a:ext cx="7845480" cy="137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0000cc"/>
                </a:solidFill>
                <a:latin typeface="Arial"/>
              </a:rPr>
              <a:t>Three Approaches to International Business Management</a:t>
            </a:r>
            <a:br>
              <a:rPr sz="3600"/>
            </a:br>
            <a:endParaRPr b="0" lang="en-US" sz="36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066680" y="1827360"/>
            <a:ext cx="7616880" cy="411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212"/>
          </a:bodyPr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Ethnocentric Approach (one’s own cultural group is superior to others)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Polycentric Management Approach(Building a workforce of locals, based on the belief that locals’ best know the region’s culture, language and work style)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  <a:p>
            <a:pPr marL="343080" indent="-343080">
              <a:spcBef>
                <a:spcPts val="726"/>
              </a:spcBef>
              <a:buClr>
                <a:srgbClr val="0000cc"/>
              </a:buClr>
              <a:buSzPct val="70000"/>
              <a:buFont typeface="Wingdings" charset="2"/>
              <a:buChar char="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Verdana"/>
              </a:rPr>
              <a:t>Geocentric Approach (business challenges are viewed as universal)</a:t>
            </a:r>
            <a:endParaRPr b="0" lang="en-US" sz="2900" spc="-1" strike="noStrike">
              <a:solidFill>
                <a:srgbClr val="000000"/>
              </a:solidFill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442520" y="609480"/>
            <a:ext cx="6634440" cy="137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6600" spc="-1" strike="noStrike">
                <a:solidFill>
                  <a:srgbClr val="0000cc"/>
                </a:solidFill>
                <a:latin typeface="Arial"/>
              </a:rPr>
              <a:t>Thanks!</a:t>
            </a:r>
            <a:endParaRPr b="0" lang="en-US" sz="6600" spc="-1" strike="noStrike">
              <a:solidFill>
                <a:srgbClr val="0000cc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1442520" y="5105520"/>
            <a:ext cx="7239240" cy="83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Verdana"/>
              </a:rPr>
              <a:t>Question?</a:t>
            </a:r>
            <a:endParaRPr b="0" lang="en-US" sz="4400" spc="-1" strike="noStrike">
              <a:solidFill>
                <a:srgbClr val="000000"/>
              </a:solidFill>
              <a:latin typeface="Verdana"/>
            </a:endParaRPr>
          </a:p>
        </p:txBody>
      </p:sp>
      <p:pic>
        <p:nvPicPr>
          <p:cNvPr id="55" name="Picture 1" descr=""/>
          <p:cNvPicPr/>
          <p:nvPr/>
        </p:nvPicPr>
        <p:blipFill>
          <a:blip r:embed="rId1"/>
          <a:stretch/>
        </p:blipFill>
        <p:spPr>
          <a:xfrm>
            <a:off x="2852640" y="2535120"/>
            <a:ext cx="4498920" cy="277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2003-04-15T21:29:52Z</dcterms:created>
  <dc:creator>Zia</dc:creator>
  <dc:description/>
  <dc:language>en-US</dc:language>
  <cp:lastModifiedBy>User</cp:lastModifiedBy>
  <dcterms:modified xsi:type="dcterms:W3CDTF">2024-12-14T14:19:24Z</dcterms:modified>
  <cp:revision>109</cp:revision>
  <dc:subject/>
  <dc:title>Working Capital Management for the Multinational Corporation</dc:title>
</cp:coreProperties>
</file>