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58" r:id="rId5"/>
    <p:sldId id="260" r:id="rId6"/>
    <p:sldId id="261" r:id="rId7"/>
    <p:sldId id="262" r:id="rId8"/>
    <p:sldId id="263" r:id="rId9"/>
    <p:sldId id="264" r:id="rId10"/>
    <p:sldId id="267" r:id="rId11"/>
    <p:sldId id="265" r:id="rId12"/>
    <p:sldId id="266" r:id="rId13"/>
    <p:sldId id="268" r:id="rId14"/>
    <p:sldId id="269" r:id="rId15"/>
    <p:sldId id="281" r:id="rId16"/>
    <p:sldId id="270" r:id="rId17"/>
    <p:sldId id="278" r:id="rId18"/>
    <p:sldId id="279" r:id="rId19"/>
    <p:sldId id="280" r:id="rId20"/>
    <p:sldId id="271" r:id="rId21"/>
    <p:sldId id="272" r:id="rId22"/>
    <p:sldId id="273" r:id="rId23"/>
    <p:sldId id="274" r:id="rId24"/>
    <p:sldId id="275" r:id="rId25"/>
    <p:sldId id="276" r:id="rId26"/>
    <p:sldId id="288" r:id="rId27"/>
    <p:sldId id="289" r:id="rId28"/>
    <p:sldId id="290" r:id="rId29"/>
    <p:sldId id="291" r:id="rId30"/>
    <p:sldId id="292" r:id="rId31"/>
    <p:sldId id="293" r:id="rId32"/>
    <p:sldId id="294" r:id="rId33"/>
    <p:sldId id="295" r:id="rId34"/>
    <p:sldId id="296" r:id="rId35"/>
    <p:sldId id="283" r:id="rId36"/>
    <p:sldId id="284" r:id="rId37"/>
    <p:sldId id="286" r:id="rId38"/>
    <p:sldId id="28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E2B0128-1A6E-42DB-8A8D-F8AC326E2799}" type="datetimeFigureOut">
              <a:rPr lang="en-US" smtClean="0"/>
              <a:t>5/28/2023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A720EFE-B272-4607-BB16-1659DFB6339E}" type="slidenum">
              <a:rPr lang="en-US" smtClean="0"/>
              <a:t>‹#›</a:t>
            </a:fld>
            <a:endParaRPr lang="en-US" dirty="0"/>
          </a:p>
        </p:txBody>
      </p:sp>
    </p:spTree>
    <p:extLst>
      <p:ext uri="{BB962C8B-B14F-4D97-AF65-F5344CB8AC3E}">
        <p14:creationId xmlns:p14="http://schemas.microsoft.com/office/powerpoint/2010/main" val="1685869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2B0128-1A6E-42DB-8A8D-F8AC326E2799}" type="datetimeFigureOut">
              <a:rPr lang="en-US" smtClean="0"/>
              <a:t>5/28/2023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A720EFE-B272-4607-BB16-1659DFB6339E}" type="slidenum">
              <a:rPr lang="en-US" smtClean="0"/>
              <a:t>‹#›</a:t>
            </a:fld>
            <a:endParaRPr lang="en-US" dirty="0"/>
          </a:p>
        </p:txBody>
      </p:sp>
    </p:spTree>
    <p:extLst>
      <p:ext uri="{BB962C8B-B14F-4D97-AF65-F5344CB8AC3E}">
        <p14:creationId xmlns:p14="http://schemas.microsoft.com/office/powerpoint/2010/main" val="4144454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2B0128-1A6E-42DB-8A8D-F8AC326E2799}" type="datetimeFigureOut">
              <a:rPr lang="en-US" smtClean="0"/>
              <a:t>5/28/2023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A720EFE-B272-4607-BB16-1659DFB6339E}" type="slidenum">
              <a:rPr lang="en-US" smtClean="0"/>
              <a:t>‹#›</a:t>
            </a:fld>
            <a:endParaRPr lang="en-US" dirty="0"/>
          </a:p>
        </p:txBody>
      </p:sp>
    </p:spTree>
    <p:extLst>
      <p:ext uri="{BB962C8B-B14F-4D97-AF65-F5344CB8AC3E}">
        <p14:creationId xmlns:p14="http://schemas.microsoft.com/office/powerpoint/2010/main" val="2670502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2B0128-1A6E-42DB-8A8D-F8AC326E2799}" type="datetimeFigureOut">
              <a:rPr lang="en-US" smtClean="0"/>
              <a:t>5/28/2023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A720EFE-B272-4607-BB16-1659DFB6339E}" type="slidenum">
              <a:rPr lang="en-US" smtClean="0"/>
              <a:t>‹#›</a:t>
            </a:fld>
            <a:endParaRPr lang="en-US" dirty="0"/>
          </a:p>
        </p:txBody>
      </p:sp>
    </p:spTree>
    <p:extLst>
      <p:ext uri="{BB962C8B-B14F-4D97-AF65-F5344CB8AC3E}">
        <p14:creationId xmlns:p14="http://schemas.microsoft.com/office/powerpoint/2010/main" val="2860129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E2B0128-1A6E-42DB-8A8D-F8AC326E2799}" type="datetimeFigureOut">
              <a:rPr lang="en-US" smtClean="0"/>
              <a:t>5/28/2023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A720EFE-B272-4607-BB16-1659DFB6339E}" type="slidenum">
              <a:rPr lang="en-US" smtClean="0"/>
              <a:t>‹#›</a:t>
            </a:fld>
            <a:endParaRPr lang="en-US" dirty="0"/>
          </a:p>
        </p:txBody>
      </p:sp>
    </p:spTree>
    <p:extLst>
      <p:ext uri="{BB962C8B-B14F-4D97-AF65-F5344CB8AC3E}">
        <p14:creationId xmlns:p14="http://schemas.microsoft.com/office/powerpoint/2010/main" val="1189932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2B0128-1A6E-42DB-8A8D-F8AC326E2799}" type="datetimeFigureOut">
              <a:rPr lang="en-US" smtClean="0"/>
              <a:t>5/28/2023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A720EFE-B272-4607-BB16-1659DFB6339E}" type="slidenum">
              <a:rPr lang="en-US" smtClean="0"/>
              <a:t>‹#›</a:t>
            </a:fld>
            <a:endParaRPr lang="en-US" dirty="0"/>
          </a:p>
        </p:txBody>
      </p:sp>
    </p:spTree>
    <p:extLst>
      <p:ext uri="{BB962C8B-B14F-4D97-AF65-F5344CB8AC3E}">
        <p14:creationId xmlns:p14="http://schemas.microsoft.com/office/powerpoint/2010/main" val="1314415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2B0128-1A6E-42DB-8A8D-F8AC326E2799}" type="datetimeFigureOut">
              <a:rPr lang="en-US" smtClean="0"/>
              <a:t>5/28/2023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A720EFE-B272-4607-BB16-1659DFB6339E}" type="slidenum">
              <a:rPr lang="en-US" smtClean="0"/>
              <a:t>‹#›</a:t>
            </a:fld>
            <a:endParaRPr lang="en-US" dirty="0"/>
          </a:p>
        </p:txBody>
      </p:sp>
    </p:spTree>
    <p:extLst>
      <p:ext uri="{BB962C8B-B14F-4D97-AF65-F5344CB8AC3E}">
        <p14:creationId xmlns:p14="http://schemas.microsoft.com/office/powerpoint/2010/main" val="146274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2B0128-1A6E-42DB-8A8D-F8AC326E2799}" type="datetimeFigureOut">
              <a:rPr lang="en-US" smtClean="0"/>
              <a:t>5/28/2023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A720EFE-B272-4607-BB16-1659DFB6339E}" type="slidenum">
              <a:rPr lang="en-US" smtClean="0"/>
              <a:t>‹#›</a:t>
            </a:fld>
            <a:endParaRPr lang="en-US" dirty="0"/>
          </a:p>
        </p:txBody>
      </p:sp>
    </p:spTree>
    <p:extLst>
      <p:ext uri="{BB962C8B-B14F-4D97-AF65-F5344CB8AC3E}">
        <p14:creationId xmlns:p14="http://schemas.microsoft.com/office/powerpoint/2010/main" val="1668754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2B0128-1A6E-42DB-8A8D-F8AC326E2799}" type="datetimeFigureOut">
              <a:rPr lang="en-US" smtClean="0"/>
              <a:t>5/28/2023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A720EFE-B272-4607-BB16-1659DFB6339E}" type="slidenum">
              <a:rPr lang="en-US" smtClean="0"/>
              <a:t>‹#›</a:t>
            </a:fld>
            <a:endParaRPr lang="en-US" dirty="0"/>
          </a:p>
        </p:txBody>
      </p:sp>
    </p:spTree>
    <p:extLst>
      <p:ext uri="{BB962C8B-B14F-4D97-AF65-F5344CB8AC3E}">
        <p14:creationId xmlns:p14="http://schemas.microsoft.com/office/powerpoint/2010/main" val="688130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2B0128-1A6E-42DB-8A8D-F8AC326E2799}" type="datetimeFigureOut">
              <a:rPr lang="en-US" smtClean="0"/>
              <a:t>5/28/2023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A720EFE-B272-4607-BB16-1659DFB6339E}" type="slidenum">
              <a:rPr lang="en-US" smtClean="0"/>
              <a:t>‹#›</a:t>
            </a:fld>
            <a:endParaRPr lang="en-US" dirty="0"/>
          </a:p>
        </p:txBody>
      </p:sp>
    </p:spTree>
    <p:extLst>
      <p:ext uri="{BB962C8B-B14F-4D97-AF65-F5344CB8AC3E}">
        <p14:creationId xmlns:p14="http://schemas.microsoft.com/office/powerpoint/2010/main" val="741010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2B0128-1A6E-42DB-8A8D-F8AC326E2799}" type="datetimeFigureOut">
              <a:rPr lang="en-US" smtClean="0"/>
              <a:t>5/28/2023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A720EFE-B272-4607-BB16-1659DFB6339E}" type="slidenum">
              <a:rPr lang="en-US" smtClean="0"/>
              <a:t>‹#›</a:t>
            </a:fld>
            <a:endParaRPr lang="en-US" dirty="0"/>
          </a:p>
        </p:txBody>
      </p:sp>
    </p:spTree>
    <p:extLst>
      <p:ext uri="{BB962C8B-B14F-4D97-AF65-F5344CB8AC3E}">
        <p14:creationId xmlns:p14="http://schemas.microsoft.com/office/powerpoint/2010/main" val="1285187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2B0128-1A6E-42DB-8A8D-F8AC326E2799}" type="datetimeFigureOut">
              <a:rPr lang="en-US" smtClean="0"/>
              <a:t>5/28/2023</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720EFE-B272-4607-BB16-1659DFB6339E}" type="slidenum">
              <a:rPr lang="en-US" smtClean="0"/>
              <a:t>‹#›</a:t>
            </a:fld>
            <a:endParaRPr lang="en-US" dirty="0"/>
          </a:p>
        </p:txBody>
      </p:sp>
    </p:spTree>
    <p:extLst>
      <p:ext uri="{BB962C8B-B14F-4D97-AF65-F5344CB8AC3E}">
        <p14:creationId xmlns:p14="http://schemas.microsoft.com/office/powerpoint/2010/main" val="35246557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Layout" Target="../slideLayouts/slideLayout8.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image" Target="../media/image7.jpg"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2" Type="http://schemas.openxmlformats.org/officeDocument/2006/relationships/image" Target="../media/image8.jpg"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2" Type="http://schemas.openxmlformats.org/officeDocument/2006/relationships/image" Target="../media/image9.jpg"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687637"/>
          </a:xfrm>
        </p:spPr>
        <p:txBody>
          <a:bodyPr>
            <a:normAutofit/>
          </a:bodyPr>
          <a:lstStyle/>
          <a:p>
            <a:r>
              <a:rPr lang="en-US" sz="3600" b="1" dirty="0">
                <a:latin typeface="Times New Roman" panose="02020603050405020304" pitchFamily="18" charset="0"/>
                <a:cs typeface="Times New Roman" panose="02020603050405020304" pitchFamily="18" charset="0"/>
              </a:rPr>
              <a:t>Contemporary issues of Business</a:t>
            </a:r>
          </a:p>
        </p:txBody>
      </p:sp>
    </p:spTree>
    <p:extLst>
      <p:ext uri="{BB962C8B-B14F-4D97-AF65-F5344CB8AC3E}">
        <p14:creationId xmlns:p14="http://schemas.microsoft.com/office/powerpoint/2010/main" val="4149537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55490"/>
          </a:xfrm>
        </p:spPr>
        <p:txBody>
          <a:bodyPr>
            <a:normAutofit fontScale="90000"/>
          </a:bodyPr>
          <a:lstStyle/>
          <a:p>
            <a:r>
              <a:rPr lang="en-US" sz="3600" b="1" dirty="0">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a:xfrm>
            <a:off x="838200" y="1031631"/>
            <a:ext cx="10515600" cy="5615354"/>
          </a:xfrm>
        </p:spPr>
        <p:txBody>
          <a:bodyPr>
            <a:noAutofit/>
          </a:bodyPr>
          <a:lstStyle/>
          <a:p>
            <a:pPr>
              <a:lnSpc>
                <a:spcPct val="100000"/>
              </a:lnSpc>
              <a:spcBef>
                <a:spcPts val="0"/>
              </a:spcBef>
            </a:pPr>
            <a:r>
              <a:rPr lang="en-US" dirty="0">
                <a:latin typeface="Times New Roman" panose="02020603050405020304" pitchFamily="18" charset="0"/>
                <a:cs typeface="Times New Roman" panose="02020603050405020304" pitchFamily="18" charset="0"/>
              </a:rPr>
              <a:t>Communicating in contemporary business environment</a:t>
            </a:r>
          </a:p>
          <a:p>
            <a:pPr>
              <a:lnSpc>
                <a:spcPct val="100000"/>
              </a:lnSpc>
              <a:spcBef>
                <a:spcPts val="0"/>
              </a:spcBef>
            </a:pPr>
            <a:r>
              <a:rPr lang="en-US" dirty="0">
                <a:latin typeface="Times New Roman" panose="02020603050405020304" pitchFamily="18" charset="0"/>
                <a:cs typeface="Times New Roman" panose="02020603050405020304" pitchFamily="18" charset="0"/>
              </a:rPr>
              <a:t>Social business</a:t>
            </a:r>
          </a:p>
          <a:p>
            <a:pPr>
              <a:lnSpc>
                <a:spcPct val="100000"/>
              </a:lnSpc>
              <a:spcBef>
                <a:spcPts val="0"/>
              </a:spcBef>
            </a:pPr>
            <a:r>
              <a:rPr lang="en-US" dirty="0">
                <a:latin typeface="Times New Roman" panose="02020603050405020304" pitchFamily="18" charset="0"/>
                <a:cs typeface="Times New Roman" panose="02020603050405020304" pitchFamily="18" charset="0"/>
              </a:rPr>
              <a:t>Green business</a:t>
            </a:r>
          </a:p>
          <a:p>
            <a:pPr>
              <a:lnSpc>
                <a:spcPct val="100000"/>
              </a:lnSpc>
              <a:spcBef>
                <a:spcPts val="0"/>
              </a:spcBef>
            </a:pPr>
            <a:r>
              <a:rPr lang="en-US" dirty="0">
                <a:latin typeface="Times New Roman" panose="02020603050405020304" pitchFamily="18" charset="0"/>
                <a:cs typeface="Times New Roman" panose="02020603050405020304" pitchFamily="18" charset="0"/>
              </a:rPr>
              <a:t>E-business</a:t>
            </a:r>
          </a:p>
          <a:p>
            <a:pPr>
              <a:lnSpc>
                <a:spcPct val="100000"/>
              </a:lnSpc>
              <a:spcBef>
                <a:spcPts val="0"/>
              </a:spcBef>
            </a:pPr>
            <a:r>
              <a:rPr lang="en-US" dirty="0">
                <a:latin typeface="Times New Roman" panose="02020603050405020304" pitchFamily="18" charset="0"/>
                <a:cs typeface="Times New Roman" panose="02020603050405020304" pitchFamily="18" charset="0"/>
              </a:rPr>
              <a:t>Virtual business/organization</a:t>
            </a:r>
          </a:p>
          <a:p>
            <a:pPr>
              <a:lnSpc>
                <a:spcPct val="100000"/>
              </a:lnSpc>
              <a:spcBef>
                <a:spcPts val="0"/>
              </a:spcBef>
            </a:pPr>
            <a:r>
              <a:rPr lang="en-US" dirty="0">
                <a:latin typeface="Times New Roman" panose="02020603050405020304" pitchFamily="18" charset="0"/>
                <a:cs typeface="Times New Roman" panose="02020603050405020304" pitchFamily="18" charset="0"/>
              </a:rPr>
              <a:t>Boundary less organization</a:t>
            </a:r>
          </a:p>
          <a:p>
            <a:pPr>
              <a:lnSpc>
                <a:spcPct val="100000"/>
              </a:lnSpc>
              <a:spcBef>
                <a:spcPts val="0"/>
              </a:spcBef>
            </a:pPr>
            <a:r>
              <a:rPr lang="en-US" dirty="0">
                <a:latin typeface="Times New Roman" panose="02020603050405020304" pitchFamily="18" charset="0"/>
                <a:cs typeface="Times New Roman" panose="02020603050405020304" pitchFamily="18" charset="0"/>
              </a:rPr>
              <a:t>Corporate governance</a:t>
            </a:r>
          </a:p>
          <a:p>
            <a:pPr>
              <a:lnSpc>
                <a:spcPct val="100000"/>
              </a:lnSpc>
              <a:spcBef>
                <a:spcPts val="0"/>
              </a:spcBef>
            </a:pPr>
            <a:r>
              <a:rPr lang="en-US" dirty="0">
                <a:latin typeface="Times New Roman" panose="02020603050405020304" pitchFamily="18" charset="0"/>
                <a:cs typeface="Times New Roman" panose="02020603050405020304" pitchFamily="18" charset="0"/>
              </a:rPr>
              <a:t>Business ethics and CSR</a:t>
            </a:r>
          </a:p>
          <a:p>
            <a:pPr>
              <a:lnSpc>
                <a:spcPct val="100000"/>
              </a:lnSpc>
              <a:spcBef>
                <a:spcPts val="0"/>
              </a:spcBef>
            </a:pPr>
            <a:r>
              <a:rPr lang="en-US" dirty="0">
                <a:latin typeface="Times New Roman" panose="02020603050405020304" pitchFamily="18" charset="0"/>
                <a:cs typeface="Times New Roman" panose="02020603050405020304" pitchFamily="18" charset="0"/>
              </a:rPr>
              <a:t>Ethical decision making</a:t>
            </a:r>
          </a:p>
          <a:p>
            <a:pPr>
              <a:lnSpc>
                <a:spcPct val="100000"/>
              </a:lnSpc>
              <a:spcBef>
                <a:spcPts val="0"/>
              </a:spcBef>
            </a:pPr>
            <a:r>
              <a:rPr lang="en-US" dirty="0">
                <a:latin typeface="Times New Roman" panose="02020603050405020304" pitchFamily="18" charset="0"/>
                <a:cs typeface="Times New Roman" panose="02020603050405020304" pitchFamily="18" charset="0"/>
              </a:rPr>
              <a:t>Public private partnership (PPP)</a:t>
            </a:r>
          </a:p>
          <a:p>
            <a:pPr>
              <a:lnSpc>
                <a:spcPct val="100000"/>
              </a:lnSpc>
              <a:spcBef>
                <a:spcPts val="0"/>
              </a:spcBef>
            </a:pPr>
            <a:r>
              <a:rPr lang="en-US" dirty="0">
                <a:latin typeface="Times New Roman" panose="02020603050405020304" pitchFamily="18" charset="0"/>
                <a:cs typeface="Times New Roman" panose="02020603050405020304" pitchFamily="18" charset="0"/>
              </a:rPr>
              <a:t>Economic analyses of contemporary issues in Bangladesh</a:t>
            </a:r>
          </a:p>
          <a:p>
            <a:pPr>
              <a:lnSpc>
                <a:spcPct val="100000"/>
              </a:lnSpc>
              <a:spcBef>
                <a:spcPts val="0"/>
              </a:spcBef>
            </a:pPr>
            <a:r>
              <a:rPr lang="en-US" dirty="0">
                <a:latin typeface="Times New Roman" panose="02020603050405020304" pitchFamily="18" charset="0"/>
                <a:cs typeface="Times New Roman" panose="02020603050405020304" pitchFamily="18" charset="0"/>
              </a:rPr>
              <a:t>Labor issues in Bangladesh’s RMG sector</a:t>
            </a:r>
          </a:p>
          <a:p>
            <a:pPr>
              <a:lnSpc>
                <a:spcPct val="100000"/>
              </a:lnSpc>
              <a:spcBef>
                <a:spcPts val="0"/>
              </a:spcBef>
            </a:pPr>
            <a:r>
              <a:rPr lang="en-US" dirty="0">
                <a:latin typeface="Times New Roman" panose="02020603050405020304" pitchFamily="18" charset="0"/>
                <a:cs typeface="Times New Roman" panose="02020603050405020304" pitchFamily="18" charset="0"/>
              </a:rPr>
              <a:t>Contemporary business ideas </a:t>
            </a:r>
          </a:p>
        </p:txBody>
      </p:sp>
    </p:spTree>
    <p:extLst>
      <p:ext uri="{BB962C8B-B14F-4D97-AF65-F5344CB8AC3E}">
        <p14:creationId xmlns:p14="http://schemas.microsoft.com/office/powerpoint/2010/main" val="2031548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5829"/>
          </a:xfrm>
        </p:spPr>
        <p:txBody>
          <a:bodyPr>
            <a:noAutofit/>
          </a:bodyPr>
          <a:lstStyle/>
          <a:p>
            <a:r>
              <a:rPr lang="en-US" sz="3200" b="1" dirty="0">
                <a:latin typeface="Times New Roman" panose="02020603050405020304" pitchFamily="18" charset="0"/>
                <a:cs typeface="Times New Roman" panose="02020603050405020304" pitchFamily="18" charset="0"/>
              </a:rPr>
              <a:t>Communicating in contemporary business environment</a:t>
            </a:r>
          </a:p>
        </p:txBody>
      </p:sp>
      <p:sp>
        <p:nvSpPr>
          <p:cNvPr id="3" name="Content Placeholder 2"/>
          <p:cNvSpPr>
            <a:spLocks noGrp="1"/>
          </p:cNvSpPr>
          <p:nvPr>
            <p:ph idx="1"/>
          </p:nvPr>
        </p:nvSpPr>
        <p:spPr>
          <a:xfrm>
            <a:off x="539262" y="1055077"/>
            <a:ext cx="10814538" cy="5591908"/>
          </a:xfrm>
        </p:spPr>
        <p:txBody>
          <a:bodyPr>
            <a:noAutofit/>
          </a:bodyPr>
          <a:lstStyle/>
          <a:p>
            <a:pPr>
              <a:lnSpc>
                <a:spcPct val="100000"/>
              </a:lnSpc>
              <a:spcBef>
                <a:spcPts val="0"/>
              </a:spcBef>
            </a:pPr>
            <a:r>
              <a:rPr lang="en-US" sz="3200" dirty="0">
                <a:latin typeface="Times New Roman" panose="02020603050405020304" pitchFamily="18" charset="0"/>
                <a:cs typeface="Times New Roman" panose="02020603050405020304" pitchFamily="18" charset="0"/>
              </a:rPr>
              <a:t>Communication theory</a:t>
            </a:r>
          </a:p>
          <a:p>
            <a:pPr>
              <a:lnSpc>
                <a:spcPct val="100000"/>
              </a:lnSpc>
              <a:spcBef>
                <a:spcPts val="0"/>
              </a:spcBef>
            </a:pPr>
            <a:r>
              <a:rPr lang="en-US" sz="3200" dirty="0">
                <a:latin typeface="Times New Roman" panose="02020603050405020304" pitchFamily="18" charset="0"/>
                <a:cs typeface="Times New Roman" panose="02020603050405020304" pitchFamily="18" charset="0"/>
              </a:rPr>
              <a:t>Social networking</a:t>
            </a:r>
          </a:p>
          <a:p>
            <a:pPr>
              <a:lnSpc>
                <a:spcPct val="100000"/>
              </a:lnSpc>
              <a:spcBef>
                <a:spcPts val="0"/>
              </a:spcBef>
            </a:pPr>
            <a:r>
              <a:rPr lang="en-US" sz="3200" dirty="0">
                <a:latin typeface="Times New Roman" panose="02020603050405020304" pitchFamily="18" charset="0"/>
                <a:cs typeface="Times New Roman" panose="02020603050405020304" pitchFamily="18" charset="0"/>
              </a:rPr>
              <a:t>Web-based information</a:t>
            </a:r>
          </a:p>
          <a:p>
            <a:pPr>
              <a:lnSpc>
                <a:spcPct val="100000"/>
              </a:lnSpc>
              <a:spcBef>
                <a:spcPts val="0"/>
              </a:spcBef>
            </a:pPr>
            <a:r>
              <a:rPr lang="en-US" sz="3200" dirty="0">
                <a:latin typeface="Times New Roman" panose="02020603050405020304" pitchFamily="18" charset="0"/>
                <a:cs typeface="Times New Roman" panose="02020603050405020304" pitchFamily="18" charset="0"/>
              </a:rPr>
              <a:t>Business ICT environment </a:t>
            </a:r>
          </a:p>
          <a:p>
            <a:pPr>
              <a:lnSpc>
                <a:spcPct val="100000"/>
              </a:lnSpc>
              <a:spcBef>
                <a:spcPts val="0"/>
              </a:spcBef>
            </a:pPr>
            <a:r>
              <a:rPr lang="en-US" sz="3200" dirty="0">
                <a:latin typeface="Times New Roman" panose="02020603050405020304" pitchFamily="18" charset="0"/>
                <a:cs typeface="Times New Roman" panose="02020603050405020304" pitchFamily="18" charset="0"/>
              </a:rPr>
              <a:t>Talking to non-accountant</a:t>
            </a:r>
          </a:p>
          <a:p>
            <a:pPr>
              <a:lnSpc>
                <a:spcPct val="100000"/>
              </a:lnSpc>
              <a:spcBef>
                <a:spcPts val="0"/>
              </a:spcBef>
            </a:pPr>
            <a:r>
              <a:rPr lang="en-US" sz="3200" dirty="0">
                <a:latin typeface="Times New Roman" panose="02020603050405020304" pitchFamily="18" charset="0"/>
                <a:cs typeface="Times New Roman" panose="02020603050405020304" pitchFamily="18" charset="0"/>
              </a:rPr>
              <a:t>Knowledge sharing</a:t>
            </a:r>
          </a:p>
          <a:p>
            <a:pPr>
              <a:lnSpc>
                <a:spcPct val="100000"/>
              </a:lnSpc>
              <a:spcBef>
                <a:spcPts val="0"/>
              </a:spcBef>
            </a:pPr>
            <a:r>
              <a:rPr lang="en-US" sz="3200" dirty="0">
                <a:latin typeface="Times New Roman" panose="02020603050405020304" pitchFamily="18" charset="0"/>
                <a:cs typeface="Times New Roman" panose="02020603050405020304" pitchFamily="18" charset="0"/>
              </a:rPr>
              <a:t>Teleworking</a:t>
            </a:r>
          </a:p>
          <a:p>
            <a:pPr marL="0" indent="0">
              <a:lnSpc>
                <a:spcPct val="100000"/>
              </a:lnSpc>
              <a:spcBef>
                <a:spcPts val="0"/>
              </a:spcBef>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983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5829"/>
          </a:xfrm>
        </p:spPr>
        <p:txBody>
          <a:bodyPr>
            <a:noAutofit/>
          </a:bodyPr>
          <a:lstStyle/>
          <a:p>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Social business</a:t>
            </a:r>
            <a:br>
              <a:rPr lang="en-US" sz="3200" b="1"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9262" y="1055077"/>
            <a:ext cx="10814538" cy="5591908"/>
          </a:xfrm>
        </p:spPr>
        <p:txBody>
          <a:bodyPr>
            <a:noAutofit/>
          </a:bodyPr>
          <a:lstStyle/>
          <a:p>
            <a:pPr>
              <a:lnSpc>
                <a:spcPct val="100000"/>
              </a:lnSpc>
              <a:spcBef>
                <a:spcPts val="0"/>
              </a:spcBef>
            </a:pPr>
            <a:endParaRPr lang="en-US" dirty="0">
              <a:latin typeface="Times New Roman" panose="02020603050405020304" pitchFamily="18" charset="0"/>
              <a:cs typeface="Times New Roman" panose="02020603050405020304" pitchFamily="18" charset="0"/>
            </a:endParaRPr>
          </a:p>
          <a:p>
            <a:pPr>
              <a:lnSpc>
                <a:spcPct val="100000"/>
              </a:lnSpc>
              <a:spcBef>
                <a:spcPts val="0"/>
              </a:spcBef>
            </a:pPr>
            <a:r>
              <a:rPr lang="en-US" dirty="0">
                <a:latin typeface="Times New Roman" panose="02020603050405020304" pitchFamily="18" charset="0"/>
                <a:cs typeface="Times New Roman" panose="02020603050405020304" pitchFamily="18" charset="0"/>
              </a:rPr>
              <a:t>A social business is a company created for social benefit rather than private profit. It is known as “</a:t>
            </a:r>
            <a:r>
              <a:rPr lang="en-US" dirty="0" err="1">
                <a:latin typeface="Times New Roman" panose="02020603050405020304" pitchFamily="18" charset="0"/>
                <a:cs typeface="Times New Roman" panose="02020603050405020304" pitchFamily="18" charset="0"/>
              </a:rPr>
              <a:t>Yunus</a:t>
            </a:r>
            <a:r>
              <a:rPr lang="en-US" dirty="0">
                <a:latin typeface="Times New Roman" panose="02020603050405020304" pitchFamily="18" charset="0"/>
                <a:cs typeface="Times New Roman" panose="02020603050405020304" pitchFamily="18" charset="0"/>
              </a:rPr>
              <a:t> Social business (YSB)”. </a:t>
            </a:r>
          </a:p>
        </p:txBody>
      </p:sp>
    </p:spTree>
    <p:extLst>
      <p:ext uri="{BB962C8B-B14F-4D97-AF65-F5344CB8AC3E}">
        <p14:creationId xmlns:p14="http://schemas.microsoft.com/office/powerpoint/2010/main" val="3047528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5829"/>
          </a:xfrm>
        </p:spPr>
        <p:txBody>
          <a:bodyPr>
            <a:noAutofit/>
          </a:bodyPr>
          <a:lstStyle/>
          <a:p>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Social business</a:t>
            </a:r>
            <a:br>
              <a:rPr lang="en-US" sz="3200" b="1"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9262" y="1055076"/>
            <a:ext cx="10814538" cy="5802923"/>
          </a:xfrm>
        </p:spPr>
        <p:txBody>
          <a:bodyPr>
            <a:noAutofit/>
          </a:bodyPr>
          <a:lstStyle/>
          <a:p>
            <a:pPr marL="0" indent="0">
              <a:lnSpc>
                <a:spcPct val="100000"/>
              </a:lnSpc>
              <a:spcBef>
                <a:spcPts val="0"/>
              </a:spcBef>
              <a:buNone/>
            </a:pPr>
            <a:r>
              <a:rPr lang="en-US" sz="3200" b="1" dirty="0">
                <a:latin typeface="Times New Roman" panose="02020603050405020304" pitchFamily="18" charset="0"/>
                <a:cs typeface="Times New Roman" panose="02020603050405020304" pitchFamily="18" charset="0"/>
              </a:rPr>
              <a:t>Seven principles of social business</a:t>
            </a:r>
          </a:p>
          <a:p>
            <a:pPr marL="0" indent="0">
              <a:lnSpc>
                <a:spcPct val="100000"/>
              </a:lnSpc>
              <a:spcBef>
                <a:spcPts val="0"/>
              </a:spcBef>
              <a:buNone/>
            </a:pPr>
            <a:endParaRPr lang="en-US" sz="3200" b="1" dirty="0">
              <a:latin typeface="Times New Roman" panose="02020603050405020304" pitchFamily="18" charset="0"/>
              <a:cs typeface="Times New Roman" panose="02020603050405020304" pitchFamily="18" charset="0"/>
            </a:endParaRPr>
          </a:p>
          <a:p>
            <a:pPr>
              <a:lnSpc>
                <a:spcPct val="100000"/>
              </a:lnSpc>
              <a:spcBef>
                <a:spcPts val="0"/>
              </a:spcBef>
            </a:pPr>
            <a:r>
              <a:rPr lang="en-US" dirty="0">
                <a:latin typeface="Times New Roman" panose="02020603050405020304" pitchFamily="18" charset="0"/>
                <a:cs typeface="Times New Roman" panose="02020603050405020304" pitchFamily="18" charset="0"/>
              </a:rPr>
              <a:t>Business objective will be to overcome poverty or one or more problems (such as education, health, technology access, and environment) which threaten people and society; not profit maximization</a:t>
            </a:r>
          </a:p>
          <a:p>
            <a:pPr>
              <a:lnSpc>
                <a:spcPct val="100000"/>
              </a:lnSpc>
              <a:spcBef>
                <a:spcPts val="0"/>
              </a:spcBef>
            </a:pPr>
            <a:r>
              <a:rPr lang="en-US" dirty="0">
                <a:latin typeface="Times New Roman" panose="02020603050405020304" pitchFamily="18" charset="0"/>
                <a:cs typeface="Times New Roman" panose="02020603050405020304" pitchFamily="18" charset="0"/>
              </a:rPr>
              <a:t>Financial and economic sustainability</a:t>
            </a:r>
          </a:p>
          <a:p>
            <a:pPr>
              <a:lnSpc>
                <a:spcPct val="100000"/>
              </a:lnSpc>
              <a:spcBef>
                <a:spcPts val="0"/>
              </a:spcBef>
            </a:pPr>
            <a:r>
              <a:rPr lang="en-US" dirty="0">
                <a:latin typeface="Times New Roman" panose="02020603050405020304" pitchFamily="18" charset="0"/>
                <a:cs typeface="Times New Roman" panose="02020603050405020304" pitchFamily="18" charset="0"/>
              </a:rPr>
              <a:t>Investors get back their invested amount only; no dividend is given beyond investment money</a:t>
            </a:r>
          </a:p>
          <a:p>
            <a:pPr>
              <a:lnSpc>
                <a:spcPct val="100000"/>
              </a:lnSpc>
              <a:spcBef>
                <a:spcPts val="0"/>
              </a:spcBef>
            </a:pPr>
            <a:r>
              <a:rPr lang="en-US" dirty="0">
                <a:latin typeface="Times New Roman" panose="02020603050405020304" pitchFamily="18" charset="0"/>
                <a:cs typeface="Times New Roman" panose="02020603050405020304" pitchFamily="18" charset="0"/>
              </a:rPr>
              <a:t>When investment amount is paid back, company profit stays the company for expansion and improvement</a:t>
            </a:r>
          </a:p>
          <a:p>
            <a:pPr>
              <a:lnSpc>
                <a:spcPct val="100000"/>
              </a:lnSpc>
              <a:spcBef>
                <a:spcPts val="0"/>
              </a:spcBef>
            </a:pPr>
            <a:r>
              <a:rPr lang="en-US" dirty="0">
                <a:latin typeface="Times New Roman" panose="02020603050405020304" pitchFamily="18" charset="0"/>
                <a:cs typeface="Times New Roman" panose="02020603050405020304" pitchFamily="18" charset="0"/>
              </a:rPr>
              <a:t>Environmentally conscious</a:t>
            </a:r>
          </a:p>
          <a:p>
            <a:pPr>
              <a:lnSpc>
                <a:spcPct val="100000"/>
              </a:lnSpc>
              <a:spcBef>
                <a:spcPts val="0"/>
              </a:spcBef>
            </a:pPr>
            <a:r>
              <a:rPr lang="en-US" dirty="0">
                <a:latin typeface="Times New Roman" panose="02020603050405020304" pitchFamily="18" charset="0"/>
                <a:cs typeface="Times New Roman" panose="02020603050405020304" pitchFamily="18" charset="0"/>
              </a:rPr>
              <a:t>Workforce gets market wage with better working condition</a:t>
            </a:r>
          </a:p>
          <a:p>
            <a:pPr>
              <a:lnSpc>
                <a:spcPct val="100000"/>
              </a:lnSpc>
              <a:spcBef>
                <a:spcPts val="0"/>
              </a:spcBef>
            </a:pPr>
            <a:r>
              <a:rPr lang="en-US" dirty="0">
                <a:latin typeface="Times New Roman" panose="02020603050405020304" pitchFamily="18" charset="0"/>
                <a:cs typeface="Times New Roman" panose="02020603050405020304" pitchFamily="18" charset="0"/>
              </a:rPr>
              <a:t>Do it with joy. </a:t>
            </a:r>
          </a:p>
        </p:txBody>
      </p:sp>
    </p:spTree>
    <p:extLst>
      <p:ext uri="{BB962C8B-B14F-4D97-AF65-F5344CB8AC3E}">
        <p14:creationId xmlns:p14="http://schemas.microsoft.com/office/powerpoint/2010/main" val="1528809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49526"/>
          </a:xfrm>
        </p:spPr>
        <p:txBody>
          <a:bodyPr>
            <a:normAutofit/>
          </a:bodyPr>
          <a:lstStyle/>
          <a:p>
            <a:r>
              <a:rPr lang="en-US" sz="3600" b="1" dirty="0">
                <a:latin typeface="Times New Roman" panose="02020603050405020304" pitchFamily="18" charset="0"/>
                <a:cs typeface="Times New Roman" panose="02020603050405020304" pitchFamily="18" charset="0"/>
              </a:rPr>
              <a:t>Green or sustainable business</a:t>
            </a:r>
          </a:p>
        </p:txBody>
      </p:sp>
      <p:sp>
        <p:nvSpPr>
          <p:cNvPr id="3" name="Content Placeholder 2"/>
          <p:cNvSpPr>
            <a:spLocks noGrp="1"/>
          </p:cNvSpPr>
          <p:nvPr>
            <p:ph idx="1"/>
          </p:nvPr>
        </p:nvSpPr>
        <p:spPr>
          <a:xfrm>
            <a:off x="838200" y="1337480"/>
            <a:ext cx="10515600" cy="5049671"/>
          </a:xfrm>
        </p:spPr>
        <p:txBody>
          <a:bodyPr>
            <a:normAutofit/>
          </a:bodyPr>
          <a:lstStyle/>
          <a:p>
            <a:r>
              <a:rPr lang="en-US" dirty="0">
                <a:latin typeface="Times New Roman" panose="02020603050405020304" pitchFamily="18" charset="0"/>
                <a:cs typeface="Times New Roman" panose="02020603050405020304" pitchFamily="18" charset="0"/>
              </a:rPr>
              <a:t>Sustainable business or green business is an enterprise to be that has minimal negative impact on the global or local environment , community, society or economy. Four criteria for green business: </a:t>
            </a:r>
          </a:p>
          <a:p>
            <a:pPr marL="514350" indent="-514350">
              <a:buAutoNum type="alphaLcPeriod"/>
            </a:pPr>
            <a:r>
              <a:rPr lang="en-US" dirty="0">
                <a:latin typeface="Times New Roman" panose="02020603050405020304" pitchFamily="18" charset="0"/>
                <a:cs typeface="Times New Roman" panose="02020603050405020304" pitchFamily="18" charset="0"/>
              </a:rPr>
              <a:t>It incorporates principles of sustainability into each of its business decisions. </a:t>
            </a:r>
          </a:p>
          <a:p>
            <a:pPr marL="514350" indent="-514350">
              <a:buAutoNum type="alphaLcPeriod"/>
            </a:pPr>
            <a:r>
              <a:rPr lang="en-US" dirty="0">
                <a:latin typeface="Times New Roman" panose="02020603050405020304" pitchFamily="18" charset="0"/>
                <a:cs typeface="Times New Roman" panose="02020603050405020304" pitchFamily="18" charset="0"/>
              </a:rPr>
              <a:t>It supplies environmentally friendly products or services that replace demand for no green products and/or services</a:t>
            </a:r>
          </a:p>
          <a:p>
            <a:pPr marL="514350" indent="-514350">
              <a:buAutoNum type="alphaLcPeriod"/>
            </a:pPr>
            <a:r>
              <a:rPr lang="en-US" dirty="0">
                <a:latin typeface="Times New Roman" panose="02020603050405020304" pitchFamily="18" charset="0"/>
                <a:cs typeface="Times New Roman" panose="02020603050405020304" pitchFamily="18" charset="0"/>
              </a:rPr>
              <a:t>It is greener than traditional competition</a:t>
            </a:r>
          </a:p>
          <a:p>
            <a:pPr marL="514350" indent="-514350">
              <a:buAutoNum type="alphaLcPeriod"/>
            </a:pPr>
            <a:r>
              <a:rPr lang="en-US" dirty="0">
                <a:latin typeface="Times New Roman" panose="02020603050405020304" pitchFamily="18" charset="0"/>
                <a:cs typeface="Times New Roman" panose="02020603050405020304" pitchFamily="18" charset="0"/>
              </a:rPr>
              <a:t>It has made an enduring commitment to environmental principles in its business operations. </a:t>
            </a:r>
          </a:p>
        </p:txBody>
      </p:sp>
    </p:spTree>
    <p:extLst>
      <p:ext uri="{BB962C8B-B14F-4D97-AF65-F5344CB8AC3E}">
        <p14:creationId xmlns:p14="http://schemas.microsoft.com/office/powerpoint/2010/main" val="4889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Corporate sustainability strategies </a:t>
            </a:r>
          </a:p>
        </p:txBody>
      </p:sp>
      <p:sp>
        <p:nvSpPr>
          <p:cNvPr id="3" name="Content Placeholder 2"/>
          <p:cNvSpPr>
            <a:spLocks noGrp="1"/>
          </p:cNvSpPr>
          <p:nvPr>
            <p:ph idx="1"/>
          </p:nvPr>
        </p:nvSpPr>
        <p:spPr/>
        <p:txBody>
          <a:bodyPr>
            <a:normAutofit/>
          </a:bodyPr>
          <a:lstStyle/>
          <a:p>
            <a:pPr marL="514350" indent="-514350">
              <a:buAutoNum type="alphaLcPeriod"/>
            </a:pPr>
            <a:r>
              <a:rPr lang="en-US" sz="3200" dirty="0">
                <a:latin typeface="Times New Roman" panose="02020603050405020304" pitchFamily="18" charset="0"/>
                <a:cs typeface="Times New Roman" panose="02020603050405020304" pitchFamily="18" charset="0"/>
              </a:rPr>
              <a:t>Innovation and technology</a:t>
            </a:r>
          </a:p>
          <a:p>
            <a:pPr marL="514350" indent="-514350">
              <a:buAutoNum type="alphaLcPeriod"/>
            </a:pPr>
            <a:r>
              <a:rPr lang="en-US" sz="3200" dirty="0">
                <a:latin typeface="Times New Roman" panose="02020603050405020304" pitchFamily="18" charset="0"/>
                <a:cs typeface="Times New Roman" panose="02020603050405020304" pitchFamily="18" charset="0"/>
              </a:rPr>
              <a:t>Collaboration</a:t>
            </a:r>
          </a:p>
          <a:p>
            <a:pPr marL="514350" indent="-514350">
              <a:buAutoNum type="alphaLcPeriod"/>
            </a:pPr>
            <a:r>
              <a:rPr lang="en-US" sz="3200" dirty="0">
                <a:latin typeface="Times New Roman" panose="02020603050405020304" pitchFamily="18" charset="0"/>
                <a:cs typeface="Times New Roman" panose="02020603050405020304" pitchFamily="18" charset="0"/>
              </a:rPr>
              <a:t>Process improvement</a:t>
            </a:r>
          </a:p>
          <a:p>
            <a:pPr marL="514350" indent="-514350">
              <a:buAutoNum type="alphaLcPeriod"/>
            </a:pPr>
            <a:r>
              <a:rPr lang="en-US" sz="3200" dirty="0">
                <a:latin typeface="Times New Roman" panose="02020603050405020304" pitchFamily="18" charset="0"/>
                <a:cs typeface="Times New Roman" panose="02020603050405020304" pitchFamily="18" charset="0"/>
              </a:rPr>
              <a:t>Sustainability reporting</a:t>
            </a:r>
          </a:p>
        </p:txBody>
      </p:sp>
    </p:spTree>
    <p:extLst>
      <p:ext uri="{BB962C8B-B14F-4D97-AF65-F5344CB8AC3E}">
        <p14:creationId xmlns:p14="http://schemas.microsoft.com/office/powerpoint/2010/main" val="1380458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5753"/>
          </a:xfrm>
        </p:spPr>
        <p:txBody>
          <a:bodyPr>
            <a:normAutofit/>
          </a:bodyPr>
          <a:lstStyle/>
          <a:p>
            <a:r>
              <a:rPr lang="en-US" sz="3600" b="1" dirty="0">
                <a:latin typeface="Times New Roman" panose="02020603050405020304" pitchFamily="18" charset="0"/>
                <a:cs typeface="Times New Roman" panose="02020603050405020304" pitchFamily="18" charset="0"/>
              </a:rPr>
              <a:t>Green business in Bangladesh</a:t>
            </a:r>
          </a:p>
        </p:txBody>
      </p:sp>
      <p:sp>
        <p:nvSpPr>
          <p:cNvPr id="3" name="Content Placeholder 2"/>
          <p:cNvSpPr>
            <a:spLocks noGrp="1"/>
          </p:cNvSpPr>
          <p:nvPr>
            <p:ph idx="1"/>
          </p:nvPr>
        </p:nvSpPr>
        <p:spPr>
          <a:xfrm>
            <a:off x="838200" y="1337481"/>
            <a:ext cx="10515600" cy="4839482"/>
          </a:xfrm>
        </p:spPr>
        <p:txBody>
          <a:bodyPr>
            <a:normAutofit lnSpcReduction="10000"/>
          </a:bodyPr>
          <a:lstStyle/>
          <a:p>
            <a:r>
              <a:rPr lang="en-US" dirty="0" err="1">
                <a:latin typeface="Times New Roman" panose="02020603050405020304" pitchFamily="18" charset="0"/>
                <a:cs typeface="Times New Roman" panose="02020603050405020304" pitchFamily="18" charset="0"/>
              </a:rPr>
              <a:t>Grameen</a:t>
            </a:r>
            <a:r>
              <a:rPr lang="en-US" dirty="0">
                <a:latin typeface="Times New Roman" panose="02020603050405020304" pitchFamily="18" charset="0"/>
                <a:cs typeface="Times New Roman" panose="02020603050405020304" pitchFamily="18" charset="0"/>
              </a:rPr>
              <a:t> Shakti (GS) – is the market leader in installing solar based technologies for various uses. </a:t>
            </a:r>
          </a:p>
          <a:p>
            <a:r>
              <a:rPr lang="en-US" dirty="0">
                <a:latin typeface="Times New Roman" panose="02020603050405020304" pitchFamily="18" charset="0"/>
                <a:cs typeface="Times New Roman" panose="02020603050405020304" pitchFamily="18" charset="0"/>
              </a:rPr>
              <a:t>Green Technology </a:t>
            </a:r>
            <a:r>
              <a:rPr lang="en-US" dirty="0" err="1">
                <a:latin typeface="Times New Roman" panose="02020603050405020304" pitchFamily="18" charset="0"/>
                <a:cs typeface="Times New Roman" panose="02020603050405020304" pitchFamily="18" charset="0"/>
              </a:rPr>
              <a:t>centre</a:t>
            </a:r>
            <a:r>
              <a:rPr lang="en-US" dirty="0">
                <a:latin typeface="Times New Roman" panose="02020603050405020304" pitchFamily="18" charset="0"/>
                <a:cs typeface="Times New Roman" panose="02020603050405020304" pitchFamily="18" charset="0"/>
              </a:rPr>
              <a:t> (GTC) – It trains daily hundreds of women about the use of green technology and production of  organic food. . </a:t>
            </a:r>
          </a:p>
          <a:p>
            <a:r>
              <a:rPr lang="en-US" dirty="0">
                <a:latin typeface="Times New Roman" panose="02020603050405020304" pitchFamily="18" charset="0"/>
                <a:cs typeface="Times New Roman" panose="02020603050405020304" pitchFamily="18" charset="0"/>
              </a:rPr>
              <a:t>Fertilizer: A small scale biogas plant based on cow dung can produce more than 8000 kilograms of slurry which is important source of fertilizer. </a:t>
            </a:r>
          </a:p>
          <a:p>
            <a:r>
              <a:rPr lang="en-US" dirty="0">
                <a:latin typeface="Times New Roman" panose="02020603050405020304" pitchFamily="18" charset="0"/>
                <a:cs typeface="Times New Roman" panose="02020603050405020304" pitchFamily="18" charset="0"/>
              </a:rPr>
              <a:t>Brick field: Under the project of united nations development program (UNDP), the brick filed in </a:t>
            </a:r>
            <a:r>
              <a:rPr lang="en-US" dirty="0" err="1">
                <a:latin typeface="Times New Roman" panose="02020603050405020304" pitchFamily="18" charset="0"/>
                <a:cs typeface="Times New Roman" panose="02020603050405020304" pitchFamily="18" charset="0"/>
              </a:rPr>
              <a:t>Dhamri</a:t>
            </a:r>
            <a:r>
              <a:rPr lang="en-US" dirty="0">
                <a:latin typeface="Times New Roman" panose="02020603050405020304" pitchFamily="18" charset="0"/>
                <a:cs typeface="Times New Roman" panose="02020603050405020304" pitchFamily="18" charset="0"/>
              </a:rPr>
              <a:t> use the environment friendly Hybrid Hoffman Kiln (HHK) technology to avoid green house has emissions. </a:t>
            </a:r>
          </a:p>
          <a:p>
            <a:r>
              <a:rPr lang="en-US" dirty="0">
                <a:latin typeface="Times New Roman" panose="02020603050405020304" pitchFamily="18" charset="0"/>
                <a:cs typeface="Times New Roman" panose="02020603050405020304" pitchFamily="18" charset="0"/>
              </a:rPr>
              <a:t>Bangladesh renewable energy society: </a:t>
            </a:r>
          </a:p>
        </p:txBody>
      </p:sp>
    </p:spTree>
    <p:extLst>
      <p:ext uri="{BB962C8B-B14F-4D97-AF65-F5344CB8AC3E}">
        <p14:creationId xmlns:p14="http://schemas.microsoft.com/office/powerpoint/2010/main" val="760820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5753"/>
          </a:xfrm>
        </p:spPr>
        <p:txBody>
          <a:bodyPr>
            <a:normAutofit/>
          </a:bodyPr>
          <a:lstStyle/>
          <a:p>
            <a:r>
              <a:rPr lang="en-US" sz="3600" b="1" dirty="0">
                <a:latin typeface="Times New Roman" panose="02020603050405020304" pitchFamily="18" charset="0"/>
                <a:cs typeface="Times New Roman" panose="02020603050405020304" pitchFamily="18" charset="0"/>
              </a:rPr>
              <a:t>Standards of green business</a:t>
            </a:r>
          </a:p>
        </p:txBody>
      </p:sp>
      <p:sp>
        <p:nvSpPr>
          <p:cNvPr id="3" name="Content Placeholder 2"/>
          <p:cNvSpPr>
            <a:spLocks noGrp="1"/>
          </p:cNvSpPr>
          <p:nvPr>
            <p:ph idx="1"/>
          </p:nvPr>
        </p:nvSpPr>
        <p:spPr>
          <a:xfrm>
            <a:off x="838200" y="1651379"/>
            <a:ext cx="10515600" cy="4981433"/>
          </a:xfrm>
        </p:spPr>
        <p:txBody>
          <a:bodyPr/>
          <a:lstStyle/>
          <a:p>
            <a:r>
              <a:rPr lang="en-US" dirty="0">
                <a:latin typeface="Times New Roman" panose="02020603050405020304" pitchFamily="18" charset="0"/>
                <a:cs typeface="Times New Roman" panose="02020603050405020304" pitchFamily="18" charset="0"/>
              </a:rPr>
              <a:t>ISO 14001 is the cornerstone standard of the ISO 14000 series. It specifies a framework  of control for an environmental management system. Other ISO 14000 series standards are actually guidelines. </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ISO 14004 provides guidance on the development and implementation of environment management system</a:t>
            </a:r>
          </a:p>
          <a:p>
            <a:r>
              <a:rPr lang="en-US" dirty="0">
                <a:latin typeface="Times New Roman" panose="02020603050405020304" pitchFamily="18" charset="0"/>
                <a:cs typeface="Times New Roman" panose="02020603050405020304" pitchFamily="18" charset="0"/>
              </a:rPr>
              <a:t>ISO 14010 provides general principles of environmental auditing </a:t>
            </a:r>
          </a:p>
          <a:p>
            <a:r>
              <a:rPr lang="en-US" dirty="0">
                <a:latin typeface="Times New Roman" panose="02020603050405020304" pitchFamily="18" charset="0"/>
                <a:cs typeface="Times New Roman" panose="02020603050405020304" pitchFamily="18" charset="0"/>
              </a:rPr>
              <a:t>ISO 14011 provides specific guidance on audit an environment management system</a:t>
            </a:r>
          </a:p>
        </p:txBody>
      </p:sp>
    </p:spTree>
    <p:extLst>
      <p:ext uri="{BB962C8B-B14F-4D97-AF65-F5344CB8AC3E}">
        <p14:creationId xmlns:p14="http://schemas.microsoft.com/office/powerpoint/2010/main" val="2022797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639"/>
          </a:xfrm>
        </p:spPr>
        <p:txBody>
          <a:bodyPr>
            <a:normAutofit/>
          </a:bodyPr>
          <a:lstStyle/>
          <a:p>
            <a:r>
              <a:rPr lang="en-US" sz="3600" b="1" dirty="0">
                <a:latin typeface="Times New Roman" panose="02020603050405020304" pitchFamily="18" charset="0"/>
                <a:cs typeface="Times New Roman" panose="02020603050405020304" pitchFamily="18" charset="0"/>
              </a:rPr>
              <a:t>Six essential characteristics of green business</a:t>
            </a:r>
          </a:p>
        </p:txBody>
      </p:sp>
      <p:sp>
        <p:nvSpPr>
          <p:cNvPr id="3" name="Content Placeholder 2"/>
          <p:cNvSpPr>
            <a:spLocks noGrp="1"/>
          </p:cNvSpPr>
          <p:nvPr>
            <p:ph idx="1"/>
          </p:nvPr>
        </p:nvSpPr>
        <p:spPr>
          <a:xfrm>
            <a:off x="838200" y="1282890"/>
            <a:ext cx="10515600" cy="5145206"/>
          </a:xfrm>
        </p:spPr>
        <p:txBody>
          <a:bodyPr/>
          <a:lstStyle/>
          <a:p>
            <a:r>
              <a:rPr lang="en-US" dirty="0">
                <a:latin typeface="Times New Roman" panose="02020603050405020304" pitchFamily="18" charset="0"/>
                <a:cs typeface="Times New Roman" panose="02020603050405020304" pitchFamily="18" charset="0"/>
              </a:rPr>
              <a:t>Triple top line value production: Financial benefits for the company, natural world betterment, and social advantages for employees and members for the local community. </a:t>
            </a:r>
          </a:p>
          <a:p>
            <a:r>
              <a:rPr lang="en-US" dirty="0">
                <a:latin typeface="Times New Roman" panose="02020603050405020304" pitchFamily="18" charset="0"/>
                <a:cs typeface="Times New Roman" panose="02020603050405020304" pitchFamily="18" charset="0"/>
              </a:rPr>
              <a:t>Nature based knowledge and technology</a:t>
            </a:r>
          </a:p>
          <a:p>
            <a:r>
              <a:rPr lang="en-US" dirty="0">
                <a:latin typeface="Times New Roman" panose="02020603050405020304" pitchFamily="18" charset="0"/>
                <a:cs typeface="Times New Roman" panose="02020603050405020304" pitchFamily="18" charset="0"/>
              </a:rPr>
              <a:t>Product of service to product of consumption</a:t>
            </a:r>
          </a:p>
          <a:p>
            <a:r>
              <a:rPr lang="en-US" dirty="0">
                <a:latin typeface="Times New Roman" panose="02020603050405020304" pitchFamily="18" charset="0"/>
                <a:cs typeface="Times New Roman" panose="02020603050405020304" pitchFamily="18" charset="0"/>
              </a:rPr>
              <a:t>Solar, wind, geothermal and ocean energy</a:t>
            </a:r>
          </a:p>
          <a:p>
            <a:r>
              <a:rPr lang="en-US" dirty="0">
                <a:latin typeface="Times New Roman" panose="02020603050405020304" pitchFamily="18" charset="0"/>
                <a:cs typeface="Times New Roman" panose="02020603050405020304" pitchFamily="18" charset="0"/>
              </a:rPr>
              <a:t>Local based organizations and economies</a:t>
            </a:r>
          </a:p>
          <a:p>
            <a:r>
              <a:rPr lang="en-US" dirty="0">
                <a:latin typeface="Times New Roman" panose="02020603050405020304" pitchFamily="18" charset="0"/>
                <a:cs typeface="Times New Roman" panose="02020603050405020304" pitchFamily="18" charset="0"/>
              </a:rPr>
              <a:t>Continuous improvement process.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514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1287"/>
          </a:xfrm>
        </p:spPr>
        <p:txBody>
          <a:bodyPr>
            <a:normAutofit/>
          </a:bodyPr>
          <a:lstStyle/>
          <a:p>
            <a:r>
              <a:rPr lang="en-US" sz="3600" b="1" dirty="0">
                <a:latin typeface="Times New Roman" panose="02020603050405020304" pitchFamily="18" charset="0"/>
                <a:cs typeface="Times New Roman" panose="02020603050405020304" pitchFamily="18" charset="0"/>
              </a:rPr>
              <a:t>E-business</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Electronic business or e-business can be defined as the application of information and communication technologies is support of all the activities of business. </a:t>
            </a:r>
          </a:p>
        </p:txBody>
      </p:sp>
    </p:spTree>
    <p:extLst>
      <p:ext uri="{BB962C8B-B14F-4D97-AF65-F5344CB8AC3E}">
        <p14:creationId xmlns:p14="http://schemas.microsoft.com/office/powerpoint/2010/main" val="2843935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E-business and e-commerce</a:t>
            </a:r>
          </a:p>
        </p:txBody>
      </p:sp>
      <p:sp>
        <p:nvSpPr>
          <p:cNvPr id="3" name="Content Placeholder 2"/>
          <p:cNvSpPr>
            <a:spLocks noGrp="1"/>
          </p:cNvSpPr>
          <p:nvPr>
            <p:ph idx="1"/>
          </p:nvPr>
        </p:nvSpPr>
        <p:spPr/>
        <p:txBody>
          <a:bodyPr>
            <a:normAutofit/>
          </a:bodyPr>
          <a:lstStyle/>
          <a:p>
            <a:r>
              <a:rPr lang="en-US" sz="3200" dirty="0">
                <a:latin typeface="Times New Roman" panose="02020603050405020304" pitchFamily="18" charset="0"/>
                <a:cs typeface="Times New Roman" panose="02020603050405020304" pitchFamily="18" charset="0"/>
              </a:rPr>
              <a:t>E- business refers to more strategic focus with an emphasis on the functions that occur using electronic capabilities. </a:t>
            </a:r>
          </a:p>
          <a:p>
            <a:r>
              <a:rPr lang="en-US" sz="3200" dirty="0">
                <a:latin typeface="Times New Roman" panose="02020603050405020304" pitchFamily="18" charset="0"/>
                <a:cs typeface="Times New Roman" panose="02020603050405020304" pitchFamily="18" charset="0"/>
              </a:rPr>
              <a:t>E – commerce is a subset of an overall e-business strategy. </a:t>
            </a:r>
          </a:p>
        </p:txBody>
      </p:sp>
    </p:spTree>
    <p:extLst>
      <p:ext uri="{BB962C8B-B14F-4D97-AF65-F5344CB8AC3E}">
        <p14:creationId xmlns:p14="http://schemas.microsoft.com/office/powerpoint/2010/main" val="3049671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3991"/>
          </a:xfrm>
        </p:spPr>
        <p:txBody>
          <a:bodyPr>
            <a:normAutofit/>
          </a:bodyPr>
          <a:lstStyle/>
          <a:p>
            <a:r>
              <a:rPr lang="en-US" sz="3600" b="1" dirty="0">
                <a:latin typeface="Times New Roman" panose="02020603050405020304" pitchFamily="18" charset="0"/>
                <a:cs typeface="Times New Roman" panose="02020603050405020304" pitchFamily="18" charset="0"/>
              </a:rPr>
              <a:t>E – business model</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57334491"/>
              </p:ext>
            </p:extLst>
          </p:nvPr>
        </p:nvGraphicFramePr>
        <p:xfrm>
          <a:off x="1255594" y="1228295"/>
          <a:ext cx="9430602" cy="5502780"/>
        </p:xfrm>
        <a:graphic>
          <a:graphicData uri="http://schemas.openxmlformats.org/drawingml/2006/table">
            <a:tbl>
              <a:tblPr firstRow="1" bandRow="1">
                <a:tableStyleId>{5C22544A-7EE6-4342-B048-85BDC9FD1C3A}</a:tableStyleId>
              </a:tblPr>
              <a:tblGrid>
                <a:gridCol w="4715301">
                  <a:extLst>
                    <a:ext uri="{9D8B030D-6E8A-4147-A177-3AD203B41FA5}">
                      <a16:colId xmlns:a16="http://schemas.microsoft.com/office/drawing/2014/main" val="20000"/>
                    </a:ext>
                  </a:extLst>
                </a:gridCol>
                <a:gridCol w="4715301">
                  <a:extLst>
                    <a:ext uri="{9D8B030D-6E8A-4147-A177-3AD203B41FA5}">
                      <a16:colId xmlns:a16="http://schemas.microsoft.com/office/drawing/2014/main" val="20001"/>
                    </a:ext>
                  </a:extLst>
                </a:gridCol>
              </a:tblGrid>
              <a:tr h="519980">
                <a:tc>
                  <a:txBody>
                    <a:bodyPr/>
                    <a:lstStyle/>
                    <a:p>
                      <a:r>
                        <a:rPr lang="en-US" sz="2400" dirty="0">
                          <a:latin typeface="Times New Roman" panose="02020603050405020304" pitchFamily="18" charset="0"/>
                          <a:cs typeface="Times New Roman" panose="02020603050405020304" pitchFamily="18" charset="0"/>
                        </a:rPr>
                        <a:t>E – business model</a:t>
                      </a:r>
                    </a:p>
                  </a:txBody>
                  <a:tcPr/>
                </a:tc>
                <a:tc>
                  <a:txBody>
                    <a:bodyPr/>
                    <a:lstStyle/>
                    <a:p>
                      <a:r>
                        <a:rPr lang="en-US" sz="2400" dirty="0">
                          <a:latin typeface="Times New Roman" panose="02020603050405020304" pitchFamily="18" charset="0"/>
                          <a:cs typeface="Times New Roman" panose="02020603050405020304" pitchFamily="18" charset="0"/>
                        </a:rPr>
                        <a:t>Classification</a:t>
                      </a:r>
                      <a:r>
                        <a:rPr lang="en-US" sz="2400" baseline="0" dirty="0">
                          <a:latin typeface="Times New Roman" panose="02020603050405020304" pitchFamily="18" charset="0"/>
                          <a:cs typeface="Times New Roman" panose="02020603050405020304" pitchFamily="18" charset="0"/>
                        </a:rPr>
                        <a:t> by provider and consumer</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519980">
                <a:tc>
                  <a:txBody>
                    <a:bodyPr/>
                    <a:lstStyle/>
                    <a:p>
                      <a:r>
                        <a:rPr lang="en-US" sz="2400" dirty="0">
                          <a:latin typeface="Times New Roman" panose="02020603050405020304" pitchFamily="18" charset="0"/>
                          <a:cs typeface="Times New Roman" panose="02020603050405020304" pitchFamily="18" charset="0"/>
                        </a:rPr>
                        <a:t>E – shop</a:t>
                      </a:r>
                    </a:p>
                  </a:txBody>
                  <a:tcPr/>
                </a:tc>
                <a:tc>
                  <a:txBody>
                    <a:bodyPr/>
                    <a:lstStyle/>
                    <a:p>
                      <a:r>
                        <a:rPr lang="en-US" sz="2400" dirty="0">
                          <a:latin typeface="Times New Roman" panose="02020603050405020304" pitchFamily="18" charset="0"/>
                          <a:cs typeface="Times New Roman" panose="02020603050405020304" pitchFamily="18" charset="0"/>
                        </a:rPr>
                        <a:t>Business to business (B2B)</a:t>
                      </a:r>
                    </a:p>
                  </a:txBody>
                  <a:tcPr/>
                </a:tc>
                <a:extLst>
                  <a:ext uri="{0D108BD9-81ED-4DB2-BD59-A6C34878D82A}">
                    <a16:rowId xmlns:a16="http://schemas.microsoft.com/office/drawing/2014/main" val="10001"/>
                  </a:ext>
                </a:extLst>
              </a:tr>
              <a:tr h="519980">
                <a:tc>
                  <a:txBody>
                    <a:bodyPr/>
                    <a:lstStyle/>
                    <a:p>
                      <a:r>
                        <a:rPr lang="en-US" sz="2400" dirty="0">
                          <a:latin typeface="Times New Roman" panose="02020603050405020304" pitchFamily="18" charset="0"/>
                          <a:cs typeface="Times New Roman" panose="02020603050405020304" pitchFamily="18" charset="0"/>
                        </a:rPr>
                        <a:t>E – commerce</a:t>
                      </a:r>
                    </a:p>
                  </a:txBody>
                  <a:tcPr/>
                </a:tc>
                <a:tc>
                  <a:txBody>
                    <a:bodyPr/>
                    <a:lstStyle/>
                    <a:p>
                      <a:r>
                        <a:rPr lang="en-US" sz="2400" dirty="0">
                          <a:latin typeface="Times New Roman" panose="02020603050405020304" pitchFamily="18" charset="0"/>
                          <a:cs typeface="Times New Roman" panose="02020603050405020304" pitchFamily="18" charset="0"/>
                        </a:rPr>
                        <a:t>Business to Consumer</a:t>
                      </a:r>
                      <a:r>
                        <a:rPr lang="en-US" sz="2400" baseline="0" dirty="0">
                          <a:latin typeface="Times New Roman" panose="02020603050405020304" pitchFamily="18" charset="0"/>
                          <a:cs typeface="Times New Roman" panose="02020603050405020304" pitchFamily="18" charset="0"/>
                        </a:rPr>
                        <a:t> (B2C)</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519980">
                <a:tc>
                  <a:txBody>
                    <a:bodyPr/>
                    <a:lstStyle/>
                    <a:p>
                      <a:r>
                        <a:rPr lang="en-US" sz="2400" dirty="0">
                          <a:latin typeface="Times New Roman" panose="02020603050405020304" pitchFamily="18" charset="0"/>
                          <a:cs typeface="Times New Roman" panose="02020603050405020304" pitchFamily="18" charset="0"/>
                        </a:rPr>
                        <a:t>E-procurement</a:t>
                      </a:r>
                    </a:p>
                  </a:txBody>
                  <a:tcPr/>
                </a:tc>
                <a:tc>
                  <a:txBody>
                    <a:bodyPr/>
                    <a:lstStyle/>
                    <a:p>
                      <a:r>
                        <a:rPr lang="en-US" sz="2400" dirty="0">
                          <a:latin typeface="Times New Roman" panose="02020603050405020304" pitchFamily="18" charset="0"/>
                          <a:cs typeface="Times New Roman" panose="02020603050405020304" pitchFamily="18" charset="0"/>
                        </a:rPr>
                        <a:t>Business to employee (B2E)</a:t>
                      </a:r>
                    </a:p>
                  </a:txBody>
                  <a:tcPr/>
                </a:tc>
                <a:extLst>
                  <a:ext uri="{0D108BD9-81ED-4DB2-BD59-A6C34878D82A}">
                    <a16:rowId xmlns:a16="http://schemas.microsoft.com/office/drawing/2014/main" val="10003"/>
                  </a:ext>
                </a:extLst>
              </a:tr>
              <a:tr h="519980">
                <a:tc>
                  <a:txBody>
                    <a:bodyPr/>
                    <a:lstStyle/>
                    <a:p>
                      <a:r>
                        <a:rPr lang="en-US" sz="2400" dirty="0">
                          <a:latin typeface="Times New Roman" panose="02020603050405020304" pitchFamily="18" charset="0"/>
                          <a:cs typeface="Times New Roman" panose="02020603050405020304" pitchFamily="18" charset="0"/>
                        </a:rPr>
                        <a:t>E- mails</a:t>
                      </a:r>
                    </a:p>
                  </a:txBody>
                  <a:tcPr/>
                </a:tc>
                <a:tc>
                  <a:txBody>
                    <a:bodyPr/>
                    <a:lstStyle/>
                    <a:p>
                      <a:r>
                        <a:rPr lang="en-US" sz="2400" dirty="0">
                          <a:latin typeface="Times New Roman" panose="02020603050405020304" pitchFamily="18" charset="0"/>
                          <a:cs typeface="Times New Roman" panose="02020603050405020304" pitchFamily="18" charset="0"/>
                        </a:rPr>
                        <a:t>Business to Government</a:t>
                      </a:r>
                      <a:r>
                        <a:rPr lang="en-US" sz="2400" baseline="0" dirty="0">
                          <a:latin typeface="Times New Roman" panose="02020603050405020304" pitchFamily="18" charset="0"/>
                          <a:cs typeface="Times New Roman" panose="02020603050405020304" pitchFamily="18" charset="0"/>
                        </a:rPr>
                        <a:t> (B2G)</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519980">
                <a:tc>
                  <a:txBody>
                    <a:bodyPr/>
                    <a:lstStyle/>
                    <a:p>
                      <a:r>
                        <a:rPr lang="en-US" sz="2400" dirty="0">
                          <a:latin typeface="Times New Roman" panose="02020603050405020304" pitchFamily="18" charset="0"/>
                          <a:cs typeface="Times New Roman" panose="02020603050405020304" pitchFamily="18" charset="0"/>
                        </a:rPr>
                        <a:t>E- auctions</a:t>
                      </a:r>
                    </a:p>
                  </a:txBody>
                  <a:tcPr/>
                </a:tc>
                <a:tc>
                  <a:txBody>
                    <a:bodyPr/>
                    <a:lstStyle/>
                    <a:p>
                      <a:r>
                        <a:rPr lang="en-US" sz="2400" dirty="0">
                          <a:latin typeface="Times New Roman" panose="02020603050405020304" pitchFamily="18" charset="0"/>
                          <a:cs typeface="Times New Roman" panose="02020603050405020304" pitchFamily="18" charset="0"/>
                        </a:rPr>
                        <a:t>Government</a:t>
                      </a:r>
                      <a:r>
                        <a:rPr lang="en-US" sz="2400" baseline="0" dirty="0">
                          <a:latin typeface="Times New Roman" panose="02020603050405020304" pitchFamily="18" charset="0"/>
                          <a:cs typeface="Times New Roman" panose="02020603050405020304" pitchFamily="18" charset="0"/>
                        </a:rPr>
                        <a:t> to Business (G2B)</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519980">
                <a:tc>
                  <a:txBody>
                    <a:bodyPr/>
                    <a:lstStyle/>
                    <a:p>
                      <a:r>
                        <a:rPr lang="en-US" sz="2400" dirty="0">
                          <a:latin typeface="Times New Roman" panose="02020603050405020304" pitchFamily="18" charset="0"/>
                          <a:cs typeface="Times New Roman" panose="02020603050405020304" pitchFamily="18" charset="0"/>
                        </a:rPr>
                        <a:t>Virtual</a:t>
                      </a:r>
                      <a:r>
                        <a:rPr lang="en-US" sz="2400" baseline="0" dirty="0">
                          <a:latin typeface="Times New Roman" panose="02020603050405020304" pitchFamily="18" charset="0"/>
                          <a:cs typeface="Times New Roman" panose="02020603050405020304" pitchFamily="18" charset="0"/>
                        </a:rPr>
                        <a:t> communities</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Government to government (G2G)</a:t>
                      </a:r>
                    </a:p>
                  </a:txBody>
                  <a:tcPr/>
                </a:tc>
                <a:extLst>
                  <a:ext uri="{0D108BD9-81ED-4DB2-BD59-A6C34878D82A}">
                    <a16:rowId xmlns:a16="http://schemas.microsoft.com/office/drawing/2014/main" val="10006"/>
                  </a:ext>
                </a:extLst>
              </a:tr>
              <a:tr h="519980">
                <a:tc>
                  <a:txBody>
                    <a:bodyPr/>
                    <a:lstStyle/>
                    <a:p>
                      <a:endParaRPr lang="en-US" sz="240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Government to citizen (G2C)</a:t>
                      </a:r>
                    </a:p>
                  </a:txBody>
                  <a:tcPr/>
                </a:tc>
                <a:extLst>
                  <a:ext uri="{0D108BD9-81ED-4DB2-BD59-A6C34878D82A}">
                    <a16:rowId xmlns:a16="http://schemas.microsoft.com/office/drawing/2014/main" val="10007"/>
                  </a:ext>
                </a:extLst>
              </a:tr>
              <a:tr h="519980">
                <a:tc>
                  <a:txBody>
                    <a:bodyPr/>
                    <a:lstStyle/>
                    <a:p>
                      <a:endParaRPr lang="en-US" sz="240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Consumer</a:t>
                      </a:r>
                      <a:r>
                        <a:rPr lang="en-US" sz="2400" baseline="0" dirty="0">
                          <a:latin typeface="Times New Roman" panose="02020603050405020304" pitchFamily="18" charset="0"/>
                          <a:cs typeface="Times New Roman" panose="02020603050405020304" pitchFamily="18" charset="0"/>
                        </a:rPr>
                        <a:t> to consumer (C2C)</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8"/>
                  </a:ext>
                </a:extLst>
              </a:tr>
              <a:tr h="519980">
                <a:tc>
                  <a:txBody>
                    <a:bodyPr/>
                    <a:lstStyle/>
                    <a:p>
                      <a:endParaRPr lang="en-US" sz="240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Consumer</a:t>
                      </a:r>
                      <a:r>
                        <a:rPr lang="en-US" sz="2400" baseline="0" dirty="0">
                          <a:latin typeface="Times New Roman" panose="02020603050405020304" pitchFamily="18" charset="0"/>
                          <a:cs typeface="Times New Roman" panose="02020603050405020304" pitchFamily="18" charset="0"/>
                        </a:rPr>
                        <a:t> to business (C2B)</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142515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08582"/>
          </a:xfrm>
        </p:spPr>
        <p:txBody>
          <a:bodyPr>
            <a:normAutofit/>
          </a:bodyPr>
          <a:lstStyle/>
          <a:p>
            <a:r>
              <a:rPr lang="en-US" sz="3600" dirty="0">
                <a:latin typeface="Times New Roman" panose="02020603050405020304" pitchFamily="18" charset="0"/>
                <a:cs typeface="Times New Roman" panose="02020603050405020304" pitchFamily="18" charset="0"/>
              </a:rPr>
              <a:t>Virtual business</a:t>
            </a:r>
          </a:p>
        </p:txBody>
      </p:sp>
      <p:sp>
        <p:nvSpPr>
          <p:cNvPr id="3" name="Content Placeholder 2"/>
          <p:cNvSpPr>
            <a:spLocks noGrp="1"/>
          </p:cNvSpPr>
          <p:nvPr>
            <p:ph idx="1"/>
          </p:nvPr>
        </p:nvSpPr>
        <p:spPr>
          <a:xfrm>
            <a:off x="423081" y="1337480"/>
            <a:ext cx="11341289" cy="5199797"/>
          </a:xfrm>
        </p:spPr>
        <p:txBody>
          <a:bodyPr>
            <a:noAutofit/>
          </a:bodyPr>
          <a:lstStyle/>
          <a:p>
            <a:r>
              <a:rPr lang="en-US" sz="3200" dirty="0">
                <a:latin typeface="Times New Roman" panose="02020603050405020304" pitchFamily="18" charset="0"/>
                <a:cs typeface="Times New Roman" panose="02020603050405020304" pitchFamily="18" charset="0"/>
              </a:rPr>
              <a:t>Virtual Business: A virtual business employs electronic means to transact business. </a:t>
            </a:r>
          </a:p>
          <a:p>
            <a:r>
              <a:rPr lang="en-US" sz="3200" dirty="0">
                <a:latin typeface="Times New Roman" panose="02020603050405020304" pitchFamily="18" charset="0"/>
                <a:cs typeface="Times New Roman" panose="02020603050405020304" pitchFamily="18" charset="0"/>
              </a:rPr>
              <a:t>Virtual corporations: Groups of people can assemble online and enter into an agreement to work together toward a for profit goal, with or without having to formally incorporate or form a traditional company. </a:t>
            </a:r>
          </a:p>
          <a:p>
            <a:r>
              <a:rPr lang="en-US" sz="3200" dirty="0">
                <a:latin typeface="Times New Roman" panose="02020603050405020304" pitchFamily="18" charset="0"/>
                <a:cs typeface="Times New Roman" panose="02020603050405020304" pitchFamily="18" charset="0"/>
              </a:rPr>
              <a:t>Virtual enterprise: A virtual enterprise is a network of independent companies suppliers, customers, competitors, linked by information technology to share skills, costs, and access to one another’s markets. </a:t>
            </a:r>
          </a:p>
        </p:txBody>
      </p:sp>
    </p:spTree>
    <p:extLst>
      <p:ext uri="{BB962C8B-B14F-4D97-AF65-F5344CB8AC3E}">
        <p14:creationId xmlns:p14="http://schemas.microsoft.com/office/powerpoint/2010/main" val="4191850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9788" y="423081"/>
            <a:ext cx="3932237" cy="614149"/>
          </a:xfrm>
        </p:spPr>
        <p:txBody>
          <a:bodyPr/>
          <a:lstStyle/>
          <a:p>
            <a:r>
              <a:rPr lang="en-US" dirty="0">
                <a:latin typeface="Times New Roman" panose="02020603050405020304" pitchFamily="18" charset="0"/>
                <a:cs typeface="Times New Roman" panose="02020603050405020304" pitchFamily="18" charset="0"/>
              </a:rPr>
              <a:t>A virtual organization </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64322" y="1037230"/>
            <a:ext cx="4339988" cy="4640239"/>
          </a:xfrm>
        </p:spPr>
      </p:pic>
      <p:sp>
        <p:nvSpPr>
          <p:cNvPr id="5" name="Text Placeholder 4"/>
          <p:cNvSpPr>
            <a:spLocks noGrp="1"/>
          </p:cNvSpPr>
          <p:nvPr>
            <p:ph type="body" sz="half" idx="2"/>
          </p:nvPr>
        </p:nvSpPr>
        <p:spPr>
          <a:xfrm>
            <a:off x="839788" y="1269243"/>
            <a:ext cx="5315352" cy="5049670"/>
          </a:xfrm>
        </p:spPr>
        <p:txBody>
          <a:bodyPr>
            <a:normAutofit/>
          </a:bodyPr>
          <a:lstStyle/>
          <a:p>
            <a:r>
              <a:rPr lang="en-US" sz="2800" dirty="0"/>
              <a:t>A virtual organization is a temporary or permanent collection of geographically dispersed individuals, groups, organizational units, or entire organizations that depend on electronic linking in order to complete the production process (working definition).</a:t>
            </a:r>
          </a:p>
          <a:p>
            <a:endParaRPr lang="en-US" sz="2800" dirty="0"/>
          </a:p>
        </p:txBody>
      </p:sp>
    </p:spTree>
    <p:extLst>
      <p:ext uri="{BB962C8B-B14F-4D97-AF65-F5344CB8AC3E}">
        <p14:creationId xmlns:p14="http://schemas.microsoft.com/office/powerpoint/2010/main" val="752243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1162"/>
          </a:xfrm>
        </p:spPr>
        <p:txBody>
          <a:bodyPr>
            <a:normAutofit/>
          </a:bodyPr>
          <a:lstStyle/>
          <a:p>
            <a:r>
              <a:rPr lang="en-US" sz="3600" b="1" dirty="0">
                <a:latin typeface="Times New Roman" panose="02020603050405020304" pitchFamily="18" charset="0"/>
                <a:cs typeface="Times New Roman" panose="02020603050405020304" pitchFamily="18" charset="0"/>
              </a:rPr>
              <a:t>Boundary less organization</a:t>
            </a:r>
          </a:p>
        </p:txBody>
      </p:sp>
      <p:sp>
        <p:nvSpPr>
          <p:cNvPr id="3" name="Content Placeholder 2"/>
          <p:cNvSpPr>
            <a:spLocks noGrp="1"/>
          </p:cNvSpPr>
          <p:nvPr>
            <p:ph idx="1"/>
          </p:nvPr>
        </p:nvSpPr>
        <p:spPr>
          <a:xfrm>
            <a:off x="838200" y="1296536"/>
            <a:ext cx="10515600" cy="5117911"/>
          </a:xfrm>
        </p:spPr>
        <p:txBody>
          <a:bodyPr>
            <a:noAutofit/>
          </a:bodyPr>
          <a:lstStyle/>
          <a:p>
            <a:r>
              <a:rPr lang="en-US" sz="3200" dirty="0">
                <a:latin typeface="Times New Roman" panose="02020603050405020304" pitchFamily="18" charset="0"/>
                <a:cs typeface="Times New Roman" panose="02020603050405020304" pitchFamily="18" charset="0"/>
              </a:rPr>
              <a:t>An association where management has largely succeeded in breaking down barriers between internal levels, job functions and departments, as well as reducing external barriers between the association and those with whom it does business. </a:t>
            </a:r>
          </a:p>
          <a:p>
            <a:r>
              <a:rPr lang="en-US" sz="3200" dirty="0">
                <a:latin typeface="Times New Roman" panose="02020603050405020304" pitchFamily="18" charset="0"/>
                <a:cs typeface="Times New Roman" panose="02020603050405020304" pitchFamily="18" charset="0"/>
              </a:rPr>
              <a:t>Modular business</a:t>
            </a:r>
          </a:p>
          <a:p>
            <a:r>
              <a:rPr lang="en-US" sz="3200" dirty="0">
                <a:latin typeface="Times New Roman" panose="02020603050405020304" pitchFamily="18" charset="0"/>
                <a:cs typeface="Times New Roman" panose="02020603050405020304" pitchFamily="18" charset="0"/>
              </a:rPr>
              <a:t>Virtual business</a:t>
            </a:r>
          </a:p>
          <a:p>
            <a:r>
              <a:rPr lang="en-US" sz="3200" dirty="0">
                <a:latin typeface="Times New Roman" panose="02020603050405020304" pitchFamily="18" charset="0"/>
                <a:cs typeface="Times New Roman" panose="02020603050405020304" pitchFamily="18" charset="0"/>
              </a:rPr>
              <a:t>Strategic alliance</a:t>
            </a:r>
          </a:p>
          <a:p>
            <a:r>
              <a:rPr lang="en-US" sz="3200" dirty="0">
                <a:latin typeface="Times New Roman" panose="02020603050405020304" pitchFamily="18" charset="0"/>
                <a:cs typeface="Times New Roman" panose="02020603050405020304" pitchFamily="18" charset="0"/>
              </a:rPr>
              <a:t>Network organization. </a:t>
            </a:r>
          </a:p>
        </p:txBody>
      </p:sp>
    </p:spTree>
    <p:extLst>
      <p:ext uri="{BB962C8B-B14F-4D97-AF65-F5344CB8AC3E}">
        <p14:creationId xmlns:p14="http://schemas.microsoft.com/office/powerpoint/2010/main" val="1223706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Modular Business</a:t>
            </a:r>
          </a:p>
        </p:txBody>
      </p:sp>
      <p:sp>
        <p:nvSpPr>
          <p:cNvPr id="3" name="Content Placeholder 2"/>
          <p:cNvSpPr>
            <a:spLocks noGrp="1"/>
          </p:cNvSpPr>
          <p:nvPr>
            <p:ph idx="1"/>
          </p:nvPr>
        </p:nvSpPr>
        <p:spPr/>
        <p:txBody>
          <a:bodyPr>
            <a:normAutofit/>
          </a:bodyPr>
          <a:lstStyle/>
          <a:p>
            <a:r>
              <a:rPr lang="en-US" sz="3200" dirty="0">
                <a:latin typeface="Times New Roman" panose="02020603050405020304" pitchFamily="18" charset="0"/>
                <a:cs typeface="Times New Roman" panose="02020603050405020304" pitchFamily="18" charset="0"/>
              </a:rPr>
              <a:t>The concept behind Modular Business is that each business is unique, but all businesses share some basic processes and functions. Those functions can be considered Business Modules that fit together to build a complete, profitable business. </a:t>
            </a:r>
          </a:p>
          <a:p>
            <a:r>
              <a:rPr lang="en-US" sz="3200" dirty="0">
                <a:latin typeface="Times New Roman" panose="02020603050405020304" pitchFamily="18" charset="0"/>
                <a:cs typeface="Times New Roman" panose="02020603050405020304" pitchFamily="18" charset="0"/>
              </a:rPr>
              <a:t>Google, Amazon, 3M. </a:t>
            </a:r>
          </a:p>
        </p:txBody>
      </p:sp>
    </p:spTree>
    <p:extLst>
      <p:ext uri="{BB962C8B-B14F-4D97-AF65-F5344CB8AC3E}">
        <p14:creationId xmlns:p14="http://schemas.microsoft.com/office/powerpoint/2010/main" val="3848872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048"/>
          </a:xfrm>
        </p:spPr>
        <p:txBody>
          <a:bodyPr>
            <a:normAutofit/>
          </a:bodyPr>
          <a:lstStyle/>
          <a:p>
            <a:r>
              <a:rPr lang="en-US" sz="3600" b="1" dirty="0">
                <a:latin typeface="Times New Roman" panose="02020603050405020304" pitchFamily="18" charset="0"/>
                <a:cs typeface="Times New Roman" panose="02020603050405020304" pitchFamily="18" charset="0"/>
              </a:rPr>
              <a:t>Strategic alliance </a:t>
            </a:r>
          </a:p>
        </p:txBody>
      </p:sp>
      <p:sp>
        <p:nvSpPr>
          <p:cNvPr id="3" name="Content Placeholder 2"/>
          <p:cNvSpPr>
            <a:spLocks noGrp="1"/>
          </p:cNvSpPr>
          <p:nvPr>
            <p:ph idx="1"/>
          </p:nvPr>
        </p:nvSpPr>
        <p:spPr>
          <a:xfrm>
            <a:off x="838200" y="1473958"/>
            <a:ext cx="10515600" cy="4703005"/>
          </a:xfrm>
        </p:spPr>
        <p:txBody>
          <a:bodyPr>
            <a:normAutofit lnSpcReduction="10000"/>
          </a:bodyPr>
          <a:lstStyle/>
          <a:p>
            <a:r>
              <a:rPr lang="en-US" sz="3200" dirty="0">
                <a:latin typeface="Times New Roman" panose="02020603050405020304" pitchFamily="18" charset="0"/>
                <a:cs typeface="Times New Roman" panose="02020603050405020304" pitchFamily="18" charset="0"/>
              </a:rPr>
              <a:t>A </a:t>
            </a:r>
            <a:r>
              <a:rPr lang="en-US" sz="3200" b="1" dirty="0">
                <a:latin typeface="Times New Roman" panose="02020603050405020304" pitchFamily="18" charset="0"/>
                <a:cs typeface="Times New Roman" panose="02020603050405020304" pitchFamily="18" charset="0"/>
              </a:rPr>
              <a:t>strategic alliance</a:t>
            </a:r>
            <a:r>
              <a:rPr lang="en-US" sz="3200" dirty="0">
                <a:latin typeface="Times New Roman" panose="02020603050405020304" pitchFamily="18" charset="0"/>
                <a:cs typeface="Times New Roman" panose="02020603050405020304" pitchFamily="18" charset="0"/>
              </a:rPr>
              <a:t> is an arrangement between two companies to undertake a mutually beneficial project while each retains its independence. The agreement is less complex and less binding than a joint venture, in which two businesses pool resources to create a separate business entity.</a:t>
            </a:r>
          </a:p>
          <a:p>
            <a:pPr marL="0" indent="0">
              <a:buNone/>
            </a:pP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RIMAS is pleased to announce a strategic alliance with GRAM. This is the start of a cooperation that must lead to a strong driving force and franchise formula for the production of solar panels in the Bangladesh region.</a:t>
            </a:r>
          </a:p>
        </p:txBody>
      </p:sp>
    </p:spTree>
    <p:extLst>
      <p:ext uri="{BB962C8B-B14F-4D97-AF65-F5344CB8AC3E}">
        <p14:creationId xmlns:p14="http://schemas.microsoft.com/office/powerpoint/2010/main" val="3801725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Network organization </a:t>
            </a:r>
          </a:p>
        </p:txBody>
      </p:sp>
      <p:sp>
        <p:nvSpPr>
          <p:cNvPr id="3" name="Content Placeholder 2"/>
          <p:cNvSpPr>
            <a:spLocks noGrp="1"/>
          </p:cNvSpPr>
          <p:nvPr>
            <p:ph idx="1"/>
          </p:nvPr>
        </p:nvSpPr>
        <p:spPr>
          <a:xfrm>
            <a:off x="838200" y="1825625"/>
            <a:ext cx="10515600" cy="4616118"/>
          </a:xfrm>
        </p:spPr>
        <p:txBody>
          <a:bodyPr>
            <a:normAutofit/>
          </a:bodyPr>
          <a:lstStyle/>
          <a:p>
            <a:r>
              <a:rPr lang="en-US" dirty="0">
                <a:latin typeface="Times New Roman" panose="02020603050405020304" pitchFamily="18" charset="0"/>
                <a:cs typeface="Times New Roman" panose="02020603050405020304" pitchFamily="18" charset="0"/>
              </a:rPr>
              <a:t>A network organization is a collection of autonomous firms or units that behave as a single larger entity, using social mechanisms for coordination and control. The entities that make up a network organization are usually legally independent entities (separate firms) but not always.</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 organization that has been using network structure is H&amp;M (</a:t>
            </a:r>
            <a:r>
              <a:rPr lang="en-US" dirty="0" err="1">
                <a:latin typeface="Times New Roman" panose="02020603050405020304" pitchFamily="18" charset="0"/>
                <a:cs typeface="Times New Roman" panose="02020603050405020304" pitchFamily="18" charset="0"/>
              </a:rPr>
              <a:t>Hennes</a:t>
            </a:r>
            <a:r>
              <a:rPr lang="en-US" dirty="0">
                <a:latin typeface="Times New Roman" panose="02020603050405020304" pitchFamily="18" charset="0"/>
                <a:cs typeface="Times New Roman" panose="02020603050405020304" pitchFamily="18" charset="0"/>
              </a:rPr>
              <a:t> &amp; </a:t>
            </a:r>
            <a:r>
              <a:rPr lang="en-US" dirty="0" err="1">
                <a:latin typeface="Times New Roman" panose="02020603050405020304" pitchFamily="18" charset="0"/>
                <a:cs typeface="Times New Roman" panose="02020603050405020304" pitchFamily="18" charset="0"/>
              </a:rPr>
              <a:t>Mauritz</a:t>
            </a:r>
            <a:r>
              <a:rPr lang="en-US" dirty="0">
                <a:latin typeface="Times New Roman" panose="02020603050405020304" pitchFamily="18" charset="0"/>
                <a:cs typeface="Times New Roman" panose="02020603050405020304" pitchFamily="18" charset="0"/>
              </a:rPr>
              <a:t>), a very popular brand that has followers world over.  H&amp;M has outsourced the production and processing of their goods to different countries majorly Asian and South East Asian countries.</a:t>
            </a:r>
          </a:p>
        </p:txBody>
      </p:sp>
    </p:spTree>
    <p:extLst>
      <p:ext uri="{BB962C8B-B14F-4D97-AF65-F5344CB8AC3E}">
        <p14:creationId xmlns:p14="http://schemas.microsoft.com/office/powerpoint/2010/main" val="3755209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1412"/>
          </a:xfrm>
        </p:spPr>
        <p:txBody>
          <a:bodyPr>
            <a:normAutofit/>
          </a:bodyPr>
          <a:lstStyle/>
          <a:p>
            <a:r>
              <a:rPr lang="en-US" sz="3600" b="1" dirty="0">
                <a:latin typeface="Times New Roman" panose="02020603050405020304" pitchFamily="18" charset="0"/>
                <a:cs typeface="Times New Roman" panose="02020603050405020304" pitchFamily="18" charset="0"/>
              </a:rPr>
              <a:t>Characteristics of boundary less organization</a:t>
            </a:r>
          </a:p>
        </p:txBody>
      </p:sp>
      <p:sp>
        <p:nvSpPr>
          <p:cNvPr id="3" name="Content Placeholder 2"/>
          <p:cNvSpPr>
            <a:spLocks noGrp="1"/>
          </p:cNvSpPr>
          <p:nvPr>
            <p:ph idx="1"/>
          </p:nvPr>
        </p:nvSpPr>
        <p:spPr>
          <a:xfrm>
            <a:off x="838200" y="1296538"/>
            <a:ext cx="10515600" cy="4880425"/>
          </a:xfrm>
        </p:spPr>
        <p:txBody>
          <a:bodyPr/>
          <a:lstStyle/>
          <a:p>
            <a:pPr marL="0" indent="0">
              <a:buNone/>
            </a:pPr>
            <a:r>
              <a:rPr lang="en-US" dirty="0">
                <a:latin typeface="Times New Roman" panose="02020603050405020304" pitchFamily="18" charset="0"/>
                <a:cs typeface="Times New Roman" panose="02020603050405020304" pitchFamily="18" charset="0"/>
              </a:rPr>
              <a:t>1. Eliminate the chain of command, have limited spans of control, and replace departments with empowered team</a:t>
            </a:r>
          </a:p>
          <a:p>
            <a:pPr marL="0" indent="0">
              <a:buNone/>
            </a:pPr>
            <a:r>
              <a:rPr lang="en-US" dirty="0">
                <a:latin typeface="Times New Roman" panose="02020603050405020304" pitchFamily="18" charset="0"/>
                <a:cs typeface="Times New Roman" panose="02020603050405020304" pitchFamily="18" charset="0"/>
              </a:rPr>
              <a:t>2. Technology based organization</a:t>
            </a:r>
          </a:p>
          <a:p>
            <a:pPr marL="0" indent="0">
              <a:buNone/>
            </a:pPr>
            <a:r>
              <a:rPr lang="en-US" dirty="0">
                <a:latin typeface="Times New Roman" panose="02020603050405020304" pitchFamily="18" charset="0"/>
                <a:cs typeface="Times New Roman" panose="02020603050405020304" pitchFamily="18" charset="0"/>
              </a:rPr>
              <a:t>3. By removing vertical boundaries , management flattens the hierarchy and </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Minimize status and rank</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Uses cross hierarchical teams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Uses participative decision making practices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Uses 360 degree performance appraisal</a:t>
            </a:r>
          </a:p>
        </p:txBody>
      </p:sp>
    </p:spTree>
    <p:extLst>
      <p:ext uri="{BB962C8B-B14F-4D97-AF65-F5344CB8AC3E}">
        <p14:creationId xmlns:p14="http://schemas.microsoft.com/office/powerpoint/2010/main" val="4194023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Characteristics of boundary less organization</a:t>
            </a:r>
          </a:p>
        </p:txBody>
      </p:sp>
      <p:sp>
        <p:nvSpPr>
          <p:cNvPr id="3" name="Content Placeholder 2"/>
          <p:cNvSpPr>
            <a:spLocks noGrp="1"/>
          </p:cNvSpPr>
          <p:nvPr>
            <p:ph idx="1"/>
          </p:nvPr>
        </p:nvSpPr>
        <p:spPr>
          <a:xfrm>
            <a:off x="838200" y="1690688"/>
            <a:ext cx="10515600" cy="4764703"/>
          </a:xfrm>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4. Reduce horizontal boundaries of functional department by </a:t>
            </a:r>
          </a:p>
          <a:p>
            <a:pPr>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Replace functional departments with cross functional teams</a:t>
            </a:r>
          </a:p>
          <a:p>
            <a:pPr>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Use lateral transfers and rotate people into and out of different functional areas. </a:t>
            </a:r>
          </a:p>
          <a:p>
            <a:pPr marL="0" indent="0">
              <a:buNone/>
            </a:pPr>
            <a:r>
              <a:rPr lang="en-US" sz="3200" dirty="0">
                <a:latin typeface="Times New Roman" panose="02020603050405020304" pitchFamily="18" charset="0"/>
                <a:cs typeface="Times New Roman" panose="02020603050405020304" pitchFamily="18" charset="0"/>
              </a:rPr>
              <a:t>5. Break down barriers to external constituencies ( suppliers, customers, regulators, etc.) and barriers created by geography. </a:t>
            </a:r>
          </a:p>
          <a:p>
            <a:pPr marL="0" indent="0">
              <a:buNone/>
            </a:pPr>
            <a:r>
              <a:rPr lang="en-US" sz="3200" dirty="0">
                <a:latin typeface="Times New Roman" panose="02020603050405020304" pitchFamily="18" charset="0"/>
                <a:cs typeface="Times New Roman" panose="02020603050405020304" pitchFamily="18" charset="0"/>
              </a:rPr>
              <a:t>6. Common tread of boundary less organization in networked computers. </a:t>
            </a:r>
          </a:p>
        </p:txBody>
      </p:sp>
    </p:spTree>
    <p:extLst>
      <p:ext uri="{BB962C8B-B14F-4D97-AF65-F5344CB8AC3E}">
        <p14:creationId xmlns:p14="http://schemas.microsoft.com/office/powerpoint/2010/main" val="642982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Corporate governance</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Corporate governance is the system of rules, regulations, practices, and processes, by which a company is directed, operated, monitored, controlled and reviewed with the lens of welfare being of stakeholders.</a:t>
            </a:r>
          </a:p>
          <a:p>
            <a:pPr marL="0" indent="0">
              <a:buNone/>
            </a:pP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Corporate governance essentially involves balancing the interests of a company's many stakeholders such as financiers, shareholders, debenture holders, sponsors, management, suppliers, consumers, lender, borrowers, creditors, debtor's, political activists, pressure groups, free rider, CSR, government and the local community. </a:t>
            </a:r>
          </a:p>
        </p:txBody>
      </p:sp>
    </p:spTree>
    <p:extLst>
      <p:ext uri="{BB962C8B-B14F-4D97-AF65-F5344CB8AC3E}">
        <p14:creationId xmlns:p14="http://schemas.microsoft.com/office/powerpoint/2010/main" val="106963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Corporate governance</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Deregulation, disintegration, and institutionalization are the main feature of corporate governance of Bangladesh. But due to the non-constitution of different committees, rapidly changes in different laws and actions.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Unethical pressure from the majority of shareholders while decision making, lack of political will and commitment to ensure sound corporate governance. Moreover, the corporate structure is dominated by family members over the board which practice hinders the level of fairness. accountability, and transparency.</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5474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Public private partnership</a:t>
            </a:r>
          </a:p>
        </p:txBody>
      </p:sp>
      <p:sp>
        <p:nvSpPr>
          <p:cNvPr id="3" name="Content Placeholder 2"/>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The concept of PPP though not relatively new but has not yet developed and defined straight forward (World Bank, 2007a). According to Asian Development Bank, PPP is a range of possible relationships among public and private entities in the context of infrastructure and other services that present a framework for engaging private sector and also structure the role for government in ensuring that social obligations are met (ADB, 2008).</a:t>
            </a:r>
          </a:p>
          <a:p>
            <a:r>
              <a:rPr lang="en-US" dirty="0">
                <a:latin typeface="Times New Roman" panose="02020603050405020304" pitchFamily="18" charset="0"/>
                <a:cs typeface="Times New Roman" panose="02020603050405020304" pitchFamily="18" charset="0"/>
              </a:rPr>
              <a:t>PPP have gained utmost attention from the public sector and donor groups particularly in terms of service quality, procurement efficiency, risk minimization and the ability to combine adequate managerial and technical capabilities. </a:t>
            </a:r>
          </a:p>
        </p:txBody>
      </p:sp>
    </p:spTree>
    <p:extLst>
      <p:ext uri="{BB962C8B-B14F-4D97-AF65-F5344CB8AC3E}">
        <p14:creationId xmlns:p14="http://schemas.microsoft.com/office/powerpoint/2010/main" val="595659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Ethics and CSR</a:t>
            </a:r>
          </a:p>
        </p:txBody>
      </p:sp>
      <p:sp>
        <p:nvSpPr>
          <p:cNvPr id="3" name="Content Placeholder 2"/>
          <p:cNvSpPr>
            <a:spLocks noGrp="1"/>
          </p:cNvSpPr>
          <p:nvPr>
            <p:ph idx="1"/>
          </p:nvPr>
        </p:nvSpPr>
        <p:spPr/>
        <p:txBody>
          <a:bodyPr>
            <a:normAutofit/>
          </a:bodyPr>
          <a:lstStyle/>
          <a:p>
            <a:pPr marL="0" indent="0">
              <a:buNone/>
            </a:pPr>
            <a:r>
              <a:rPr lang="en-US" sz="3200" b="1" dirty="0">
                <a:solidFill>
                  <a:srgbClr val="0000CC"/>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Ethics –</a:t>
            </a:r>
            <a:r>
              <a:rPr lang="en-US" sz="3200" dirty="0">
                <a:latin typeface="Times New Roman" panose="02020603050405020304" pitchFamily="18" charset="0"/>
                <a:cs typeface="Times New Roman" panose="02020603050405020304" pitchFamily="18" charset="0"/>
              </a:rPr>
              <a:t> A set of moral principles or values that governs the conduct of an individual or a group.</a:t>
            </a:r>
          </a:p>
          <a:p>
            <a:pPr marL="0" indent="0">
              <a:buNone/>
            </a:pPr>
            <a:r>
              <a:rPr lang="en-US" sz="3200" dirty="0">
                <a:latin typeface="Times New Roman" panose="02020603050405020304" pitchFamily="18" charset="0"/>
                <a:cs typeface="Times New Roman" panose="02020603050405020304" pitchFamily="18" charset="0"/>
              </a:rPr>
              <a:t>What is lawful conduct is not always ethical conduct. </a:t>
            </a:r>
          </a:p>
          <a:p>
            <a:pPr marL="0" indent="0">
              <a:buNone/>
            </a:pPr>
            <a:r>
              <a:rPr lang="en-US" sz="3200" dirty="0">
                <a:latin typeface="Times New Roman" panose="02020603050405020304" pitchFamily="18" charset="0"/>
                <a:cs typeface="Times New Roman" panose="02020603050405020304" pitchFamily="18" charset="0"/>
              </a:rPr>
              <a:t> The law may permit something that would be ethically wrong.</a:t>
            </a:r>
          </a:p>
          <a:p>
            <a:pPr marL="0" indent="0">
              <a:buNone/>
            </a:pPr>
            <a:endParaRPr lang="en-US" sz="3200" b="1" dirty="0">
              <a:latin typeface="Times New Roman" panose="02020603050405020304" pitchFamily="18" charset="0"/>
              <a:cs typeface="Times New Roman" panose="02020603050405020304" pitchFamily="18" charset="0"/>
            </a:endParaRPr>
          </a:p>
          <a:p>
            <a:pPr marL="0" indent="0">
              <a:buNone/>
            </a:pPr>
            <a:r>
              <a:rPr lang="en-US" sz="3200" b="1" dirty="0">
                <a:latin typeface="Times New Roman" panose="02020603050405020304" pitchFamily="18" charset="0"/>
                <a:cs typeface="Times New Roman" panose="02020603050405020304" pitchFamily="18" charset="0"/>
              </a:rPr>
              <a:t>Corporate social responsibility (CSR), </a:t>
            </a:r>
            <a:r>
              <a:rPr lang="en-US" sz="3200" dirty="0">
                <a:latin typeface="Times New Roman" panose="02020603050405020304" pitchFamily="18" charset="0"/>
                <a:cs typeface="Times New Roman" panose="02020603050405020304" pitchFamily="18" charset="0"/>
              </a:rPr>
              <a:t>is the idea that business has a duty to serve society in general as well as the financial interests of stockholders. </a:t>
            </a:r>
          </a:p>
          <a:p>
            <a:pPr lvl="1"/>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8164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639"/>
          </a:xfrm>
        </p:spPr>
        <p:txBody>
          <a:bodyPr>
            <a:normAutofit/>
          </a:bodyPr>
          <a:lstStyle/>
          <a:p>
            <a:r>
              <a:rPr lang="en-US" sz="3600" b="1" dirty="0">
                <a:latin typeface="Times New Roman" panose="02020603050405020304" pitchFamily="18" charset="0"/>
                <a:cs typeface="Times New Roman" panose="02020603050405020304" pitchFamily="18" charset="0"/>
              </a:rPr>
              <a:t>Ethical decision making</a:t>
            </a:r>
          </a:p>
        </p:txBody>
      </p:sp>
      <p:sp>
        <p:nvSpPr>
          <p:cNvPr id="3" name="Content Placeholder 2"/>
          <p:cNvSpPr>
            <a:spLocks noGrp="1"/>
          </p:cNvSpPr>
          <p:nvPr>
            <p:ph idx="1"/>
          </p:nvPr>
        </p:nvSpPr>
        <p:spPr/>
        <p:txBody>
          <a:bodyPr>
            <a:normAutofit/>
          </a:bodyPr>
          <a:lstStyle/>
          <a:p>
            <a:r>
              <a:rPr lang="en-US" sz="3200" dirty="0">
                <a:latin typeface="Times New Roman" panose="02020603050405020304" pitchFamily="18" charset="0"/>
                <a:cs typeface="Times New Roman" panose="02020603050405020304" pitchFamily="18" charset="0"/>
              </a:rPr>
              <a:t>Ethical decision making is a cognitive process that consider various ethical principles, rules and virtues and maintenance of relationships to guide or judge individual or group decisions or intended actions. </a:t>
            </a:r>
          </a:p>
        </p:txBody>
      </p:sp>
    </p:spTree>
    <p:extLst>
      <p:ext uri="{BB962C8B-B14F-4D97-AF65-F5344CB8AC3E}">
        <p14:creationId xmlns:p14="http://schemas.microsoft.com/office/powerpoint/2010/main" val="1297111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639"/>
          </a:xfrm>
        </p:spPr>
        <p:txBody>
          <a:bodyPr>
            <a:normAutofit/>
          </a:bodyPr>
          <a:lstStyle/>
          <a:p>
            <a:r>
              <a:rPr lang="en-US" sz="3600" b="1" dirty="0">
                <a:latin typeface="Times New Roman" panose="02020603050405020304" pitchFamily="18" charset="0"/>
                <a:cs typeface="Times New Roman" panose="02020603050405020304" pitchFamily="18" charset="0"/>
              </a:rPr>
              <a:t>Ethical decision making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37480"/>
            <a:ext cx="10515600" cy="5199797"/>
          </a:xfrm>
        </p:spPr>
      </p:pic>
    </p:spTree>
    <p:extLst>
      <p:ext uri="{BB962C8B-B14F-4D97-AF65-F5344CB8AC3E}">
        <p14:creationId xmlns:p14="http://schemas.microsoft.com/office/powerpoint/2010/main" val="2363615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639"/>
          </a:xfrm>
        </p:spPr>
        <p:txBody>
          <a:bodyPr>
            <a:normAutofit/>
          </a:bodyPr>
          <a:lstStyle/>
          <a:p>
            <a:r>
              <a:rPr lang="en-US" sz="3600" b="1" dirty="0">
                <a:latin typeface="Times New Roman" panose="02020603050405020304" pitchFamily="18" charset="0"/>
                <a:cs typeface="Times New Roman" panose="02020603050405020304" pitchFamily="18" charset="0"/>
              </a:rPr>
              <a:t>Ethical decision making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419366"/>
            <a:ext cx="10080009" cy="5438633"/>
          </a:xfrm>
        </p:spPr>
      </p:pic>
    </p:spTree>
    <p:extLst>
      <p:ext uri="{BB962C8B-B14F-4D97-AF65-F5344CB8AC3E}">
        <p14:creationId xmlns:p14="http://schemas.microsoft.com/office/powerpoint/2010/main" val="5108781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639"/>
          </a:xfrm>
        </p:spPr>
        <p:txBody>
          <a:bodyPr>
            <a:normAutofit/>
          </a:bodyPr>
          <a:lstStyle/>
          <a:p>
            <a:r>
              <a:rPr lang="en-US" sz="3600" b="1" dirty="0">
                <a:latin typeface="Times New Roman" panose="02020603050405020304" pitchFamily="18" charset="0"/>
                <a:cs typeface="Times New Roman" panose="02020603050405020304" pitchFamily="18" charset="0"/>
              </a:rPr>
              <a:t>Ethical decision making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473958"/>
            <a:ext cx="9943531" cy="5384042"/>
          </a:xfrm>
        </p:spPr>
      </p:pic>
    </p:spTree>
    <p:extLst>
      <p:ext uri="{BB962C8B-B14F-4D97-AF65-F5344CB8AC3E}">
        <p14:creationId xmlns:p14="http://schemas.microsoft.com/office/powerpoint/2010/main" val="37881291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639"/>
          </a:xfrm>
        </p:spPr>
        <p:txBody>
          <a:bodyPr>
            <a:normAutofit/>
          </a:bodyPr>
          <a:lstStyle/>
          <a:p>
            <a:r>
              <a:rPr lang="en-US" sz="3600" b="1" dirty="0">
                <a:latin typeface="Times New Roman" panose="02020603050405020304" pitchFamily="18" charset="0"/>
                <a:cs typeface="Times New Roman" panose="02020603050405020304" pitchFamily="18" charset="0"/>
              </a:rPr>
              <a:t>Ethical decision making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8075" y="1132764"/>
            <a:ext cx="9192904" cy="5520519"/>
          </a:xfrm>
        </p:spPr>
      </p:pic>
    </p:spTree>
    <p:extLst>
      <p:ext uri="{BB962C8B-B14F-4D97-AF65-F5344CB8AC3E}">
        <p14:creationId xmlns:p14="http://schemas.microsoft.com/office/powerpoint/2010/main" val="17300030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639"/>
          </a:xfrm>
        </p:spPr>
        <p:txBody>
          <a:bodyPr>
            <a:normAutofit/>
          </a:bodyPr>
          <a:lstStyle/>
          <a:p>
            <a:r>
              <a:rPr lang="en-US" sz="3600" b="1" dirty="0">
                <a:latin typeface="Times New Roman" panose="02020603050405020304" pitchFamily="18" charset="0"/>
                <a:cs typeface="Times New Roman" panose="02020603050405020304" pitchFamily="18" charset="0"/>
              </a:rPr>
              <a:t>Ethical decision making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9116" y="1364776"/>
            <a:ext cx="9143999" cy="5493224"/>
          </a:xfrm>
        </p:spPr>
      </p:pic>
    </p:spTree>
    <p:extLst>
      <p:ext uri="{BB962C8B-B14F-4D97-AF65-F5344CB8AC3E}">
        <p14:creationId xmlns:p14="http://schemas.microsoft.com/office/powerpoint/2010/main" val="38570262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639"/>
          </a:xfrm>
        </p:spPr>
        <p:txBody>
          <a:bodyPr>
            <a:normAutofit/>
          </a:bodyPr>
          <a:lstStyle/>
          <a:p>
            <a:r>
              <a:rPr lang="en-US" sz="3600" b="1" dirty="0">
                <a:latin typeface="Times New Roman" panose="02020603050405020304" pitchFamily="18" charset="0"/>
                <a:cs typeface="Times New Roman" panose="02020603050405020304" pitchFamily="18" charset="0"/>
              </a:rPr>
              <a:t>Ethical decision making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6287" y="1405718"/>
            <a:ext cx="8857397" cy="5452281"/>
          </a:xfrm>
        </p:spPr>
      </p:pic>
    </p:spTree>
    <p:extLst>
      <p:ext uri="{BB962C8B-B14F-4D97-AF65-F5344CB8AC3E}">
        <p14:creationId xmlns:p14="http://schemas.microsoft.com/office/powerpoint/2010/main" val="2450492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639"/>
          </a:xfrm>
        </p:spPr>
        <p:txBody>
          <a:bodyPr>
            <a:normAutofit/>
          </a:bodyPr>
          <a:lstStyle/>
          <a:p>
            <a:r>
              <a:rPr lang="en-US" sz="3600" b="1" dirty="0">
                <a:latin typeface="Times New Roman" panose="02020603050405020304" pitchFamily="18" charset="0"/>
                <a:cs typeface="Times New Roman" panose="02020603050405020304" pitchFamily="18" charset="0"/>
              </a:rPr>
              <a:t>Ethical decision making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1696" y="1542196"/>
            <a:ext cx="9239534" cy="5315803"/>
          </a:xfrm>
        </p:spPr>
      </p:pic>
    </p:spTree>
    <p:extLst>
      <p:ext uri="{BB962C8B-B14F-4D97-AF65-F5344CB8AC3E}">
        <p14:creationId xmlns:p14="http://schemas.microsoft.com/office/powerpoint/2010/main" val="31026241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Ethical decision making</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825624"/>
            <a:ext cx="9725167" cy="5032375"/>
          </a:xfrm>
        </p:spPr>
      </p:pic>
    </p:spTree>
    <p:extLst>
      <p:ext uri="{BB962C8B-B14F-4D97-AF65-F5344CB8AC3E}">
        <p14:creationId xmlns:p14="http://schemas.microsoft.com/office/powerpoint/2010/main" val="36752525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0344"/>
          </a:xfrm>
        </p:spPr>
        <p:txBody>
          <a:bodyPr>
            <a:normAutofit/>
          </a:bodyPr>
          <a:lstStyle/>
          <a:p>
            <a:r>
              <a:rPr lang="en-US" sz="3600" b="1" dirty="0">
                <a:latin typeface="Times New Roman" panose="02020603050405020304" pitchFamily="18" charset="0"/>
                <a:cs typeface="Times New Roman" panose="02020603050405020304" pitchFamily="18" charset="0"/>
              </a:rPr>
              <a:t>Labor issues in Bangladesh RMG sector</a:t>
            </a:r>
          </a:p>
        </p:txBody>
      </p:sp>
      <p:sp>
        <p:nvSpPr>
          <p:cNvPr id="3" name="Content Placeholder 2"/>
          <p:cNvSpPr>
            <a:spLocks noGrp="1"/>
          </p:cNvSpPr>
          <p:nvPr>
            <p:ph idx="1"/>
          </p:nvPr>
        </p:nvSpPr>
        <p:spPr>
          <a:xfrm>
            <a:off x="838200" y="1351128"/>
            <a:ext cx="10515600" cy="4825835"/>
          </a:xfrm>
        </p:spPr>
        <p:txBody>
          <a:bodyPr>
            <a:normAutofit/>
          </a:bodyPr>
          <a:lstStyle/>
          <a:p>
            <a:r>
              <a:rPr lang="en-US" sz="3200" dirty="0">
                <a:latin typeface="Times New Roman" panose="02020603050405020304" pitchFamily="18" charset="0"/>
                <a:cs typeface="Times New Roman" panose="02020603050405020304" pitchFamily="18" charset="0"/>
              </a:rPr>
              <a:t>Existence of poor compliance standards</a:t>
            </a:r>
          </a:p>
          <a:p>
            <a:r>
              <a:rPr lang="en-US" sz="3200" dirty="0">
                <a:latin typeface="Times New Roman" panose="02020603050405020304" pitchFamily="18" charset="0"/>
                <a:cs typeface="Times New Roman" panose="02020603050405020304" pitchFamily="18" charset="0"/>
              </a:rPr>
              <a:t>Lack of safety measures</a:t>
            </a:r>
          </a:p>
          <a:p>
            <a:r>
              <a:rPr lang="en-US" sz="3200" dirty="0">
                <a:latin typeface="Times New Roman" panose="02020603050405020304" pitchFamily="18" charset="0"/>
                <a:cs typeface="Times New Roman" panose="02020603050405020304" pitchFamily="18" charset="0"/>
              </a:rPr>
              <a:t>Frequent labor unrest</a:t>
            </a:r>
          </a:p>
          <a:p>
            <a:r>
              <a:rPr lang="en-US" sz="3200" dirty="0">
                <a:latin typeface="Times New Roman" panose="02020603050405020304" pitchFamily="18" charset="0"/>
                <a:cs typeface="Times New Roman" panose="02020603050405020304" pitchFamily="18" charset="0"/>
              </a:rPr>
              <a:t>Poor wage</a:t>
            </a:r>
          </a:p>
          <a:p>
            <a:r>
              <a:rPr lang="en-US" sz="3200" dirty="0">
                <a:latin typeface="Times New Roman" panose="02020603050405020304" pitchFamily="18" charset="0"/>
                <a:cs typeface="Times New Roman" panose="02020603050405020304" pitchFamily="18" charset="0"/>
              </a:rPr>
              <a:t>Low productivity </a:t>
            </a:r>
          </a:p>
          <a:p>
            <a:r>
              <a:rPr lang="en-US" sz="3200" dirty="0">
                <a:latin typeface="Times New Roman" panose="02020603050405020304" pitchFamily="18" charset="0"/>
                <a:cs typeface="Times New Roman" panose="02020603050405020304" pitchFamily="18" charset="0"/>
              </a:rPr>
              <a:t>Lack of trade unionism and collective bargaining rights</a:t>
            </a:r>
          </a:p>
          <a:p>
            <a:r>
              <a:rPr lang="en-US" sz="3200" dirty="0">
                <a:latin typeface="Times New Roman" panose="02020603050405020304" pitchFamily="18" charset="0"/>
                <a:cs typeface="Times New Roman" panose="02020603050405020304" pitchFamily="18" charset="0"/>
              </a:rPr>
              <a:t>Existence of forced labor</a:t>
            </a:r>
          </a:p>
          <a:p>
            <a:r>
              <a:rPr lang="en-US" sz="3200" dirty="0">
                <a:latin typeface="Times New Roman" panose="02020603050405020304" pitchFamily="18" charset="0"/>
                <a:cs typeface="Times New Roman" panose="02020603050405020304" pitchFamily="18" charset="0"/>
              </a:rPr>
              <a:t>Unhealthy working conditions </a:t>
            </a:r>
          </a:p>
        </p:txBody>
      </p:sp>
    </p:spTree>
    <p:extLst>
      <p:ext uri="{BB962C8B-B14F-4D97-AF65-F5344CB8AC3E}">
        <p14:creationId xmlns:p14="http://schemas.microsoft.com/office/powerpoint/2010/main" val="871816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4935"/>
          </a:xfrm>
        </p:spPr>
        <p:txBody>
          <a:bodyPr>
            <a:normAutofit/>
          </a:bodyPr>
          <a:lstStyle/>
          <a:p>
            <a:r>
              <a:rPr lang="en-US" sz="3600" b="1" dirty="0">
                <a:latin typeface="Times New Roman" panose="02020603050405020304" pitchFamily="18" charset="0"/>
                <a:cs typeface="Times New Roman" panose="02020603050405020304" pitchFamily="18" charset="0"/>
              </a:rPr>
              <a:t>Contemporary business ideas</a:t>
            </a:r>
          </a:p>
        </p:txBody>
      </p:sp>
      <p:sp>
        <p:nvSpPr>
          <p:cNvPr id="3" name="Content Placeholder 2"/>
          <p:cNvSpPr>
            <a:spLocks noGrp="1"/>
          </p:cNvSpPr>
          <p:nvPr>
            <p:ph idx="1"/>
          </p:nvPr>
        </p:nvSpPr>
        <p:spPr>
          <a:xfrm>
            <a:off x="838200" y="1514901"/>
            <a:ext cx="10515600" cy="5049672"/>
          </a:xfrm>
        </p:spPr>
        <p:txBody>
          <a:bodyPr>
            <a:normAutofit/>
          </a:bodyPr>
          <a:lstStyle/>
          <a:p>
            <a:r>
              <a:rPr lang="en-US" sz="3200" dirty="0">
                <a:latin typeface="Times New Roman" panose="02020603050405020304" pitchFamily="18" charset="0"/>
                <a:cs typeface="Times New Roman" panose="02020603050405020304" pitchFamily="18" charset="0"/>
              </a:rPr>
              <a:t>Green cleaning</a:t>
            </a:r>
          </a:p>
          <a:p>
            <a:r>
              <a:rPr lang="en-US" sz="3200" dirty="0">
                <a:latin typeface="Times New Roman" panose="02020603050405020304" pitchFamily="18" charset="0"/>
                <a:cs typeface="Times New Roman" panose="02020603050405020304" pitchFamily="18" charset="0"/>
              </a:rPr>
              <a:t>College advisor</a:t>
            </a:r>
          </a:p>
          <a:p>
            <a:r>
              <a:rPr lang="en-US" sz="3200" dirty="0">
                <a:latin typeface="Times New Roman" panose="02020603050405020304" pitchFamily="18" charset="0"/>
                <a:cs typeface="Times New Roman" panose="02020603050405020304" pitchFamily="18" charset="0"/>
              </a:rPr>
              <a:t>Social media consultant</a:t>
            </a:r>
          </a:p>
          <a:p>
            <a:r>
              <a:rPr lang="en-US" sz="3200" dirty="0">
                <a:latin typeface="Times New Roman" panose="02020603050405020304" pitchFamily="18" charset="0"/>
                <a:cs typeface="Times New Roman" panose="02020603050405020304" pitchFamily="18" charset="0"/>
              </a:rPr>
              <a:t>Blogging</a:t>
            </a:r>
          </a:p>
          <a:p>
            <a:r>
              <a:rPr lang="en-US" sz="3200" dirty="0">
                <a:latin typeface="Times New Roman" panose="02020603050405020304" pitchFamily="18" charset="0"/>
                <a:cs typeface="Times New Roman" panose="02020603050405020304" pitchFamily="18" charset="0"/>
              </a:rPr>
              <a:t>Farmer’s market grocery delivery</a:t>
            </a:r>
          </a:p>
          <a:p>
            <a:r>
              <a:rPr lang="en-US" sz="3200" dirty="0">
                <a:latin typeface="Times New Roman" panose="02020603050405020304" pitchFamily="18" charset="0"/>
                <a:cs typeface="Times New Roman" panose="02020603050405020304" pitchFamily="18" charset="0"/>
              </a:rPr>
              <a:t>Kids spas</a:t>
            </a:r>
          </a:p>
          <a:p>
            <a:r>
              <a:rPr lang="en-US" sz="3200" dirty="0">
                <a:latin typeface="Times New Roman" panose="02020603050405020304" pitchFamily="18" charset="0"/>
                <a:cs typeface="Times New Roman" panose="02020603050405020304" pitchFamily="18" charset="0"/>
              </a:rPr>
              <a:t>Handmade cards</a:t>
            </a:r>
          </a:p>
          <a:p>
            <a:r>
              <a:rPr lang="en-US" sz="3200" dirty="0">
                <a:latin typeface="Times New Roman" panose="02020603050405020304" pitchFamily="18" charset="0"/>
                <a:cs typeface="Times New Roman" panose="02020603050405020304" pitchFamily="18" charset="0"/>
              </a:rPr>
              <a:t>Female handyman</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20226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7514"/>
          </a:xfrm>
        </p:spPr>
        <p:txBody>
          <a:bodyPr>
            <a:normAutofit/>
          </a:bodyPr>
          <a:lstStyle/>
          <a:p>
            <a:r>
              <a:rPr lang="en-US" sz="3600" b="1" dirty="0">
                <a:latin typeface="Times New Roman" panose="02020603050405020304" pitchFamily="18" charset="0"/>
                <a:cs typeface="Times New Roman" panose="02020603050405020304" pitchFamily="18" charset="0"/>
              </a:rPr>
              <a:t>Contemporary business ideas</a:t>
            </a:r>
          </a:p>
        </p:txBody>
      </p:sp>
      <p:sp>
        <p:nvSpPr>
          <p:cNvPr id="3" name="Content Placeholder 2"/>
          <p:cNvSpPr>
            <a:spLocks noGrp="1"/>
          </p:cNvSpPr>
          <p:nvPr>
            <p:ph idx="1"/>
          </p:nvPr>
        </p:nvSpPr>
        <p:spPr>
          <a:xfrm>
            <a:off x="968990" y="1187355"/>
            <a:ext cx="9811603" cy="5513696"/>
          </a:xfrm>
        </p:spPr>
        <p:txBody>
          <a:bodyPr>
            <a:normAutofit/>
          </a:bodyPr>
          <a:lstStyle/>
          <a:p>
            <a:r>
              <a:rPr lang="en-US" sz="3200" dirty="0" err="1">
                <a:latin typeface="Times New Roman" panose="02020603050405020304" pitchFamily="18" charset="0"/>
                <a:cs typeface="Times New Roman" panose="02020603050405020304" pitchFamily="18" charset="0"/>
              </a:rPr>
              <a:t>Etsy</a:t>
            </a:r>
            <a:r>
              <a:rPr lang="en-US" sz="3200" dirty="0">
                <a:latin typeface="Times New Roman" panose="02020603050405020304" pitchFamily="18" charset="0"/>
                <a:cs typeface="Times New Roman" panose="02020603050405020304" pitchFamily="18" charset="0"/>
              </a:rPr>
              <a:t> list agent: </a:t>
            </a:r>
            <a:r>
              <a:rPr lang="en-US" sz="2400" i="1" dirty="0" err="1"/>
              <a:t>Etsy</a:t>
            </a:r>
            <a:r>
              <a:rPr lang="en-US" sz="2400" dirty="0"/>
              <a:t> is an American e-commerce website focused on handmade or vintage items and craft supplies. </a:t>
            </a:r>
            <a:r>
              <a:rPr lang="en-US" sz="2400" dirty="0" err="1"/>
              <a:t>Etsy</a:t>
            </a:r>
            <a:r>
              <a:rPr lang="en-US" sz="2400" dirty="0"/>
              <a:t> list agent works for designer. </a:t>
            </a:r>
            <a:endParaRPr lang="en-US" sz="24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Tutoring</a:t>
            </a:r>
          </a:p>
          <a:p>
            <a:r>
              <a:rPr lang="en-US" sz="3200" dirty="0">
                <a:latin typeface="Times New Roman" panose="02020603050405020304" pitchFamily="18" charset="0"/>
                <a:cs typeface="Times New Roman" panose="02020603050405020304" pitchFamily="18" charset="0"/>
              </a:rPr>
              <a:t>Empty nester catering</a:t>
            </a:r>
          </a:p>
          <a:p>
            <a:r>
              <a:rPr lang="en-US" sz="3200" dirty="0">
                <a:latin typeface="Times New Roman" panose="02020603050405020304" pitchFamily="18" charset="0"/>
                <a:cs typeface="Times New Roman" panose="02020603050405020304" pitchFamily="18" charset="0"/>
              </a:rPr>
              <a:t>Personal concierge</a:t>
            </a:r>
          </a:p>
          <a:p>
            <a:r>
              <a:rPr lang="en-US" sz="3200" dirty="0">
                <a:latin typeface="Times New Roman" panose="02020603050405020304" pitchFamily="18" charset="0"/>
                <a:cs typeface="Times New Roman" panose="02020603050405020304" pitchFamily="18" charset="0"/>
              </a:rPr>
              <a:t>Property manager</a:t>
            </a:r>
          </a:p>
          <a:p>
            <a:r>
              <a:rPr lang="en-US" sz="3200" dirty="0">
                <a:latin typeface="Times New Roman" panose="02020603050405020304" pitchFamily="18" charset="0"/>
                <a:cs typeface="Times New Roman" panose="02020603050405020304" pitchFamily="18" charset="0"/>
              </a:rPr>
              <a:t>Community personal trainers</a:t>
            </a:r>
          </a:p>
          <a:p>
            <a:r>
              <a:rPr lang="en-US" sz="3200" dirty="0">
                <a:latin typeface="Times New Roman" panose="02020603050405020304" pitchFamily="18" charset="0"/>
                <a:cs typeface="Times New Roman" panose="02020603050405020304" pitchFamily="18" charset="0"/>
              </a:rPr>
              <a:t>Nutrition consultant</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27440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Contemporary business ideas</a:t>
            </a:r>
          </a:p>
        </p:txBody>
      </p:sp>
      <p:sp>
        <p:nvSpPr>
          <p:cNvPr id="3" name="Content Placeholder 2"/>
          <p:cNvSpPr>
            <a:spLocks noGrp="1"/>
          </p:cNvSpPr>
          <p:nvPr>
            <p:ph idx="1"/>
          </p:nvPr>
        </p:nvSpPr>
        <p:spPr/>
        <p:txBody>
          <a:bodyPr>
            <a:normAutofit/>
          </a:bodyPr>
          <a:lstStyle/>
          <a:p>
            <a:r>
              <a:rPr lang="en-US" sz="3200" dirty="0">
                <a:latin typeface="Times New Roman" panose="02020603050405020304" pitchFamily="18" charset="0"/>
                <a:cs typeface="Times New Roman" panose="02020603050405020304" pitchFamily="18" charset="0"/>
              </a:rPr>
              <a:t>Pie bakery</a:t>
            </a:r>
          </a:p>
          <a:p>
            <a:r>
              <a:rPr lang="en-US" sz="3200" dirty="0">
                <a:latin typeface="Times New Roman" panose="02020603050405020304" pitchFamily="18" charset="0"/>
                <a:cs typeface="Times New Roman" panose="02020603050405020304" pitchFamily="18" charset="0"/>
              </a:rPr>
              <a:t>Corporate physical trainer</a:t>
            </a:r>
          </a:p>
          <a:p>
            <a:r>
              <a:rPr lang="en-US" sz="3200" dirty="0">
                <a:latin typeface="Times New Roman" panose="02020603050405020304" pitchFamily="18" charset="0"/>
                <a:cs typeface="Times New Roman" panose="02020603050405020304" pitchFamily="18" charset="0"/>
              </a:rPr>
              <a:t>Image consultant</a:t>
            </a:r>
          </a:p>
          <a:p>
            <a:r>
              <a:rPr lang="en-US" sz="3200" dirty="0">
                <a:latin typeface="Times New Roman" panose="02020603050405020304" pitchFamily="18" charset="0"/>
                <a:cs typeface="Times New Roman" panose="02020603050405020304" pitchFamily="18" charset="0"/>
              </a:rPr>
              <a:t>Phone app developer</a:t>
            </a:r>
          </a:p>
          <a:p>
            <a:r>
              <a:rPr lang="en-US" sz="3200" dirty="0">
                <a:latin typeface="Times New Roman" panose="02020603050405020304" pitchFamily="18" charset="0"/>
                <a:cs typeface="Times New Roman" panose="02020603050405020304" pitchFamily="18" charset="0"/>
              </a:rPr>
              <a:t>Personalized product designer</a:t>
            </a:r>
          </a:p>
        </p:txBody>
      </p:sp>
    </p:spTree>
    <p:extLst>
      <p:ext uri="{BB962C8B-B14F-4D97-AF65-F5344CB8AC3E}">
        <p14:creationId xmlns:p14="http://schemas.microsoft.com/office/powerpoint/2010/main" val="37962637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297</TotalTime>
  <Words>1704</Words>
  <Application>Microsoft Office PowerPoint</Application>
  <PresentationFormat>Widescreen</PresentationFormat>
  <Paragraphs>184</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Contemporary issues of Business</vt:lpstr>
      <vt:lpstr>Contents</vt:lpstr>
      <vt:lpstr>Communicating in contemporary business environment</vt:lpstr>
      <vt:lpstr> Social business </vt:lpstr>
      <vt:lpstr> Social business </vt:lpstr>
      <vt:lpstr>Green or sustainable business</vt:lpstr>
      <vt:lpstr>Corporate sustainability strategies </vt:lpstr>
      <vt:lpstr>Green business in Bangladesh</vt:lpstr>
      <vt:lpstr>Standards of green business</vt:lpstr>
      <vt:lpstr>Six essential characteristics of green business</vt:lpstr>
      <vt:lpstr>E-business</vt:lpstr>
      <vt:lpstr>E-business and e-commerce</vt:lpstr>
      <vt:lpstr>E – business model</vt:lpstr>
      <vt:lpstr>Virtual business</vt:lpstr>
      <vt:lpstr>A virtual organization </vt:lpstr>
      <vt:lpstr>Boundary less organization</vt:lpstr>
      <vt:lpstr>Modular Business</vt:lpstr>
      <vt:lpstr>Strategic alliance </vt:lpstr>
      <vt:lpstr>Network organization </vt:lpstr>
      <vt:lpstr>Characteristics of boundary less organization</vt:lpstr>
      <vt:lpstr>Characteristics of boundary less organization</vt:lpstr>
      <vt:lpstr>Corporate governance</vt:lpstr>
      <vt:lpstr>Corporate governance</vt:lpstr>
      <vt:lpstr>Public private partnership</vt:lpstr>
      <vt:lpstr>Ethics and CSR</vt:lpstr>
      <vt:lpstr>Ethical decision making</vt:lpstr>
      <vt:lpstr>Ethical decision making</vt:lpstr>
      <vt:lpstr>Ethical decision making</vt:lpstr>
      <vt:lpstr>Ethical decision making</vt:lpstr>
      <vt:lpstr>Ethical decision making</vt:lpstr>
      <vt:lpstr>Ethical decision making</vt:lpstr>
      <vt:lpstr>Ethical decision making</vt:lpstr>
      <vt:lpstr>Ethical decision making</vt:lpstr>
      <vt:lpstr>Ethical decision making</vt:lpstr>
      <vt:lpstr>Labor issues in Bangladesh RMG sector</vt:lpstr>
      <vt:lpstr>Contemporary business ideas</vt:lpstr>
      <vt:lpstr>Contemporary business ideas</vt:lpstr>
      <vt:lpstr>Contemporary business ideas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Contemporary issues of Business</dc:title>
  <dc:creator>Ramisa Nafisa CU</dc:creator>
  <cp:lastModifiedBy>saidur558afroz@gmail.com</cp:lastModifiedBy>
  <cp:revision>39</cp:revision>
  <dcterms:created xsi:type="dcterms:W3CDTF">2020-09-30T03:34:54Z</dcterms:created>
  <dcterms:modified xsi:type="dcterms:W3CDTF">2023-05-28T01:45:00Z</dcterms:modified>
</cp:coreProperties>
</file>