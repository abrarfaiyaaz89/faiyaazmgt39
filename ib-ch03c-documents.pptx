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63" r:id="rId8"/>
    <p:sldId id="261" r:id="rId9"/>
    <p:sldId id="265" r:id="rId10"/>
    <p:sldId id="264" r:id="rId11"/>
    <p:sldId id="266" r:id="rId12"/>
    <p:sldId id="267" r:id="rId13"/>
    <p:sldId id="269" r:id="rId14"/>
    <p:sldId id="270" r:id="rId15"/>
    <p:sldId id="271" r:id="rId16"/>
    <p:sldId id="272" r:id="rId17"/>
    <p:sldId id="273" r:id="rId18"/>
    <p:sldId id="274" r:id="rId19"/>
    <p:sldId id="275" r:id="rId20"/>
    <p:sldId id="276" r:id="rId21"/>
    <p:sldId id="278" r:id="rId22"/>
    <p:sldId id="280" r:id="rId23"/>
    <p:sldId id="279" r:id="rId24"/>
    <p:sldId id="281" r:id="rId25"/>
    <p:sldId id="282" r:id="rId26"/>
    <p:sldId id="292" r:id="rId27"/>
    <p:sldId id="283" r:id="rId28"/>
    <p:sldId id="291" r:id="rId29"/>
    <p:sldId id="284" r:id="rId30"/>
    <p:sldId id="285" r:id="rId31"/>
    <p:sldId id="286" r:id="rId32"/>
    <p:sldId id="288" r:id="rId33"/>
    <p:sldId id="287" r:id="rId34"/>
    <p:sldId id="289" r:id="rId35"/>
    <p:sldId id="290"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78" autoAdjust="0"/>
    <p:restoredTop sz="86410" autoAdjust="0"/>
  </p:normalViewPr>
  <p:slideViewPr>
    <p:cSldViewPr>
      <p:cViewPr varScale="1">
        <p:scale>
          <a:sx n="64" d="100"/>
          <a:sy n="64" d="100"/>
        </p:scale>
        <p:origin x="924" y="60"/>
      </p:cViewPr>
      <p:guideLst>
        <p:guide orient="horz" pos="2160"/>
        <p:guide pos="2880"/>
      </p:guideLst>
    </p:cSldViewPr>
  </p:slideViewPr>
  <p:outlineViewPr>
    <p:cViewPr>
      <p:scale>
        <a:sx n="33" d="100"/>
        <a:sy n="33" d="100"/>
      </p:scale>
      <p:origin x="0" y="2199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5/24/2022</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p:txBody>
          <a:bodyPr rtlCol="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Title 7"/>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5/24/2022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5/24/2022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5"/>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1D8BD707-D9CF-40AE-B4C6-C98DA3205C09}" type="datetimeFigureOut">
              <a:rPr lang="en-US" smtClean="0"/>
              <a:pPr/>
              <a:t>5/24/2022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5/24/2022</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5/24/2022</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bsti.gov.bd/list.html" TargetMode="External"/><Relationship Id="rId2" Type="http://schemas.openxmlformats.org/officeDocument/2006/relationships/hyperlink" Target="http://bsti.gov.bd/index.htm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6.w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66800" y="1676400"/>
            <a:ext cx="7543800" cy="2133600"/>
          </a:xfrm>
        </p:spPr>
        <p:txBody>
          <a:bodyPr>
            <a:normAutofit/>
          </a:bodyPr>
          <a:lstStyle/>
          <a:p>
            <a:pPr algn="ctr"/>
            <a:r>
              <a:rPr lang="en-US" sz="3600" b="1" dirty="0" smtClean="0"/>
              <a:t>Business Documents: Registration, License, Certificates</a:t>
            </a:r>
            <a:endParaRPr lang="en-US" sz="3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smtClean="0"/>
              <a:t>	After studying this chapter, the students will be able to understand:</a:t>
            </a:r>
          </a:p>
          <a:p>
            <a:pPr lvl="0"/>
            <a:r>
              <a:rPr lang="en-US" dirty="0" smtClean="0"/>
              <a:t>Definition and concept of different documents used in the business</a:t>
            </a:r>
          </a:p>
          <a:p>
            <a:pPr lvl="0"/>
            <a:r>
              <a:rPr lang="en-US" dirty="0" smtClean="0"/>
              <a:t>The process to get them</a:t>
            </a:r>
          </a:p>
          <a:p>
            <a:pPr lvl="0"/>
            <a:r>
              <a:rPr lang="en-US" dirty="0" smtClean="0"/>
              <a:t>Important requirements that have to submit to get these documents.</a:t>
            </a:r>
          </a:p>
          <a:p>
            <a:endParaRPr lang="en-US" dirty="0"/>
          </a:p>
        </p:txBody>
      </p:sp>
      <p:sp>
        <p:nvSpPr>
          <p:cNvPr id="2" name="Title 1"/>
          <p:cNvSpPr>
            <a:spLocks noGrp="1"/>
          </p:cNvSpPr>
          <p:nvPr>
            <p:ph type="title"/>
          </p:nvPr>
        </p:nvSpPr>
        <p:spPr/>
        <p:txBody>
          <a:bodyPr/>
          <a:lstStyle/>
          <a:p>
            <a:r>
              <a:rPr lang="en-US" b="1" dirty="0" smtClean="0"/>
              <a:t>Learning Objectives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smtClean="0"/>
              <a:t>Procedure and documents required to get trade license</a:t>
            </a:r>
          </a:p>
          <a:p>
            <a:r>
              <a:rPr lang="en-US" dirty="0" smtClean="0"/>
              <a:t>Factory inspection license</a:t>
            </a:r>
          </a:p>
          <a:p>
            <a:r>
              <a:rPr lang="en-US" dirty="0" smtClean="0"/>
              <a:t>Bonded warehouse license</a:t>
            </a:r>
          </a:p>
          <a:p>
            <a:r>
              <a:rPr lang="en-US" dirty="0" smtClean="0"/>
              <a:t>BSTI License</a:t>
            </a:r>
          </a:p>
          <a:p>
            <a:r>
              <a:rPr lang="en-US" dirty="0" smtClean="0"/>
              <a:t>TIN and VAT Registration</a:t>
            </a:r>
          </a:p>
          <a:p>
            <a:r>
              <a:rPr lang="en-US" dirty="0" smtClean="0"/>
              <a:t>Export registration</a:t>
            </a:r>
          </a:p>
          <a:p>
            <a:r>
              <a:rPr lang="en-US" dirty="0" smtClean="0"/>
              <a:t>Patent and Trademark registration</a:t>
            </a:r>
          </a:p>
          <a:p>
            <a:r>
              <a:rPr lang="en-US" dirty="0" smtClean="0"/>
              <a:t>Export registration certificate</a:t>
            </a:r>
          </a:p>
          <a:p>
            <a:r>
              <a:rPr lang="en-US" dirty="0" smtClean="0"/>
              <a:t>BOI registration</a:t>
            </a:r>
          </a:p>
          <a:p>
            <a:r>
              <a:rPr lang="en-US" dirty="0" smtClean="0"/>
              <a:t>Permission from </a:t>
            </a:r>
            <a:r>
              <a:rPr lang="en-US" dirty="0" err="1" smtClean="0"/>
              <a:t>Deptt</a:t>
            </a:r>
            <a:r>
              <a:rPr lang="en-US" dirty="0" smtClean="0"/>
              <a:t>. of environment</a:t>
            </a:r>
          </a:p>
          <a:p>
            <a:r>
              <a:rPr lang="en-US" dirty="0" smtClean="0"/>
              <a:t>Utility, gas, electricity and T&amp;T connection</a:t>
            </a:r>
          </a:p>
          <a:p>
            <a:r>
              <a:rPr lang="en-US" dirty="0" smtClean="0"/>
              <a:t>Membership of trade </a:t>
            </a:r>
            <a:r>
              <a:rPr lang="en-US" dirty="0" err="1" smtClean="0"/>
              <a:t>organisation</a:t>
            </a:r>
            <a:endParaRPr lang="en-US" dirty="0" smtClean="0"/>
          </a:p>
          <a:p>
            <a:r>
              <a:rPr lang="en-US" dirty="0" smtClean="0"/>
              <a:t>Opening bank a/c</a:t>
            </a:r>
            <a:endParaRPr lang="en-US" dirty="0"/>
          </a:p>
        </p:txBody>
      </p:sp>
      <p:sp>
        <p:nvSpPr>
          <p:cNvPr id="2" name="Title 1"/>
          <p:cNvSpPr>
            <a:spLocks noGrp="1"/>
          </p:cNvSpPr>
          <p:nvPr>
            <p:ph type="title"/>
          </p:nvPr>
        </p:nvSpPr>
        <p:spPr/>
        <p:txBody>
          <a:bodyPr/>
          <a:lstStyle/>
          <a:p>
            <a:r>
              <a:rPr lang="en-US" dirty="0" smtClean="0"/>
              <a:t>Chapter Outline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81328"/>
            <a:ext cx="8382000" cy="4525963"/>
          </a:xfrm>
        </p:spPr>
        <p:txBody>
          <a:bodyPr>
            <a:normAutofit/>
          </a:bodyPr>
          <a:lstStyle/>
          <a:p>
            <a:r>
              <a:rPr lang="en-US" sz="3200" dirty="0" smtClean="0"/>
              <a:t>It is important to file the proper documentation when starting a new business venture. </a:t>
            </a:r>
          </a:p>
          <a:p>
            <a:r>
              <a:rPr lang="en-US" sz="3200" dirty="0" smtClean="0"/>
              <a:t>A company uses documents to communicate, transact business and analyze its productivity.</a:t>
            </a:r>
            <a:endParaRPr lang="en-US" sz="3200" dirty="0"/>
          </a:p>
        </p:txBody>
      </p:sp>
      <p:sp>
        <p:nvSpPr>
          <p:cNvPr id="2" name="Title 1"/>
          <p:cNvSpPr>
            <a:spLocks noGrp="1"/>
          </p:cNvSpPr>
          <p:nvPr>
            <p:ph type="title"/>
          </p:nvPr>
        </p:nvSpPr>
        <p:spPr/>
        <p:txBody>
          <a:bodyPr/>
          <a:lstStyle/>
          <a:p>
            <a:r>
              <a:rPr lang="en-US" b="1" dirty="0" smtClean="0"/>
              <a:t>Introduction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business documents images"/>
          <p:cNvPicPr/>
          <p:nvPr/>
        </p:nvPicPr>
        <p:blipFill>
          <a:blip r:embed="rId2" cstate="print"/>
          <a:srcRect/>
          <a:stretch>
            <a:fillRect/>
          </a:stretch>
        </p:blipFill>
        <p:spPr bwMode="auto">
          <a:xfrm>
            <a:off x="990600" y="609600"/>
            <a:ext cx="7239000" cy="51816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result for images of business documents"/>
          <p:cNvPicPr/>
          <p:nvPr/>
        </p:nvPicPr>
        <p:blipFill>
          <a:blip r:embed="rId2" cstate="print"/>
          <a:srcRect/>
          <a:stretch>
            <a:fillRect/>
          </a:stretch>
        </p:blipFill>
        <p:spPr bwMode="auto">
          <a:xfrm>
            <a:off x="762000" y="762000"/>
            <a:ext cx="7848600" cy="53340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81328"/>
            <a:ext cx="8534400" cy="5071872"/>
          </a:xfrm>
        </p:spPr>
        <p:txBody>
          <a:bodyPr>
            <a:normAutofit/>
          </a:bodyPr>
          <a:lstStyle/>
          <a:p>
            <a:r>
              <a:rPr lang="en-US" sz="3200" dirty="0" smtClean="0">
                <a:latin typeface="Times New Roman" pitchFamily="18" charset="0"/>
                <a:cs typeface="Times New Roman" pitchFamily="18" charset="0"/>
              </a:rPr>
              <a:t>License can be defined as a written permission issued by concerned authority stating necessary particulars such as name, location, purpose of license, issue date, fees and so forth. </a:t>
            </a:r>
          </a:p>
          <a:p>
            <a:r>
              <a:rPr lang="en-US" sz="3200" dirty="0" smtClean="0">
                <a:latin typeface="Times New Roman" pitchFamily="18" charset="0"/>
                <a:cs typeface="Times New Roman" pitchFamily="18" charset="0"/>
              </a:rPr>
              <a:t>In Bangladesh trade license is issued by local government. In city corporation areas like Dhaka, Chittagong, </a:t>
            </a:r>
            <a:r>
              <a:rPr lang="en-US" sz="3200" dirty="0" err="1" smtClean="0">
                <a:latin typeface="Times New Roman" pitchFamily="18" charset="0"/>
                <a:cs typeface="Times New Roman" pitchFamily="18" charset="0"/>
              </a:rPr>
              <a:t>Rajshahi</a:t>
            </a:r>
            <a:r>
              <a:rPr lang="en-US" sz="3200" dirty="0" smtClean="0">
                <a:latin typeface="Times New Roman" pitchFamily="18" charset="0"/>
                <a:cs typeface="Times New Roman" pitchFamily="18" charset="0"/>
              </a:rPr>
              <a:t>, Khulna, </a:t>
            </a:r>
            <a:r>
              <a:rPr lang="en-US" sz="3200" dirty="0" err="1" smtClean="0">
                <a:latin typeface="Times New Roman" pitchFamily="18" charset="0"/>
                <a:cs typeface="Times New Roman" pitchFamily="18" charset="0"/>
              </a:rPr>
              <a:t>Sylhet</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Narayangonj</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Comilla</a:t>
            </a:r>
            <a:r>
              <a:rPr lang="en-US" sz="3200" dirty="0" smtClean="0">
                <a:latin typeface="Times New Roman" pitchFamily="18" charset="0"/>
                <a:cs typeface="Times New Roman" pitchFamily="18" charset="0"/>
              </a:rPr>
              <a:t>, </a:t>
            </a:r>
            <a:r>
              <a:rPr lang="en-US" sz="3200" dirty="0" err="1" smtClean="0">
                <a:latin typeface="Times New Roman" pitchFamily="18" charset="0"/>
                <a:cs typeface="Times New Roman" pitchFamily="18" charset="0"/>
              </a:rPr>
              <a:t>Gazipur</a:t>
            </a:r>
            <a:r>
              <a:rPr lang="en-US" sz="3200" dirty="0" smtClean="0">
                <a:latin typeface="Times New Roman" pitchFamily="18" charset="0"/>
                <a:cs typeface="Times New Roman" pitchFamily="18" charset="0"/>
              </a:rPr>
              <a:t> and in other areas it will be issued by respective </a:t>
            </a:r>
            <a:r>
              <a:rPr lang="en-US" sz="3200" dirty="0" err="1" smtClean="0">
                <a:latin typeface="Times New Roman" pitchFamily="18" charset="0"/>
                <a:cs typeface="Times New Roman" pitchFamily="18" charset="0"/>
              </a:rPr>
              <a:t>pourashava</a:t>
            </a:r>
            <a:r>
              <a:rPr lang="en-US" sz="3200" dirty="0" smtClean="0">
                <a:latin typeface="Times New Roman" pitchFamily="18" charset="0"/>
                <a:cs typeface="Times New Roman" pitchFamily="18" charset="0"/>
              </a:rPr>
              <a:t> or union </a:t>
            </a:r>
            <a:r>
              <a:rPr lang="en-US" sz="3200" dirty="0" err="1" smtClean="0">
                <a:latin typeface="Times New Roman" pitchFamily="18" charset="0"/>
                <a:cs typeface="Times New Roman" pitchFamily="18" charset="0"/>
              </a:rPr>
              <a:t>parishad</a:t>
            </a:r>
            <a:r>
              <a:rPr lang="en-US" sz="3200" dirty="0" smtClean="0">
                <a:latin typeface="Times New Roman" pitchFamily="18" charset="0"/>
                <a:cs typeface="Times New Roman" pitchFamily="18" charset="0"/>
              </a:rPr>
              <a:t>.</a:t>
            </a:r>
            <a:endParaRPr lang="en-US" sz="3200" dirty="0">
              <a:latin typeface="Times New Roman" pitchFamily="18" charset="0"/>
              <a:cs typeface="Times New Roman" pitchFamily="18" charset="0"/>
            </a:endParaRPr>
          </a:p>
        </p:txBody>
      </p:sp>
      <p:sp>
        <p:nvSpPr>
          <p:cNvPr id="2" name="Title 1"/>
          <p:cNvSpPr>
            <a:spLocks noGrp="1"/>
          </p:cNvSpPr>
          <p:nvPr>
            <p:ph type="title"/>
          </p:nvPr>
        </p:nvSpPr>
        <p:spPr/>
        <p:txBody>
          <a:bodyPr/>
          <a:lstStyle/>
          <a:p>
            <a:r>
              <a:rPr lang="en-US" b="1" dirty="0" smtClean="0"/>
              <a:t>Trade License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219200"/>
            <a:ext cx="8534400" cy="5334000"/>
          </a:xfrm>
        </p:spPr>
        <p:txBody>
          <a:bodyPr>
            <a:noAutofit/>
          </a:bodyPr>
          <a:lstStyle/>
          <a:p>
            <a:r>
              <a:rPr lang="en-US" sz="2800" dirty="0" smtClean="0">
                <a:latin typeface="Times New Roman" pitchFamily="18" charset="0"/>
                <a:cs typeface="Times New Roman" pitchFamily="18" charset="0"/>
              </a:rPr>
              <a:t>The following documents for having a trade license issued, if you are willing to establish your business in a major city:</a:t>
            </a:r>
          </a:p>
          <a:p>
            <a:r>
              <a:rPr lang="en-US" sz="2800" dirty="0" smtClean="0">
                <a:latin typeface="Times New Roman" pitchFamily="18" charset="0"/>
                <a:cs typeface="Times New Roman" pitchFamily="18" charset="0"/>
              </a:rPr>
              <a:t>Application with photos. </a:t>
            </a:r>
          </a:p>
          <a:p>
            <a:r>
              <a:rPr lang="en-US" sz="2800" dirty="0" smtClean="0">
                <a:latin typeface="Times New Roman" pitchFamily="18" charset="0"/>
                <a:cs typeface="Times New Roman" pitchFamily="18" charset="0"/>
              </a:rPr>
              <a:t>Layout plan</a:t>
            </a:r>
          </a:p>
          <a:p>
            <a:r>
              <a:rPr lang="en-US" sz="2800" dirty="0" smtClean="0">
                <a:latin typeface="Times New Roman" pitchFamily="18" charset="0"/>
                <a:cs typeface="Times New Roman" pitchFamily="18" charset="0"/>
              </a:rPr>
              <a:t>Enclose two ‘No Objection Certificates’ from two close neighbors. </a:t>
            </a:r>
          </a:p>
          <a:p>
            <a:r>
              <a:rPr lang="en-US" sz="2800" dirty="0" smtClean="0">
                <a:latin typeface="Times New Roman" pitchFamily="18" charset="0"/>
                <a:cs typeface="Times New Roman" pitchFamily="18" charset="0"/>
              </a:rPr>
              <a:t>In case of limited company, </a:t>
            </a:r>
            <a:r>
              <a:rPr lang="en-US" sz="2800" dirty="0" err="1" smtClean="0">
                <a:latin typeface="Times New Roman" pitchFamily="18" charset="0"/>
                <a:cs typeface="Times New Roman" pitchFamily="18" charset="0"/>
              </a:rPr>
              <a:t>AoA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MoA</a:t>
            </a:r>
            <a:r>
              <a:rPr lang="en-US" sz="2800" dirty="0" smtClean="0">
                <a:latin typeface="Times New Roman" pitchFamily="18" charset="0"/>
                <a:cs typeface="Times New Roman" pitchFamily="18" charset="0"/>
              </a:rPr>
              <a:t>, and Incorporation Certificate  issued by joint stock company, TIN</a:t>
            </a:r>
          </a:p>
          <a:p>
            <a:r>
              <a:rPr lang="en-US" sz="2800" dirty="0" smtClean="0">
                <a:latin typeface="Times New Roman" pitchFamily="18" charset="0"/>
                <a:cs typeface="Times New Roman" pitchFamily="18" charset="0"/>
              </a:rPr>
              <a:t>no objection certificate from the Department of Environment </a:t>
            </a:r>
          </a:p>
          <a:p>
            <a:endParaRPr lang="en-US" sz="2800" dirty="0">
              <a:latin typeface="Times New Roman" pitchFamily="18" charset="0"/>
              <a:cs typeface="Times New Roman" pitchFamily="18" charset="0"/>
            </a:endParaRPr>
          </a:p>
        </p:txBody>
      </p:sp>
      <p:sp>
        <p:nvSpPr>
          <p:cNvPr id="2" name="Title 1"/>
          <p:cNvSpPr>
            <a:spLocks noGrp="1"/>
          </p:cNvSpPr>
          <p:nvPr>
            <p:ph type="title"/>
          </p:nvPr>
        </p:nvSpPr>
        <p:spPr>
          <a:xfrm>
            <a:off x="457200" y="274638"/>
            <a:ext cx="8229600" cy="944562"/>
          </a:xfrm>
        </p:spPr>
        <p:txBody>
          <a:bodyPr/>
          <a:lstStyle/>
          <a:p>
            <a:r>
              <a:rPr lang="en-US" b="1" dirty="0" smtClean="0"/>
              <a:t>Trade License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edsit_ts-600x635"/>
          <p:cNvPicPr/>
          <p:nvPr/>
        </p:nvPicPr>
        <p:blipFill>
          <a:blip r:embed="rId2" cstate="print"/>
          <a:srcRect/>
          <a:stretch>
            <a:fillRect/>
          </a:stretch>
        </p:blipFill>
        <p:spPr bwMode="auto">
          <a:xfrm>
            <a:off x="1590675" y="404813"/>
            <a:ext cx="5962650" cy="5843588"/>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200" dirty="0" smtClean="0">
                <a:latin typeface="Times New Roman" pitchFamily="18" charset="0"/>
                <a:cs typeface="Times New Roman" pitchFamily="18" charset="0"/>
              </a:rPr>
              <a:t>This document should be taken to represent the minimum acceptable standard.</a:t>
            </a:r>
          </a:p>
          <a:p>
            <a:r>
              <a:rPr lang="en-US" sz="3200" dirty="0" smtClean="0">
                <a:latin typeface="Times New Roman" pitchFamily="18" charset="0"/>
                <a:cs typeface="Times New Roman" pitchFamily="18" charset="0"/>
              </a:rPr>
              <a:t>Compliance with these requirements will be checked during factory inspections. </a:t>
            </a:r>
          </a:p>
          <a:p>
            <a:r>
              <a:rPr lang="en-US" sz="3200" dirty="0" smtClean="0">
                <a:latin typeface="Times New Roman" pitchFamily="18" charset="0"/>
                <a:cs typeface="Times New Roman" pitchFamily="18" charset="0"/>
              </a:rPr>
              <a:t>After establishment of any factory, as per factories Act 1965 as in practice, of the present government.</a:t>
            </a:r>
            <a:endParaRPr lang="en-US" sz="3200" dirty="0">
              <a:latin typeface="Times New Roman" pitchFamily="18" charset="0"/>
              <a:cs typeface="Times New Roman" pitchFamily="18" charset="0"/>
            </a:endParaRPr>
          </a:p>
        </p:txBody>
      </p:sp>
      <p:sp>
        <p:nvSpPr>
          <p:cNvPr id="2" name="Title 1"/>
          <p:cNvSpPr>
            <a:spLocks noGrp="1"/>
          </p:cNvSpPr>
          <p:nvPr>
            <p:ph type="title"/>
          </p:nvPr>
        </p:nvSpPr>
        <p:spPr/>
        <p:txBody>
          <a:bodyPr/>
          <a:lstStyle/>
          <a:p>
            <a:r>
              <a:rPr lang="en-US" b="1" dirty="0" smtClean="0"/>
              <a:t>Factory Inspection License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200" dirty="0" smtClean="0">
                <a:latin typeface="Times New Roman" pitchFamily="18" charset="0"/>
                <a:cs typeface="Times New Roman" pitchFamily="18" charset="0"/>
              </a:rPr>
              <a:t>Documents required for factory Inspection License</a:t>
            </a:r>
          </a:p>
          <a:p>
            <a:pPr lvl="0"/>
            <a:r>
              <a:rPr lang="en-US" sz="3200" dirty="0" smtClean="0">
                <a:latin typeface="Times New Roman" pitchFamily="18" charset="0"/>
                <a:cs typeface="Times New Roman" pitchFamily="18" charset="0"/>
              </a:rPr>
              <a:t>Trade License.</a:t>
            </a:r>
          </a:p>
          <a:p>
            <a:pPr lvl="0"/>
            <a:r>
              <a:rPr lang="en-US" sz="3200" dirty="0" smtClean="0">
                <a:latin typeface="Times New Roman" pitchFamily="18" charset="0"/>
                <a:cs typeface="Times New Roman" pitchFamily="18" charset="0"/>
              </a:rPr>
              <a:t>Factory Lay out plan (Machineries).</a:t>
            </a:r>
          </a:p>
          <a:p>
            <a:pPr lvl="0"/>
            <a:r>
              <a:rPr lang="en-US" sz="3200" dirty="0" smtClean="0">
                <a:latin typeface="Times New Roman" pitchFamily="18" charset="0"/>
                <a:cs typeface="Times New Roman" pitchFamily="18" charset="0"/>
              </a:rPr>
              <a:t>Building Plan.</a:t>
            </a:r>
          </a:p>
          <a:p>
            <a:pPr lvl="0"/>
            <a:r>
              <a:rPr lang="en-US" sz="3200" dirty="0" smtClean="0">
                <a:latin typeface="Times New Roman" pitchFamily="18" charset="0"/>
                <a:cs typeface="Times New Roman" pitchFamily="18" charset="0"/>
              </a:rPr>
              <a:t>Application in prescribed Form. </a:t>
            </a:r>
            <a:r>
              <a:rPr lang="en-US" sz="3200" b="1" dirty="0" smtClean="0">
                <a:latin typeface="Times New Roman" pitchFamily="18" charset="0"/>
                <a:cs typeface="Times New Roman" pitchFamily="18" charset="0"/>
              </a:rPr>
              <a:t> </a:t>
            </a:r>
            <a:endParaRPr lang="en-US" sz="3200" dirty="0" smtClean="0">
              <a:latin typeface="Times New Roman" pitchFamily="18" charset="0"/>
              <a:cs typeface="Times New Roman" pitchFamily="18" charset="0"/>
            </a:endParaRPr>
          </a:p>
          <a:p>
            <a:endParaRPr lang="en-US" sz="3200" dirty="0">
              <a:latin typeface="Times New Roman" pitchFamily="18" charset="0"/>
              <a:cs typeface="Times New Roman" pitchFamily="18" charset="0"/>
            </a:endParaRPr>
          </a:p>
        </p:txBody>
      </p:sp>
      <p:sp>
        <p:nvSpPr>
          <p:cNvPr id="2" name="Title 1"/>
          <p:cNvSpPr>
            <a:spLocks noGrp="1"/>
          </p:cNvSpPr>
          <p:nvPr>
            <p:ph type="title"/>
          </p:nvPr>
        </p:nvSpPr>
        <p:spPr/>
        <p:txBody>
          <a:bodyPr/>
          <a:lstStyle/>
          <a:p>
            <a:r>
              <a:rPr lang="en-US" b="1" dirty="0" smtClean="0"/>
              <a:t>Factory Inspection License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1328"/>
            <a:ext cx="8229600" cy="4843272"/>
          </a:xfrm>
        </p:spPr>
        <p:txBody>
          <a:bodyPr>
            <a:noAutofit/>
          </a:bodyPr>
          <a:lstStyle/>
          <a:p>
            <a:r>
              <a:rPr lang="en-US" sz="3200" dirty="0" smtClean="0">
                <a:latin typeface="Times New Roman" pitchFamily="18" charset="0"/>
                <a:cs typeface="Times New Roman" pitchFamily="18" charset="0"/>
              </a:rPr>
              <a:t>A 100% export oriented industry will get the Bonded Warehouse License from custom authority. </a:t>
            </a:r>
          </a:p>
          <a:p>
            <a:r>
              <a:rPr lang="en-US" sz="3200" dirty="0" smtClean="0">
                <a:latin typeface="Times New Roman" pitchFamily="18" charset="0"/>
                <a:cs typeface="Times New Roman" pitchFamily="18" charset="0"/>
              </a:rPr>
              <a:t>This type of industry can reduce its cost by getting a Bonded Warehouse License. </a:t>
            </a:r>
          </a:p>
          <a:p>
            <a:r>
              <a:rPr lang="en-US" sz="3200" dirty="0" smtClean="0">
                <a:latin typeface="Times New Roman" pitchFamily="18" charset="0"/>
                <a:cs typeface="Times New Roman" pitchFamily="18" charset="0"/>
              </a:rPr>
              <a:t>They may import raw materials without duty free and zero Customs charge. </a:t>
            </a:r>
          </a:p>
          <a:p>
            <a:r>
              <a:rPr lang="en-US" sz="3200" dirty="0" smtClean="0">
                <a:latin typeface="Times New Roman" pitchFamily="18" charset="0"/>
                <a:cs typeface="Times New Roman" pitchFamily="18" charset="0"/>
              </a:rPr>
              <a:t>But condition is that you must export 100% of your products.</a:t>
            </a:r>
            <a:endParaRPr lang="en-US" sz="3200" dirty="0">
              <a:latin typeface="Times New Roman" pitchFamily="18" charset="0"/>
              <a:cs typeface="Times New Roman" pitchFamily="18" charset="0"/>
            </a:endParaRPr>
          </a:p>
        </p:txBody>
      </p:sp>
      <p:sp>
        <p:nvSpPr>
          <p:cNvPr id="2" name="Title 1"/>
          <p:cNvSpPr>
            <a:spLocks noGrp="1"/>
          </p:cNvSpPr>
          <p:nvPr>
            <p:ph type="title"/>
          </p:nvPr>
        </p:nvSpPr>
        <p:spPr/>
        <p:txBody>
          <a:bodyPr>
            <a:normAutofit fontScale="90000"/>
          </a:bodyPr>
          <a:lstStyle/>
          <a:p>
            <a:r>
              <a:rPr lang="en-US" dirty="0" smtClean="0"/>
              <a:t>Bonded warehouse license</a:t>
            </a:r>
            <a:br>
              <a:rPr lang="en-US" dirty="0" smtClean="0"/>
            </a:b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71600"/>
            <a:ext cx="4191000" cy="5181600"/>
          </a:xfrm>
        </p:spPr>
        <p:style>
          <a:lnRef idx="2">
            <a:schemeClr val="accent3">
              <a:shade val="50000"/>
            </a:schemeClr>
          </a:lnRef>
          <a:fillRef idx="1">
            <a:schemeClr val="accent3"/>
          </a:fillRef>
          <a:effectRef idx="0">
            <a:schemeClr val="accent3"/>
          </a:effectRef>
          <a:fontRef idx="minor">
            <a:schemeClr val="lt1"/>
          </a:fontRef>
        </p:style>
        <p:txBody>
          <a:bodyPr>
            <a:normAutofit fontScale="70000" lnSpcReduction="20000"/>
          </a:bodyPr>
          <a:lstStyle/>
          <a:p>
            <a:pPr lvl="0"/>
            <a:r>
              <a:rPr lang="en-US" dirty="0" smtClean="0"/>
              <a:t>Application in a prescribed form.</a:t>
            </a:r>
          </a:p>
          <a:p>
            <a:pPr lvl="0"/>
            <a:r>
              <a:rPr lang="en-US" dirty="0" smtClean="0"/>
              <a:t>A Bond for Tk. 3 (Three) </a:t>
            </a:r>
            <a:r>
              <a:rPr lang="en-US" dirty="0" err="1" smtClean="0"/>
              <a:t>crore</a:t>
            </a:r>
            <a:r>
              <a:rPr lang="en-US" dirty="0" smtClean="0"/>
              <a:t> in a non-judicial stamp worth Tk. 1000.00.</a:t>
            </a:r>
          </a:p>
          <a:p>
            <a:pPr lvl="0"/>
            <a:r>
              <a:rPr lang="en-US" dirty="0" smtClean="0"/>
              <a:t>Trade License (updated).</a:t>
            </a:r>
          </a:p>
          <a:p>
            <a:pPr lvl="0"/>
            <a:r>
              <a:rPr lang="en-US" dirty="0" smtClean="0"/>
              <a:t>Updated Import Registration Certificate (industrial sector).</a:t>
            </a:r>
          </a:p>
          <a:p>
            <a:pPr lvl="0"/>
            <a:r>
              <a:rPr lang="en-US" dirty="0" smtClean="0"/>
              <a:t>Updated Export Registration Certificate.</a:t>
            </a:r>
          </a:p>
          <a:p>
            <a:pPr lvl="0"/>
            <a:r>
              <a:rPr lang="en-US" dirty="0" smtClean="0"/>
              <a:t>Memorandum of Articles and Certificate of Incorporation (in case of limited company).</a:t>
            </a:r>
          </a:p>
          <a:p>
            <a:pPr lvl="0"/>
            <a:r>
              <a:rPr lang="en-US" dirty="0" smtClean="0"/>
              <a:t>Tax Identification Number.</a:t>
            </a:r>
          </a:p>
          <a:p>
            <a:pPr lvl="0"/>
            <a:r>
              <a:rPr lang="en-US" dirty="0" smtClean="0"/>
              <a:t>VAT Registration Certificate.</a:t>
            </a:r>
          </a:p>
          <a:p>
            <a:pPr lvl="0"/>
            <a:r>
              <a:rPr lang="en-US" dirty="0" smtClean="0"/>
              <a:t>Bank Solvency Certificate.</a:t>
            </a:r>
            <a:endParaRPr lang="en-US" dirty="0"/>
          </a:p>
        </p:txBody>
      </p:sp>
      <p:sp>
        <p:nvSpPr>
          <p:cNvPr id="4" name="Content Placeholder 3"/>
          <p:cNvSpPr>
            <a:spLocks noGrp="1"/>
          </p:cNvSpPr>
          <p:nvPr>
            <p:ph sz="half" idx="2"/>
          </p:nvPr>
        </p:nvSpPr>
        <p:spPr>
          <a:xfrm>
            <a:off x="4495800" y="1371600"/>
            <a:ext cx="4419600" cy="5181600"/>
          </a:xfrm>
        </p:spPr>
        <p:style>
          <a:lnRef idx="1">
            <a:schemeClr val="accent1"/>
          </a:lnRef>
          <a:fillRef idx="2">
            <a:schemeClr val="accent1"/>
          </a:fillRef>
          <a:effectRef idx="1">
            <a:schemeClr val="accent1"/>
          </a:effectRef>
          <a:fontRef idx="minor">
            <a:schemeClr val="dk1"/>
          </a:fontRef>
        </p:style>
        <p:txBody>
          <a:bodyPr>
            <a:normAutofit fontScale="70000" lnSpcReduction="20000"/>
          </a:bodyPr>
          <a:lstStyle/>
          <a:p>
            <a:pPr lvl="0"/>
            <a:r>
              <a:rPr lang="en-US" dirty="0" smtClean="0"/>
              <a:t>Membership certificate of BGMEA/BKMEA.</a:t>
            </a:r>
          </a:p>
          <a:p>
            <a:pPr lvl="0"/>
            <a:r>
              <a:rPr lang="en-US" dirty="0" smtClean="0"/>
              <a:t>A copy of house rent contract or ownership documents.</a:t>
            </a:r>
          </a:p>
          <a:p>
            <a:pPr lvl="0"/>
            <a:r>
              <a:rPr lang="en-US" dirty="0" smtClean="0"/>
              <a:t>No Objection Certificate from Department of Environment (in case of chemical exercise).</a:t>
            </a:r>
          </a:p>
          <a:p>
            <a:pPr lvl="0"/>
            <a:r>
              <a:rPr lang="en-US" dirty="0" smtClean="0"/>
              <a:t>No Objection Certificate from the Power Development Board (PDB).</a:t>
            </a:r>
          </a:p>
          <a:p>
            <a:pPr lvl="0"/>
            <a:r>
              <a:rPr lang="en-US" dirty="0" smtClean="0"/>
              <a:t>Registration Certificate from Board of Investment.</a:t>
            </a:r>
          </a:p>
          <a:p>
            <a:pPr lvl="0"/>
            <a:r>
              <a:rPr lang="en-US" dirty="0" smtClean="0"/>
              <a:t> Letter of recommendation from Board of Investment for issuing Bonded Warehouse License.</a:t>
            </a:r>
          </a:p>
          <a:p>
            <a:endParaRPr lang="en-US" dirty="0"/>
          </a:p>
        </p:txBody>
      </p:sp>
      <p:sp>
        <p:nvSpPr>
          <p:cNvPr id="2" name="Title 1"/>
          <p:cNvSpPr>
            <a:spLocks noGrp="1"/>
          </p:cNvSpPr>
          <p:nvPr>
            <p:ph type="title"/>
          </p:nvPr>
        </p:nvSpPr>
        <p:spPr>
          <a:xfrm>
            <a:off x="457200" y="0"/>
            <a:ext cx="8229600" cy="1112838"/>
          </a:xfrm>
        </p:spPr>
        <p:txBody>
          <a:bodyPr>
            <a:noAutofit/>
          </a:bodyPr>
          <a:lstStyle/>
          <a:p>
            <a:r>
              <a:rPr lang="en-US" sz="3200" dirty="0" smtClean="0"/>
              <a:t>You have to submit your application along with the following documents</a:t>
            </a: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1328"/>
            <a:ext cx="8229600" cy="4919472"/>
          </a:xfrm>
        </p:spPr>
        <p:txBody>
          <a:bodyPr>
            <a:normAutofit/>
          </a:bodyPr>
          <a:lstStyle/>
          <a:p>
            <a:pPr lvl="0"/>
            <a:r>
              <a:rPr lang="en-US" sz="3200" dirty="0" smtClean="0">
                <a:latin typeface="Times New Roman" pitchFamily="18" charset="0"/>
                <a:cs typeface="Times New Roman" pitchFamily="18" charset="0"/>
              </a:rPr>
              <a:t>Treasury </a:t>
            </a:r>
            <a:r>
              <a:rPr lang="en-US" sz="3200" dirty="0" err="1" smtClean="0">
                <a:latin typeface="Times New Roman" pitchFamily="18" charset="0"/>
                <a:cs typeface="Times New Roman" pitchFamily="18" charset="0"/>
              </a:rPr>
              <a:t>challan</a:t>
            </a:r>
            <a:r>
              <a:rPr lang="en-US" sz="3200" dirty="0" smtClean="0">
                <a:latin typeface="Times New Roman" pitchFamily="18" charset="0"/>
                <a:cs typeface="Times New Roman" pitchFamily="18" charset="0"/>
              </a:rPr>
              <a:t> for payment of Taka 1000 as license fee.</a:t>
            </a:r>
          </a:p>
          <a:p>
            <a:pPr lvl="0"/>
            <a:r>
              <a:rPr lang="en-US" sz="3200" dirty="0" smtClean="0">
                <a:latin typeface="Times New Roman" pitchFamily="18" charset="0"/>
                <a:cs typeface="Times New Roman" pitchFamily="18" charset="0"/>
              </a:rPr>
              <a:t>Nationality Certificate.</a:t>
            </a:r>
          </a:p>
          <a:p>
            <a:pPr lvl="0"/>
            <a:r>
              <a:rPr lang="en-US" sz="3200" dirty="0" smtClean="0">
                <a:latin typeface="Times New Roman" pitchFamily="18" charset="0"/>
                <a:cs typeface="Times New Roman" pitchFamily="18" charset="0"/>
              </a:rPr>
              <a:t>Two copies of passport size photographs for every director/owner.</a:t>
            </a:r>
          </a:p>
          <a:p>
            <a:pPr lvl="0"/>
            <a:r>
              <a:rPr lang="en-US" sz="3200" dirty="0" smtClean="0">
                <a:latin typeface="Times New Roman" pitchFamily="18" charset="0"/>
                <a:cs typeface="Times New Roman" pitchFamily="18" charset="0"/>
              </a:rPr>
              <a:t>Documents of machinery imports</a:t>
            </a:r>
          </a:p>
          <a:p>
            <a:pPr lvl="0"/>
            <a:r>
              <a:rPr lang="en-US" sz="3200" dirty="0" smtClean="0">
                <a:latin typeface="Times New Roman" pitchFamily="18" charset="0"/>
                <a:cs typeface="Times New Roman" pitchFamily="18" charset="0"/>
              </a:rPr>
              <a:t>Two sets of layout plan of the factory.</a:t>
            </a:r>
          </a:p>
          <a:p>
            <a:pPr lvl="0"/>
            <a:r>
              <a:rPr lang="en-US" sz="3200" dirty="0" smtClean="0">
                <a:latin typeface="Times New Roman" pitchFamily="18" charset="0"/>
                <a:cs typeface="Times New Roman" pitchFamily="18" charset="0"/>
              </a:rPr>
              <a:t>Certificate from the Fire Service Department.</a:t>
            </a:r>
          </a:p>
          <a:p>
            <a:pPr lvl="0"/>
            <a:r>
              <a:rPr lang="en-US" sz="3200" dirty="0" smtClean="0">
                <a:latin typeface="Times New Roman" pitchFamily="18" charset="0"/>
                <a:cs typeface="Times New Roman" pitchFamily="18" charset="0"/>
              </a:rPr>
              <a:t>Declaration in a Tk. 100/- non-judicial</a:t>
            </a:r>
          </a:p>
          <a:p>
            <a:endParaRPr lang="en-US" sz="3200" dirty="0">
              <a:latin typeface="Times New Roman" pitchFamily="18" charset="0"/>
              <a:cs typeface="Times New Roman" pitchFamily="18" charset="0"/>
            </a:endParaRPr>
          </a:p>
        </p:txBody>
      </p:sp>
      <p:sp>
        <p:nvSpPr>
          <p:cNvPr id="2" name="Title 1"/>
          <p:cNvSpPr>
            <a:spLocks noGrp="1"/>
          </p:cNvSpPr>
          <p:nvPr>
            <p:ph type="title"/>
          </p:nvPr>
        </p:nvSpPr>
        <p:spPr/>
        <p:txBody>
          <a:bodyPr/>
          <a:lstStyle/>
          <a:p>
            <a:r>
              <a:rPr lang="en-US" dirty="0" smtClean="0"/>
              <a:t>Continued….</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1328"/>
            <a:ext cx="8305800" cy="5148072"/>
          </a:xfrm>
        </p:spPr>
        <p:txBody>
          <a:bodyPr>
            <a:noAutofit/>
          </a:bodyPr>
          <a:lstStyle/>
          <a:p>
            <a:r>
              <a:rPr lang="en-US" sz="3000" dirty="0" smtClean="0">
                <a:latin typeface="Times New Roman" pitchFamily="18" charset="0"/>
                <a:cs typeface="Times New Roman" pitchFamily="18" charset="0"/>
              </a:rPr>
              <a:t>Bangladesh Standards and Testing Institution (BSTI) is the authority in Bangladesh which gives certificate for standard of products.</a:t>
            </a:r>
          </a:p>
          <a:p>
            <a:r>
              <a:rPr lang="en-US" sz="3000" dirty="0" smtClean="0">
                <a:latin typeface="Times New Roman" pitchFamily="18" charset="0"/>
                <a:cs typeface="Times New Roman" pitchFamily="18" charset="0"/>
              </a:rPr>
              <a:t>To ensure such quality and standard, Government of Bangladesh has setup BSTI and wants to safeguard the interest of consumer. </a:t>
            </a:r>
          </a:p>
          <a:p>
            <a:r>
              <a:rPr lang="en-US" sz="3000" dirty="0" smtClean="0">
                <a:latin typeface="Times New Roman" pitchFamily="18" charset="0"/>
                <a:cs typeface="Times New Roman" pitchFamily="18" charset="0"/>
              </a:rPr>
              <a:t>BSTI issues such license after conduction test as to quality and conducts inspection time to time in the market whether the concerned manufacturer ensure quality as perceived, tested and certified by it.</a:t>
            </a:r>
            <a:endParaRPr lang="en-US" sz="3000" dirty="0">
              <a:latin typeface="Times New Roman" pitchFamily="18" charset="0"/>
              <a:cs typeface="Times New Roman" pitchFamily="18" charset="0"/>
            </a:endParaRPr>
          </a:p>
        </p:txBody>
      </p:sp>
      <p:sp>
        <p:nvSpPr>
          <p:cNvPr id="2" name="Title 1"/>
          <p:cNvSpPr>
            <a:spLocks noGrp="1"/>
          </p:cNvSpPr>
          <p:nvPr>
            <p:ph type="title"/>
          </p:nvPr>
        </p:nvSpPr>
        <p:spPr>
          <a:xfrm>
            <a:off x="457200" y="533400"/>
            <a:ext cx="8229600" cy="884238"/>
          </a:xfrm>
        </p:spPr>
        <p:txBody>
          <a:bodyPr>
            <a:normAutofit fontScale="90000"/>
          </a:bodyPr>
          <a:lstStyle/>
          <a:p>
            <a:r>
              <a:rPr lang="en-US" dirty="0" smtClean="0"/>
              <a:t>BSTI License</a:t>
            </a:r>
            <a:br>
              <a:rPr lang="en-US" dirty="0" smtClean="0"/>
            </a:b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81328"/>
            <a:ext cx="8534400" cy="4525963"/>
          </a:xfrm>
        </p:spPr>
        <p:txBody>
          <a:bodyPr>
            <a:noAutofit/>
          </a:bodyPr>
          <a:lstStyle/>
          <a:p>
            <a:r>
              <a:rPr lang="en-US" sz="3200" u="sng" dirty="0" smtClean="0">
                <a:latin typeface="Times New Roman" pitchFamily="18" charset="0"/>
                <a:cs typeface="Times New Roman" pitchFamily="18" charset="0"/>
                <a:hlinkClick r:id="rId2"/>
              </a:rPr>
              <a:t>Bangladesh Standards and Testing Institution (BSTI)</a:t>
            </a:r>
            <a:r>
              <a:rPr lang="en-US" sz="3200" dirty="0" smtClean="0">
                <a:latin typeface="Times New Roman" pitchFamily="18" charset="0"/>
                <a:cs typeface="Times New Roman" pitchFamily="18" charset="0"/>
              </a:rPr>
              <a:t>  provide two kinds of product certification:</a:t>
            </a:r>
          </a:p>
          <a:p>
            <a:r>
              <a:rPr lang="en-US" sz="3200" dirty="0" smtClean="0">
                <a:latin typeface="Times New Roman" pitchFamily="18" charset="0"/>
                <a:cs typeface="Times New Roman" pitchFamily="18" charset="0"/>
              </a:rPr>
              <a:t>a) Mandatory Certification </a:t>
            </a:r>
            <a:r>
              <a:rPr lang="en-US" sz="3200" u="sng" dirty="0" smtClean="0">
                <a:latin typeface="Times New Roman" pitchFamily="18" charset="0"/>
                <a:cs typeface="Times New Roman" pitchFamily="18" charset="0"/>
                <a:hlinkClick r:id="rId3"/>
              </a:rPr>
              <a:t>(List of mandatory certification products)</a:t>
            </a:r>
            <a:r>
              <a:rPr lang="en-US" sz="3200" dirty="0" smtClean="0">
                <a:latin typeface="Times New Roman" pitchFamily="18" charset="0"/>
                <a:cs typeface="Times New Roman" pitchFamily="18" charset="0"/>
              </a:rPr>
              <a:t> where you cannot launch your product without a certificate from BSTI</a:t>
            </a:r>
          </a:p>
          <a:p>
            <a:r>
              <a:rPr lang="en-US" sz="3200" dirty="0" smtClean="0">
                <a:latin typeface="Times New Roman" pitchFamily="18" charset="0"/>
                <a:cs typeface="Times New Roman" pitchFamily="18" charset="0"/>
              </a:rPr>
              <a:t>b) Voluntary Certification where you can launch your product but a BSTI certificate gives you extra credibility benefits.</a:t>
            </a:r>
          </a:p>
          <a:p>
            <a:endParaRPr lang="en-US" sz="3200" dirty="0">
              <a:latin typeface="Times New Roman" pitchFamily="18" charset="0"/>
              <a:cs typeface="Times New Roman" pitchFamily="18" charset="0"/>
            </a:endParaRPr>
          </a:p>
        </p:txBody>
      </p:sp>
      <p:sp>
        <p:nvSpPr>
          <p:cNvPr id="2" name="Title 1"/>
          <p:cNvSpPr>
            <a:spLocks noGrp="1"/>
          </p:cNvSpPr>
          <p:nvPr>
            <p:ph type="title"/>
          </p:nvPr>
        </p:nvSpPr>
        <p:spPr/>
        <p:txBody>
          <a:bodyPr/>
          <a:lstStyle/>
          <a:p>
            <a:r>
              <a:rPr lang="en-US" dirty="0" smtClean="0"/>
              <a:t>BSTI License</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200" dirty="0" smtClean="0">
                <a:latin typeface="Times New Roman" pitchFamily="18" charset="0"/>
                <a:cs typeface="Times New Roman" pitchFamily="18" charset="0"/>
              </a:rPr>
              <a:t>TIN is a unique number NBR (National Board of Revenue)  provide if apply anybody. </a:t>
            </a:r>
          </a:p>
          <a:p>
            <a:r>
              <a:rPr lang="en-US" sz="3200" dirty="0" smtClean="0">
                <a:latin typeface="Times New Roman" pitchFamily="18" charset="0"/>
                <a:cs typeface="Times New Roman" pitchFamily="18" charset="0"/>
              </a:rPr>
              <a:t>At present about forty </a:t>
            </a:r>
            <a:r>
              <a:rPr lang="en-US" sz="3200" dirty="0" err="1" smtClean="0">
                <a:latin typeface="Times New Roman" pitchFamily="18" charset="0"/>
                <a:cs typeface="Times New Roman" pitchFamily="18" charset="0"/>
              </a:rPr>
              <a:t>lac</a:t>
            </a:r>
            <a:r>
              <a:rPr lang="en-US" sz="3200" dirty="0" smtClean="0">
                <a:latin typeface="Times New Roman" pitchFamily="18" charset="0"/>
                <a:cs typeface="Times New Roman" pitchFamily="18" charset="0"/>
              </a:rPr>
              <a:t> TIN Certificate holder in Bangladesh of which only eight </a:t>
            </a:r>
            <a:r>
              <a:rPr lang="en-US" sz="3200" dirty="0" err="1" smtClean="0">
                <a:latin typeface="Times New Roman" pitchFamily="18" charset="0"/>
                <a:cs typeface="Times New Roman" pitchFamily="18" charset="0"/>
              </a:rPr>
              <a:t>lac</a:t>
            </a:r>
            <a:r>
              <a:rPr lang="en-US" sz="3200" dirty="0" smtClean="0">
                <a:latin typeface="Times New Roman" pitchFamily="18" charset="0"/>
                <a:cs typeface="Times New Roman" pitchFamily="18" charset="0"/>
              </a:rPr>
              <a:t> pay tax.</a:t>
            </a:r>
          </a:p>
          <a:p>
            <a:endParaRPr lang="en-US" sz="3200" dirty="0">
              <a:latin typeface="Times New Roman" pitchFamily="18" charset="0"/>
              <a:cs typeface="Times New Roman" pitchFamily="18" charset="0"/>
            </a:endParaRPr>
          </a:p>
        </p:txBody>
      </p:sp>
      <p:sp>
        <p:nvSpPr>
          <p:cNvPr id="2" name="Title 1"/>
          <p:cNvSpPr>
            <a:spLocks noGrp="1"/>
          </p:cNvSpPr>
          <p:nvPr>
            <p:ph type="title"/>
          </p:nvPr>
        </p:nvSpPr>
        <p:spPr>
          <a:xfrm>
            <a:off x="457200" y="685800"/>
            <a:ext cx="8229600" cy="731838"/>
          </a:xfrm>
        </p:spPr>
        <p:txBody>
          <a:bodyPr>
            <a:normAutofit fontScale="90000"/>
          </a:bodyPr>
          <a:lstStyle/>
          <a:p>
            <a:r>
              <a:rPr lang="en-US" b="1" dirty="0" smtClean="0"/>
              <a:t>Taxpayer’s Identification Number</a:t>
            </a:r>
            <a:r>
              <a:rPr lang="en-US" dirty="0" smtClean="0"/>
              <a:t> (TIN) Certificate</a:t>
            </a:r>
            <a:r>
              <a:rPr lang="en-US" b="1" dirty="0" smtClean="0"/>
              <a:t/>
            </a:r>
            <a:br>
              <a:rPr lang="en-US" b="1" dirty="0" smtClean="0"/>
            </a:b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r>
              <a:rPr lang="en-US" sz="3200" dirty="0" smtClean="0">
                <a:latin typeface="Times New Roman" pitchFamily="18" charset="0"/>
                <a:cs typeface="Times New Roman" pitchFamily="18" charset="0"/>
              </a:rPr>
              <a:t>Write an application to the Deputy Commissioner of Taxes of respective area showing why the TIN Certificate has needed.</a:t>
            </a:r>
          </a:p>
          <a:p>
            <a:pPr lvl="0"/>
            <a:r>
              <a:rPr lang="en-US" sz="3200" dirty="0" smtClean="0">
                <a:latin typeface="Times New Roman" pitchFamily="18" charset="0"/>
                <a:cs typeface="Times New Roman" pitchFamily="18" charset="0"/>
              </a:rPr>
              <a:t>Fill-up TIN Application Form.</a:t>
            </a:r>
          </a:p>
          <a:p>
            <a:pPr lvl="0"/>
            <a:r>
              <a:rPr lang="en-US" sz="3200" dirty="0" smtClean="0">
                <a:latin typeface="Times New Roman" pitchFamily="18" charset="0"/>
                <a:cs typeface="Times New Roman" pitchFamily="18" charset="0"/>
              </a:rPr>
              <a:t>Enclosed 2 copies of photographs</a:t>
            </a:r>
          </a:p>
          <a:p>
            <a:pPr lvl="0"/>
            <a:r>
              <a:rPr lang="en-US" sz="3200" dirty="0" smtClean="0">
                <a:latin typeface="Times New Roman" pitchFamily="18" charset="0"/>
                <a:cs typeface="Times New Roman" pitchFamily="18" charset="0"/>
              </a:rPr>
              <a:t>Enclosed photocopy of National ID/ photocopy of pass port</a:t>
            </a:r>
          </a:p>
          <a:p>
            <a:endParaRPr lang="en-US" sz="3200" dirty="0">
              <a:latin typeface="Times New Roman" pitchFamily="18" charset="0"/>
              <a:cs typeface="Times New Roman" pitchFamily="18" charset="0"/>
            </a:endParaRPr>
          </a:p>
        </p:txBody>
      </p:sp>
      <p:sp>
        <p:nvSpPr>
          <p:cNvPr id="2" name="Title 1"/>
          <p:cNvSpPr>
            <a:spLocks noGrp="1"/>
          </p:cNvSpPr>
          <p:nvPr>
            <p:ph type="title"/>
          </p:nvPr>
        </p:nvSpPr>
        <p:spPr/>
        <p:txBody>
          <a:bodyPr>
            <a:normAutofit fontScale="90000"/>
          </a:bodyPr>
          <a:lstStyle/>
          <a:p>
            <a:r>
              <a:rPr lang="en-US" dirty="0" smtClean="0"/>
              <a:t>How do you get a TIN?</a:t>
            </a:r>
            <a:r>
              <a:rPr lang="en-US" b="1" dirty="0" smtClean="0"/>
              <a:t/>
            </a:r>
            <a:br>
              <a:rPr lang="en-US" b="1" dirty="0" smtClean="0"/>
            </a:b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05000"/>
            <a:ext cx="8229600" cy="4102291"/>
          </a:xfrm>
        </p:spPr>
        <p:txBody>
          <a:bodyPr>
            <a:normAutofit/>
          </a:bodyPr>
          <a:lstStyle/>
          <a:p>
            <a:r>
              <a:rPr lang="en-US" sz="3200" b="1" dirty="0" smtClean="0">
                <a:latin typeface="Times New Roman" pitchFamily="18" charset="0"/>
                <a:cs typeface="Times New Roman" pitchFamily="18" charset="0"/>
              </a:rPr>
              <a:t> </a:t>
            </a:r>
            <a:r>
              <a:rPr lang="en-US" sz="3200" dirty="0" smtClean="0">
                <a:latin typeface="Times New Roman" pitchFamily="18" charset="0"/>
                <a:cs typeface="Times New Roman" pitchFamily="18" charset="0"/>
              </a:rPr>
              <a:t>This process will be done by online. NRB has published a circular about this matter. </a:t>
            </a:r>
          </a:p>
          <a:p>
            <a:r>
              <a:rPr lang="en-US" sz="3200" dirty="0" smtClean="0">
                <a:latin typeface="Times New Roman" pitchFamily="18" charset="0"/>
                <a:cs typeface="Times New Roman" pitchFamily="18" charset="0"/>
              </a:rPr>
              <a:t>The old TIN is 10 digit numbers. But in the new system, </a:t>
            </a:r>
            <a:r>
              <a:rPr lang="en-US" sz="3200" b="1" dirty="0" smtClean="0">
                <a:latin typeface="Times New Roman" pitchFamily="18" charset="0"/>
                <a:cs typeface="Times New Roman" pitchFamily="18" charset="0"/>
              </a:rPr>
              <a:t>TAX Identification Number (TIN) </a:t>
            </a:r>
            <a:r>
              <a:rPr lang="en-US" sz="3200" dirty="0" smtClean="0">
                <a:latin typeface="Times New Roman" pitchFamily="18" charset="0"/>
                <a:cs typeface="Times New Roman" pitchFamily="18" charset="0"/>
              </a:rPr>
              <a:t>number will be a 12 digit number. </a:t>
            </a:r>
          </a:p>
          <a:p>
            <a:r>
              <a:rPr lang="en-US" sz="3200" dirty="0" smtClean="0">
                <a:latin typeface="Times New Roman" pitchFamily="18" charset="0"/>
                <a:cs typeface="Times New Roman" pitchFamily="18" charset="0"/>
              </a:rPr>
              <a:t>All new taxpayer will get 12 digit number, also existing Tax payer also have to get new </a:t>
            </a:r>
            <a:r>
              <a:rPr lang="en-US" sz="3200" b="1" dirty="0" smtClean="0">
                <a:latin typeface="Times New Roman" pitchFamily="18" charset="0"/>
                <a:cs typeface="Times New Roman" pitchFamily="18" charset="0"/>
              </a:rPr>
              <a:t>12 digit TIN number</a:t>
            </a:r>
            <a:r>
              <a:rPr lang="en-US" sz="3200" dirty="0" smtClean="0">
                <a:latin typeface="Times New Roman" pitchFamily="18" charset="0"/>
                <a:cs typeface="Times New Roman" pitchFamily="18" charset="0"/>
              </a:rPr>
              <a:t>. </a:t>
            </a:r>
            <a:endParaRPr lang="en-US" sz="3200" dirty="0">
              <a:latin typeface="Times New Roman" pitchFamily="18" charset="0"/>
              <a:cs typeface="Times New Roman" pitchFamily="18" charset="0"/>
            </a:endParaRPr>
          </a:p>
        </p:txBody>
      </p:sp>
      <p:sp>
        <p:nvSpPr>
          <p:cNvPr id="2" name="Title 1"/>
          <p:cNvSpPr>
            <a:spLocks noGrp="1"/>
          </p:cNvSpPr>
          <p:nvPr>
            <p:ph type="title"/>
          </p:nvPr>
        </p:nvSpPr>
        <p:spPr>
          <a:xfrm>
            <a:off x="457200" y="228600"/>
            <a:ext cx="8382000" cy="1600200"/>
          </a:xfrm>
        </p:spPr>
        <p:txBody>
          <a:bodyPr>
            <a:normAutofit fontScale="90000"/>
          </a:bodyPr>
          <a:lstStyle/>
          <a:p>
            <a:r>
              <a:rPr lang="en-US" b="1" dirty="0" err="1" smtClean="0"/>
              <a:t>eTIN</a:t>
            </a:r>
            <a:r>
              <a:rPr lang="en-US" b="1" dirty="0" smtClean="0"/>
              <a:t> registration which means Electronic Tax Identification Number</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481328"/>
            <a:ext cx="8458200" cy="4525963"/>
          </a:xfrm>
        </p:spPr>
        <p:txBody>
          <a:bodyPr>
            <a:noAutofit/>
          </a:bodyPr>
          <a:lstStyle/>
          <a:p>
            <a:r>
              <a:rPr lang="en-US" sz="3200" dirty="0" smtClean="0">
                <a:latin typeface="Times New Roman" pitchFamily="18" charset="0"/>
                <a:cs typeface="Times New Roman" pitchFamily="18" charset="0"/>
              </a:rPr>
              <a:t>For VAT purposes, companies may be registered separately with the Customs, Excise, and VAT Commission (under the NBR).</a:t>
            </a:r>
          </a:p>
          <a:p>
            <a:r>
              <a:rPr lang="en-US" sz="3200" dirty="0" smtClean="0">
                <a:latin typeface="Times New Roman" pitchFamily="18" charset="0"/>
                <a:cs typeface="Times New Roman" pitchFamily="18" charset="0"/>
              </a:rPr>
              <a:t> VAT is to be paid on value added by manufacturer, Importer, Exporter, Traders at different stages of their working.</a:t>
            </a:r>
          </a:p>
          <a:p>
            <a:r>
              <a:rPr lang="en-US" sz="3200" dirty="0" smtClean="0">
                <a:latin typeface="Times New Roman" pitchFamily="18" charset="0"/>
                <a:cs typeface="Times New Roman" pitchFamily="18" charset="0"/>
              </a:rPr>
              <a:t>Online VAT registration has been just launched in BD</a:t>
            </a:r>
            <a:endParaRPr lang="en-US" sz="3200" dirty="0">
              <a:latin typeface="Times New Roman" pitchFamily="18" charset="0"/>
              <a:cs typeface="Times New Roman" pitchFamily="18" charset="0"/>
            </a:endParaRPr>
          </a:p>
        </p:txBody>
      </p:sp>
      <p:sp>
        <p:nvSpPr>
          <p:cNvPr id="2" name="Title 1"/>
          <p:cNvSpPr>
            <a:spLocks noGrp="1"/>
          </p:cNvSpPr>
          <p:nvPr>
            <p:ph type="title"/>
          </p:nvPr>
        </p:nvSpPr>
        <p:spPr/>
        <p:txBody>
          <a:bodyPr>
            <a:normAutofit fontScale="90000"/>
          </a:bodyPr>
          <a:lstStyle/>
          <a:p>
            <a:r>
              <a:rPr lang="en-US" b="1" dirty="0" smtClean="0"/>
              <a:t>Registration of Value Added Tax (VAT)</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1328"/>
            <a:ext cx="8229600" cy="4843272"/>
          </a:xfrm>
        </p:spPr>
        <p:txBody>
          <a:bodyPr>
            <a:noAutofit/>
          </a:bodyPr>
          <a:lstStyle/>
          <a:p>
            <a:r>
              <a:rPr lang="en-US" sz="3200" dirty="0" smtClean="0">
                <a:latin typeface="Times New Roman" pitchFamily="18" charset="0"/>
                <a:cs typeface="Times New Roman" pitchFamily="18" charset="0"/>
              </a:rPr>
              <a:t>A trademark is a </a:t>
            </a:r>
            <a:r>
              <a:rPr lang="en-US" sz="3200" b="1" dirty="0" smtClean="0">
                <a:latin typeface="Times New Roman" pitchFamily="18" charset="0"/>
                <a:cs typeface="Times New Roman" pitchFamily="18" charset="0"/>
              </a:rPr>
              <a:t>distinctive sign</a:t>
            </a:r>
            <a:r>
              <a:rPr lang="en-US" sz="3200" dirty="0" smtClean="0">
                <a:latin typeface="Times New Roman" pitchFamily="18" charset="0"/>
                <a:cs typeface="Times New Roman" pitchFamily="18" charset="0"/>
              </a:rPr>
              <a:t> which identifies certain goods or services as those produced or provided by a specific person or enterprise.</a:t>
            </a:r>
          </a:p>
          <a:p>
            <a:r>
              <a:rPr lang="en-US" sz="3200" dirty="0" smtClean="0">
                <a:latin typeface="Times New Roman" pitchFamily="18" charset="0"/>
                <a:cs typeface="Times New Roman" pitchFamily="18" charset="0"/>
              </a:rPr>
              <a:t>In Bangladesh trademarks and service marks are registered under The Trademarks Act- 2009. Registration provides 7 years protection; it can be renewed every after 10 year on payment of renewal fees.</a:t>
            </a:r>
          </a:p>
          <a:p>
            <a:endParaRPr lang="en-US" sz="3200" dirty="0">
              <a:latin typeface="Times New Roman" pitchFamily="18" charset="0"/>
              <a:cs typeface="Times New Roman" pitchFamily="18" charset="0"/>
            </a:endParaRPr>
          </a:p>
        </p:txBody>
      </p:sp>
      <p:sp>
        <p:nvSpPr>
          <p:cNvPr id="2" name="Title 1"/>
          <p:cNvSpPr>
            <a:spLocks noGrp="1"/>
          </p:cNvSpPr>
          <p:nvPr>
            <p:ph type="title"/>
          </p:nvPr>
        </p:nvSpPr>
        <p:spPr/>
        <p:txBody>
          <a:bodyPr/>
          <a:lstStyle/>
          <a:p>
            <a:r>
              <a:rPr lang="en-US" b="1" dirty="0" smtClean="0"/>
              <a:t>Trade Mark Registration</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 result for images of trademarks"/>
          <p:cNvPicPr/>
          <p:nvPr/>
        </p:nvPicPr>
        <p:blipFill>
          <a:blip r:embed="rId2" cstate="print"/>
          <a:srcRect/>
          <a:stretch>
            <a:fillRect/>
          </a:stretch>
        </p:blipFill>
        <p:spPr bwMode="auto">
          <a:xfrm>
            <a:off x="838201" y="838200"/>
            <a:ext cx="7162800" cy="46482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1328"/>
            <a:ext cx="8229600" cy="4843272"/>
          </a:xfrm>
        </p:spPr>
        <p:txBody>
          <a:bodyPr>
            <a:noAutofit/>
          </a:bodyPr>
          <a:lstStyle/>
          <a:p>
            <a:r>
              <a:rPr lang="en-US" sz="3200" dirty="0" smtClean="0">
                <a:latin typeface="Times New Roman" pitchFamily="18" charset="0"/>
                <a:cs typeface="Times New Roman" pitchFamily="18" charset="0"/>
              </a:rPr>
              <a:t>A patent is an exclusive right granted for an </a:t>
            </a:r>
            <a:r>
              <a:rPr lang="en-US" sz="3200" b="1" dirty="0" smtClean="0">
                <a:latin typeface="Times New Roman" pitchFamily="18" charset="0"/>
                <a:cs typeface="Times New Roman" pitchFamily="18" charset="0"/>
              </a:rPr>
              <a:t>invention,</a:t>
            </a:r>
            <a:r>
              <a:rPr lang="en-US" sz="3200" dirty="0" smtClean="0">
                <a:latin typeface="Times New Roman" pitchFamily="18" charset="0"/>
                <a:cs typeface="Times New Roman" pitchFamily="18" charset="0"/>
              </a:rPr>
              <a:t> which is a </a:t>
            </a:r>
            <a:r>
              <a:rPr lang="en-US" sz="3200" b="1" dirty="0" smtClean="0">
                <a:latin typeface="Times New Roman" pitchFamily="18" charset="0"/>
                <a:cs typeface="Times New Roman" pitchFamily="18" charset="0"/>
              </a:rPr>
              <a:t>product </a:t>
            </a:r>
            <a:r>
              <a:rPr lang="en-US" sz="3200" dirty="0" smtClean="0">
                <a:latin typeface="Times New Roman" pitchFamily="18" charset="0"/>
                <a:cs typeface="Times New Roman" pitchFamily="18" charset="0"/>
              </a:rPr>
              <a:t>or a </a:t>
            </a:r>
            <a:r>
              <a:rPr lang="en-US" sz="3200" b="1" dirty="0" smtClean="0">
                <a:latin typeface="Times New Roman" pitchFamily="18" charset="0"/>
                <a:cs typeface="Times New Roman" pitchFamily="18" charset="0"/>
              </a:rPr>
              <a:t>process</a:t>
            </a:r>
            <a:r>
              <a:rPr lang="en-US" sz="3200" dirty="0" smtClean="0">
                <a:latin typeface="Times New Roman" pitchFamily="18" charset="0"/>
                <a:cs typeface="Times New Roman" pitchFamily="18" charset="0"/>
              </a:rPr>
              <a:t> that provides, in general, a new way of doing something, or offers a new technical solution to a problem.</a:t>
            </a:r>
          </a:p>
          <a:p>
            <a:r>
              <a:rPr lang="en-US" sz="3200" dirty="0" smtClean="0">
                <a:latin typeface="Times New Roman" pitchFamily="18" charset="0"/>
                <a:cs typeface="Times New Roman" pitchFamily="18" charset="0"/>
              </a:rPr>
              <a:t>Under the Patents and Designs Act -1911 patents are granted. </a:t>
            </a:r>
          </a:p>
          <a:p>
            <a:r>
              <a:rPr lang="en-US" sz="3200" dirty="0" smtClean="0">
                <a:latin typeface="Times New Roman" pitchFamily="18" charset="0"/>
                <a:cs typeface="Times New Roman" pitchFamily="18" charset="0"/>
              </a:rPr>
              <a:t>Patents provide 16 years protection from the date of filing of the application.</a:t>
            </a:r>
          </a:p>
          <a:p>
            <a:endParaRPr lang="en-US" sz="3200" dirty="0">
              <a:latin typeface="Times New Roman" pitchFamily="18" charset="0"/>
              <a:cs typeface="Times New Roman" pitchFamily="18" charset="0"/>
            </a:endParaRPr>
          </a:p>
        </p:txBody>
      </p:sp>
      <p:sp>
        <p:nvSpPr>
          <p:cNvPr id="2" name="Title 1"/>
          <p:cNvSpPr>
            <a:spLocks noGrp="1"/>
          </p:cNvSpPr>
          <p:nvPr>
            <p:ph type="title"/>
          </p:nvPr>
        </p:nvSpPr>
        <p:spPr/>
        <p:txBody>
          <a:bodyPr>
            <a:normAutofit fontScale="90000"/>
          </a:bodyPr>
          <a:lstStyle/>
          <a:p>
            <a:r>
              <a:rPr lang="en-US" b="1" dirty="0" smtClean="0"/>
              <a:t>Patents and Designs Registration</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200" dirty="0" smtClean="0">
                <a:latin typeface="Times New Roman" pitchFamily="18" charset="0"/>
                <a:cs typeface="Times New Roman" pitchFamily="18" charset="0"/>
              </a:rPr>
              <a:t>It is a form of intellectual property (like the patent, the trademark, and the trade secret) applicable to any expressible form of an idea or information that is substantive and discrete.</a:t>
            </a:r>
          </a:p>
          <a:p>
            <a:r>
              <a:rPr lang="en-US" sz="3200" dirty="0" smtClean="0">
                <a:latin typeface="Times New Roman" pitchFamily="18" charset="0"/>
                <a:cs typeface="Times New Roman" pitchFamily="18" charset="0"/>
              </a:rPr>
              <a:t>Copyrights are protected for original intellectual work of literature, art, music, software, etc. under the copyrights Act – 2000 (Amended in 2005). </a:t>
            </a:r>
            <a:endParaRPr lang="en-US" sz="3200" dirty="0">
              <a:latin typeface="Times New Roman" pitchFamily="18" charset="0"/>
              <a:cs typeface="Times New Roman" pitchFamily="18" charset="0"/>
            </a:endParaRPr>
          </a:p>
        </p:txBody>
      </p:sp>
      <p:sp>
        <p:nvSpPr>
          <p:cNvPr id="2" name="Title 1"/>
          <p:cNvSpPr>
            <a:spLocks noGrp="1"/>
          </p:cNvSpPr>
          <p:nvPr>
            <p:ph type="title"/>
          </p:nvPr>
        </p:nvSpPr>
        <p:spPr/>
        <p:txBody>
          <a:bodyPr/>
          <a:lstStyle/>
          <a:p>
            <a:r>
              <a:rPr lang="en-US" b="1" dirty="0" smtClean="0"/>
              <a:t>Copyrights Registration</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200" dirty="0" smtClean="0">
                <a:latin typeface="Times New Roman" pitchFamily="18" charset="0"/>
                <a:cs typeface="Times New Roman" pitchFamily="18" charset="0"/>
              </a:rPr>
              <a:t>Export Registration Certificate is a certificate of license that is needed to be Exporters in Bangladesh</a:t>
            </a:r>
          </a:p>
          <a:p>
            <a:r>
              <a:rPr lang="en-US" sz="3200" b="1" dirty="0" smtClean="0">
                <a:latin typeface="Times New Roman" pitchFamily="18" charset="0"/>
                <a:cs typeface="Times New Roman" pitchFamily="18" charset="0"/>
              </a:rPr>
              <a:t>Issuing Ministry</a:t>
            </a:r>
            <a:r>
              <a:rPr lang="en-US" sz="3200" dirty="0" smtClean="0">
                <a:latin typeface="Times New Roman" pitchFamily="18" charset="0"/>
                <a:cs typeface="Times New Roman" pitchFamily="18" charset="0"/>
              </a:rPr>
              <a:t>: Ministry of Commerce</a:t>
            </a:r>
          </a:p>
          <a:p>
            <a:pPr fontAlgn="base"/>
            <a:r>
              <a:rPr lang="en-US" sz="3200" dirty="0" smtClean="0">
                <a:latin typeface="Times New Roman" pitchFamily="18" charset="0"/>
                <a:cs typeface="Times New Roman" pitchFamily="18" charset="0"/>
              </a:rPr>
              <a:t>Name: Office of Chief Controller of Imports and Exports (CCI&amp;E)</a:t>
            </a:r>
          </a:p>
          <a:p>
            <a:pPr fontAlgn="base"/>
            <a:r>
              <a:rPr lang="en-US" sz="3200" dirty="0" smtClean="0">
                <a:latin typeface="Times New Roman" pitchFamily="18" charset="0"/>
                <a:cs typeface="Times New Roman" pitchFamily="18" charset="0"/>
              </a:rPr>
              <a:t>Address: 111-113, </a:t>
            </a:r>
            <a:r>
              <a:rPr lang="en-US" sz="3200" dirty="0" err="1" smtClean="0">
                <a:latin typeface="Times New Roman" pitchFamily="18" charset="0"/>
                <a:cs typeface="Times New Roman" pitchFamily="18" charset="0"/>
              </a:rPr>
              <a:t>Motijheel</a:t>
            </a:r>
            <a:r>
              <a:rPr lang="en-US" sz="3200" dirty="0" smtClean="0">
                <a:latin typeface="Times New Roman" pitchFamily="18" charset="0"/>
                <a:cs typeface="Times New Roman" pitchFamily="18" charset="0"/>
              </a:rPr>
              <a:t> C/A, Dhaka 1000</a:t>
            </a:r>
          </a:p>
          <a:p>
            <a:endParaRPr lang="en-US" sz="3200" dirty="0">
              <a:latin typeface="Times New Roman" pitchFamily="18" charset="0"/>
              <a:cs typeface="Times New Roman" pitchFamily="18" charset="0"/>
            </a:endParaRPr>
          </a:p>
        </p:txBody>
      </p:sp>
      <p:sp>
        <p:nvSpPr>
          <p:cNvPr id="2" name="Title 1"/>
          <p:cNvSpPr>
            <a:spLocks noGrp="1"/>
          </p:cNvSpPr>
          <p:nvPr>
            <p:ph type="title"/>
          </p:nvPr>
        </p:nvSpPr>
        <p:spPr/>
        <p:txBody>
          <a:bodyPr>
            <a:normAutofit fontScale="90000"/>
          </a:bodyPr>
          <a:lstStyle/>
          <a:p>
            <a:r>
              <a:rPr lang="en-US" dirty="0" smtClean="0"/>
              <a:t>Export Registration Certificate (ERC)</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81328"/>
            <a:ext cx="8534400" cy="5071872"/>
          </a:xfrm>
        </p:spPr>
        <p:txBody>
          <a:bodyPr>
            <a:noAutofit/>
          </a:bodyPr>
          <a:lstStyle/>
          <a:p>
            <a:r>
              <a:rPr lang="en-US" sz="2800" dirty="0" smtClean="0">
                <a:latin typeface="Times New Roman" pitchFamily="18" charset="0"/>
                <a:cs typeface="Times New Roman" pitchFamily="18" charset="0"/>
              </a:rPr>
              <a:t>For getting IRC following documents need to submit: </a:t>
            </a:r>
          </a:p>
          <a:p>
            <a:r>
              <a:rPr lang="en-US" sz="2800" dirty="0" smtClean="0">
                <a:latin typeface="Times New Roman" pitchFamily="18" charset="0"/>
                <a:cs typeface="Times New Roman" pitchFamily="18" charset="0"/>
              </a:rPr>
              <a:t>Photocopy of trade license</a:t>
            </a:r>
          </a:p>
          <a:p>
            <a:r>
              <a:rPr lang="en-US" sz="2800" dirty="0" smtClean="0">
                <a:latin typeface="Times New Roman" pitchFamily="18" charset="0"/>
                <a:cs typeface="Times New Roman" pitchFamily="18" charset="0"/>
              </a:rPr>
              <a:t>Copy of TIN</a:t>
            </a:r>
          </a:p>
          <a:p>
            <a:r>
              <a:rPr lang="en-US" sz="2800" dirty="0" smtClean="0">
                <a:latin typeface="Times New Roman" pitchFamily="18" charset="0"/>
                <a:cs typeface="Times New Roman" pitchFamily="18" charset="0"/>
              </a:rPr>
              <a:t>Copy of </a:t>
            </a:r>
            <a:r>
              <a:rPr lang="en-US" sz="2800" dirty="0" err="1" smtClean="0">
                <a:latin typeface="Times New Roman" pitchFamily="18" charset="0"/>
                <a:cs typeface="Times New Roman" pitchFamily="18" charset="0"/>
              </a:rPr>
              <a:t>MoA</a:t>
            </a:r>
            <a:r>
              <a:rPr lang="en-US" sz="2800" dirty="0" smtClean="0">
                <a:latin typeface="Times New Roman" pitchFamily="18" charset="0"/>
                <a:cs typeface="Times New Roman" pitchFamily="18" charset="0"/>
              </a:rPr>
              <a:t>, and </a:t>
            </a:r>
            <a:r>
              <a:rPr lang="en-US" sz="2800" dirty="0" err="1" smtClean="0">
                <a:latin typeface="Times New Roman" pitchFamily="18" charset="0"/>
                <a:cs typeface="Times New Roman" pitchFamily="18" charset="0"/>
              </a:rPr>
              <a:t>AoA</a:t>
            </a:r>
            <a:r>
              <a:rPr lang="en-US" sz="2800" dirty="0" smtClean="0">
                <a:latin typeface="Times New Roman" pitchFamily="18" charset="0"/>
                <a:cs typeface="Times New Roman" pitchFamily="18" charset="0"/>
              </a:rPr>
              <a:t> in case of company</a:t>
            </a:r>
          </a:p>
          <a:p>
            <a:r>
              <a:rPr lang="en-US" sz="2800" dirty="0" smtClean="0">
                <a:latin typeface="Times New Roman" pitchFamily="18" charset="0"/>
                <a:cs typeface="Times New Roman" pitchFamily="18" charset="0"/>
              </a:rPr>
              <a:t>Partnership agreement with registration copy</a:t>
            </a:r>
          </a:p>
          <a:p>
            <a:r>
              <a:rPr lang="en-US" sz="2800" dirty="0" smtClean="0">
                <a:latin typeface="Times New Roman" pitchFamily="18" charset="0"/>
                <a:cs typeface="Times New Roman" pitchFamily="18" charset="0"/>
              </a:rPr>
              <a:t>Bank solvency certificate</a:t>
            </a:r>
          </a:p>
          <a:p>
            <a:r>
              <a:rPr lang="en-US" sz="2800" dirty="0" smtClean="0">
                <a:latin typeface="Times New Roman" pitchFamily="18" charset="0"/>
                <a:cs typeface="Times New Roman" pitchFamily="18" charset="0"/>
              </a:rPr>
              <a:t>Main copy of treasury </a:t>
            </a:r>
            <a:r>
              <a:rPr lang="en-US" sz="2800" dirty="0" err="1" smtClean="0">
                <a:latin typeface="Times New Roman" pitchFamily="18" charset="0"/>
                <a:cs typeface="Times New Roman" pitchFamily="18" charset="0"/>
              </a:rPr>
              <a:t>challen</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Three copies of photograph of owner</a:t>
            </a:r>
          </a:p>
          <a:p>
            <a:r>
              <a:rPr lang="en-US" sz="2800" dirty="0" smtClean="0">
                <a:latin typeface="Times New Roman" pitchFamily="18" charset="0"/>
                <a:cs typeface="Times New Roman" pitchFamily="18" charset="0"/>
              </a:rPr>
              <a:t>Three copies of photograph of managing director</a:t>
            </a:r>
          </a:p>
          <a:p>
            <a:r>
              <a:rPr lang="en-US" sz="2800" dirty="0" smtClean="0">
                <a:latin typeface="Times New Roman" pitchFamily="18" charset="0"/>
                <a:cs typeface="Times New Roman" pitchFamily="18" charset="0"/>
              </a:rPr>
              <a:t>Membership certificate from chamber of commerce</a:t>
            </a:r>
          </a:p>
          <a:p>
            <a:r>
              <a:rPr lang="en-US" sz="2800" dirty="0" smtClean="0">
                <a:latin typeface="Times New Roman" pitchFamily="18" charset="0"/>
                <a:cs typeface="Times New Roman" pitchFamily="18" charset="0"/>
              </a:rPr>
              <a:t>National ID </a:t>
            </a:r>
            <a:endParaRPr lang="en-US" sz="2800" dirty="0">
              <a:latin typeface="Times New Roman" pitchFamily="18" charset="0"/>
              <a:cs typeface="Times New Roman" pitchFamily="18" charset="0"/>
            </a:endParaRPr>
          </a:p>
        </p:txBody>
      </p:sp>
      <p:sp>
        <p:nvSpPr>
          <p:cNvPr id="2" name="Title 1"/>
          <p:cNvSpPr>
            <a:spLocks noGrp="1"/>
          </p:cNvSpPr>
          <p:nvPr>
            <p:ph type="title"/>
          </p:nvPr>
        </p:nvSpPr>
        <p:spPr/>
        <p:txBody>
          <a:bodyPr/>
          <a:lstStyle/>
          <a:p>
            <a:r>
              <a:rPr lang="en-US" dirty="0" smtClean="0"/>
              <a:t>Export registration certificate</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200" dirty="0" smtClean="0">
                <a:latin typeface="Times New Roman" pitchFamily="18" charset="0"/>
                <a:cs typeface="Times New Roman" pitchFamily="18" charset="0"/>
              </a:rPr>
              <a:t>Office of Chief Controller of Imports and Exports (CCI&amp;E) works under Imports and Export (Control) Act, 1950. </a:t>
            </a:r>
          </a:p>
          <a:p>
            <a:r>
              <a:rPr lang="en-US" sz="3200" dirty="0" smtClean="0">
                <a:latin typeface="Times New Roman" pitchFamily="18" charset="0"/>
                <a:cs typeface="Times New Roman" pitchFamily="18" charset="0"/>
              </a:rPr>
              <a:t>It is responsible for: Issuing Import Registration Certificate (IRC) and Export Registration Certificate (ERC), Export and Import Permit, Monitoring and Evaluation of Import Statistics etc.</a:t>
            </a:r>
            <a:endParaRPr lang="en-US" sz="3200" dirty="0">
              <a:latin typeface="Times New Roman" pitchFamily="18" charset="0"/>
              <a:cs typeface="Times New Roman" pitchFamily="18" charset="0"/>
            </a:endParaRPr>
          </a:p>
        </p:txBody>
      </p:sp>
      <p:sp>
        <p:nvSpPr>
          <p:cNvPr id="2" name="Title 1"/>
          <p:cNvSpPr>
            <a:spLocks noGrp="1"/>
          </p:cNvSpPr>
          <p:nvPr>
            <p:ph type="title"/>
          </p:nvPr>
        </p:nvSpPr>
        <p:spPr/>
        <p:txBody>
          <a:bodyPr>
            <a:normAutofit fontScale="90000"/>
          </a:bodyPr>
          <a:lstStyle/>
          <a:p>
            <a:r>
              <a:rPr lang="en-US" dirty="0" smtClean="0"/>
              <a:t>Import Registration Certificate (IRC) </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481328"/>
            <a:ext cx="8534400" cy="5071872"/>
          </a:xfrm>
        </p:spPr>
        <p:txBody>
          <a:bodyPr>
            <a:noAutofit/>
          </a:bodyPr>
          <a:lstStyle/>
          <a:p>
            <a:r>
              <a:rPr lang="en-US" sz="2800" dirty="0" smtClean="0">
                <a:latin typeface="Times New Roman" pitchFamily="18" charset="0"/>
                <a:cs typeface="Times New Roman" pitchFamily="18" charset="0"/>
              </a:rPr>
              <a:t>For getting IRC following documents need to submit: </a:t>
            </a:r>
          </a:p>
          <a:p>
            <a:r>
              <a:rPr lang="en-US" sz="2800" dirty="0" smtClean="0">
                <a:latin typeface="Times New Roman" pitchFamily="18" charset="0"/>
                <a:cs typeface="Times New Roman" pitchFamily="18" charset="0"/>
              </a:rPr>
              <a:t>Photocopy of trade license</a:t>
            </a:r>
          </a:p>
          <a:p>
            <a:r>
              <a:rPr lang="en-US" sz="2800" dirty="0" smtClean="0">
                <a:latin typeface="Times New Roman" pitchFamily="18" charset="0"/>
                <a:cs typeface="Times New Roman" pitchFamily="18" charset="0"/>
              </a:rPr>
              <a:t>Copy of TIN</a:t>
            </a:r>
          </a:p>
          <a:p>
            <a:r>
              <a:rPr lang="en-US" sz="2800" dirty="0" smtClean="0">
                <a:latin typeface="Times New Roman" pitchFamily="18" charset="0"/>
                <a:cs typeface="Times New Roman" pitchFamily="18" charset="0"/>
              </a:rPr>
              <a:t>Copy of </a:t>
            </a:r>
            <a:r>
              <a:rPr lang="en-US" sz="2800" dirty="0" err="1" smtClean="0">
                <a:latin typeface="Times New Roman" pitchFamily="18" charset="0"/>
                <a:cs typeface="Times New Roman" pitchFamily="18" charset="0"/>
              </a:rPr>
              <a:t>MoA</a:t>
            </a:r>
            <a:r>
              <a:rPr lang="en-US" sz="2800" dirty="0" smtClean="0">
                <a:latin typeface="Times New Roman" pitchFamily="18" charset="0"/>
                <a:cs typeface="Times New Roman" pitchFamily="18" charset="0"/>
              </a:rPr>
              <a:t>, and </a:t>
            </a:r>
            <a:r>
              <a:rPr lang="en-US" sz="2800" dirty="0" err="1" smtClean="0">
                <a:latin typeface="Times New Roman" pitchFamily="18" charset="0"/>
                <a:cs typeface="Times New Roman" pitchFamily="18" charset="0"/>
              </a:rPr>
              <a:t>AoA</a:t>
            </a:r>
            <a:r>
              <a:rPr lang="en-US" sz="2800" dirty="0" smtClean="0">
                <a:latin typeface="Times New Roman" pitchFamily="18" charset="0"/>
                <a:cs typeface="Times New Roman" pitchFamily="18" charset="0"/>
              </a:rPr>
              <a:t> in case of company</a:t>
            </a:r>
          </a:p>
          <a:p>
            <a:r>
              <a:rPr lang="en-US" sz="2800" dirty="0" smtClean="0">
                <a:latin typeface="Times New Roman" pitchFamily="18" charset="0"/>
                <a:cs typeface="Times New Roman" pitchFamily="18" charset="0"/>
              </a:rPr>
              <a:t>Partnership agreement with registration copy</a:t>
            </a:r>
          </a:p>
          <a:p>
            <a:r>
              <a:rPr lang="en-US" sz="2800" dirty="0" smtClean="0">
                <a:latin typeface="Times New Roman" pitchFamily="18" charset="0"/>
                <a:cs typeface="Times New Roman" pitchFamily="18" charset="0"/>
              </a:rPr>
              <a:t>Bank solvency certificate</a:t>
            </a:r>
          </a:p>
          <a:p>
            <a:r>
              <a:rPr lang="en-US" sz="2800" dirty="0" smtClean="0">
                <a:latin typeface="Times New Roman" pitchFamily="18" charset="0"/>
                <a:cs typeface="Times New Roman" pitchFamily="18" charset="0"/>
              </a:rPr>
              <a:t>Main copy of treasury </a:t>
            </a:r>
            <a:r>
              <a:rPr lang="en-US" sz="2800" dirty="0" err="1" smtClean="0">
                <a:latin typeface="Times New Roman" pitchFamily="18" charset="0"/>
                <a:cs typeface="Times New Roman" pitchFamily="18" charset="0"/>
              </a:rPr>
              <a:t>challen</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Three copies of photograph of owner</a:t>
            </a:r>
          </a:p>
          <a:p>
            <a:r>
              <a:rPr lang="en-US" sz="2800" dirty="0" smtClean="0">
                <a:latin typeface="Times New Roman" pitchFamily="18" charset="0"/>
                <a:cs typeface="Times New Roman" pitchFamily="18" charset="0"/>
              </a:rPr>
              <a:t>Three copies of photograph of managing director</a:t>
            </a:r>
          </a:p>
          <a:p>
            <a:r>
              <a:rPr lang="en-US" sz="2800" dirty="0" smtClean="0">
                <a:latin typeface="Times New Roman" pitchFamily="18" charset="0"/>
                <a:cs typeface="Times New Roman" pitchFamily="18" charset="0"/>
              </a:rPr>
              <a:t>Membership certificate from chamber of commerce</a:t>
            </a:r>
          </a:p>
          <a:p>
            <a:r>
              <a:rPr lang="en-US" sz="2800" dirty="0" smtClean="0">
                <a:latin typeface="Times New Roman" pitchFamily="18" charset="0"/>
                <a:cs typeface="Times New Roman" pitchFamily="18" charset="0"/>
              </a:rPr>
              <a:t>National ID </a:t>
            </a:r>
            <a:endParaRPr lang="en-US" sz="2800" dirty="0">
              <a:latin typeface="Times New Roman" pitchFamily="18" charset="0"/>
              <a:cs typeface="Times New Roman" pitchFamily="18" charset="0"/>
            </a:endParaRPr>
          </a:p>
        </p:txBody>
      </p:sp>
      <p:sp>
        <p:nvSpPr>
          <p:cNvPr id="2" name="Title 1"/>
          <p:cNvSpPr>
            <a:spLocks noGrp="1"/>
          </p:cNvSpPr>
          <p:nvPr>
            <p:ph type="title"/>
          </p:nvPr>
        </p:nvSpPr>
        <p:spPr/>
        <p:txBody>
          <a:bodyPr/>
          <a:lstStyle/>
          <a:p>
            <a:r>
              <a:rPr lang="en-US" dirty="0" smtClean="0"/>
              <a:t>Import registration certificate</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5181600"/>
          </a:xfrm>
        </p:spPr>
        <p:txBody>
          <a:bodyPr>
            <a:noAutofit/>
          </a:bodyPr>
          <a:lstStyle/>
          <a:p>
            <a:r>
              <a:rPr lang="en-US" sz="2400" dirty="0" smtClean="0">
                <a:latin typeface="Times New Roman" pitchFamily="18" charset="0"/>
                <a:cs typeface="Times New Roman" pitchFamily="18" charset="0"/>
              </a:rPr>
              <a:t>Immigration Procedure</a:t>
            </a:r>
          </a:p>
          <a:p>
            <a:r>
              <a:rPr lang="en-US" sz="2400" dirty="0" smtClean="0">
                <a:latin typeface="Times New Roman" pitchFamily="18" charset="0"/>
                <a:cs typeface="Times New Roman" pitchFamily="18" charset="0"/>
              </a:rPr>
              <a:t>Modified Rules of Landing Permit / Visa on Arrival</a:t>
            </a:r>
          </a:p>
          <a:p>
            <a:r>
              <a:rPr lang="en-US" sz="2400" dirty="0" smtClean="0">
                <a:latin typeface="Times New Roman" pitchFamily="18" charset="0"/>
                <a:cs typeface="Times New Roman" pitchFamily="18" charset="0"/>
              </a:rPr>
              <a:t>Incorporating a Company</a:t>
            </a:r>
          </a:p>
          <a:p>
            <a:r>
              <a:rPr lang="en-US" sz="2400" dirty="0" smtClean="0">
                <a:latin typeface="Times New Roman" pitchFamily="18" charset="0"/>
                <a:cs typeface="Times New Roman" pitchFamily="18" charset="0"/>
              </a:rPr>
              <a:t>Memorandum of Association </a:t>
            </a:r>
          </a:p>
          <a:p>
            <a:r>
              <a:rPr lang="en-US" sz="2400" dirty="0" smtClean="0">
                <a:latin typeface="Times New Roman" pitchFamily="18" charset="0"/>
                <a:cs typeface="Times New Roman" pitchFamily="18" charset="0"/>
              </a:rPr>
              <a:t>Articles of Association</a:t>
            </a:r>
          </a:p>
          <a:p>
            <a:r>
              <a:rPr lang="en-US" sz="2400" dirty="0" smtClean="0">
                <a:latin typeface="Times New Roman" pitchFamily="18" charset="0"/>
                <a:cs typeface="Times New Roman" pitchFamily="18" charset="0"/>
              </a:rPr>
              <a:t>Registration with BOI</a:t>
            </a:r>
          </a:p>
          <a:p>
            <a:r>
              <a:rPr lang="en-US" sz="2400" dirty="0" smtClean="0">
                <a:latin typeface="Times New Roman" pitchFamily="18" charset="0"/>
                <a:cs typeface="Times New Roman" pitchFamily="18" charset="0"/>
              </a:rPr>
              <a:t>Obtaining Industrial Plot </a:t>
            </a:r>
          </a:p>
          <a:p>
            <a:r>
              <a:rPr lang="en-US" sz="2400" dirty="0" smtClean="0">
                <a:latin typeface="Times New Roman" pitchFamily="18" charset="0"/>
                <a:cs typeface="Times New Roman" pitchFamily="18" charset="0"/>
              </a:rPr>
              <a:t>Environmental Legislation</a:t>
            </a:r>
          </a:p>
          <a:p>
            <a:r>
              <a:rPr lang="en-US" sz="2400" dirty="0" smtClean="0">
                <a:latin typeface="Times New Roman" pitchFamily="18" charset="0"/>
                <a:cs typeface="Times New Roman" pitchFamily="18" charset="0"/>
              </a:rPr>
              <a:t>Obtaining Utility Connections</a:t>
            </a:r>
          </a:p>
          <a:p>
            <a:r>
              <a:rPr lang="en-US" sz="2400" dirty="0" smtClean="0">
                <a:latin typeface="Times New Roman" pitchFamily="18" charset="0"/>
                <a:cs typeface="Times New Roman" pitchFamily="18" charset="0"/>
              </a:rPr>
              <a:t>Human Resources and Employment </a:t>
            </a:r>
          </a:p>
          <a:p>
            <a:r>
              <a:rPr lang="en-US" sz="2400" dirty="0" smtClean="0">
                <a:latin typeface="Times New Roman" pitchFamily="18" charset="0"/>
                <a:cs typeface="Times New Roman" pitchFamily="18" charset="0"/>
              </a:rPr>
              <a:t>Exchange Control &amp; Remittance</a:t>
            </a:r>
          </a:p>
          <a:p>
            <a:r>
              <a:rPr lang="en-US" sz="2400" dirty="0" smtClean="0">
                <a:latin typeface="Times New Roman" pitchFamily="18" charset="0"/>
                <a:cs typeface="Times New Roman" pitchFamily="18" charset="0"/>
              </a:rPr>
              <a:t>Living in Bangladesh</a:t>
            </a:r>
          </a:p>
          <a:p>
            <a:endParaRPr lang="en-US" sz="2400" dirty="0">
              <a:latin typeface="Times New Roman" pitchFamily="18" charset="0"/>
              <a:cs typeface="Times New Roman" pitchFamily="18" charset="0"/>
            </a:endParaRPr>
          </a:p>
        </p:txBody>
      </p:sp>
      <p:sp>
        <p:nvSpPr>
          <p:cNvPr id="2" name="Title 1"/>
          <p:cNvSpPr>
            <a:spLocks noGrp="1"/>
          </p:cNvSpPr>
          <p:nvPr>
            <p:ph type="title"/>
          </p:nvPr>
        </p:nvSpPr>
        <p:spPr/>
        <p:txBody>
          <a:bodyPr>
            <a:normAutofit fontScale="90000"/>
          </a:bodyPr>
          <a:lstStyle/>
          <a:p>
            <a:r>
              <a:rPr lang="en-US" b="1" dirty="0" smtClean="0"/>
              <a:t>BOI registration process for foreign investors</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3200" dirty="0" smtClean="0">
                <a:latin typeface="Times New Roman" pitchFamily="18" charset="0"/>
                <a:cs typeface="Times New Roman" pitchFamily="18" charset="0"/>
              </a:rPr>
              <a:t>Protection of environment has become an important issue all over the world in recent years. </a:t>
            </a:r>
          </a:p>
          <a:p>
            <a:r>
              <a:rPr lang="en-US" sz="3200" dirty="0" smtClean="0">
                <a:latin typeface="Times New Roman" pitchFamily="18" charset="0"/>
                <a:cs typeface="Times New Roman" pitchFamily="18" charset="0"/>
              </a:rPr>
              <a:t>Permission of the Department of Environment is essential for establishing an industrial unit in any place in Bangladesh. </a:t>
            </a:r>
          </a:p>
          <a:p>
            <a:r>
              <a:rPr lang="en-US" sz="3200" dirty="0" smtClean="0">
                <a:latin typeface="Times New Roman" pitchFamily="18" charset="0"/>
                <a:cs typeface="Times New Roman" pitchFamily="18" charset="0"/>
              </a:rPr>
              <a:t>It may result in air pollution through noise or otherwise, cause water pollution through factory wastage &amp; the like.</a:t>
            </a:r>
            <a:endParaRPr lang="en-US" sz="3200" dirty="0">
              <a:latin typeface="Times New Roman" pitchFamily="18" charset="0"/>
              <a:cs typeface="Times New Roman" pitchFamily="18" charset="0"/>
            </a:endParaRPr>
          </a:p>
        </p:txBody>
      </p:sp>
      <p:sp>
        <p:nvSpPr>
          <p:cNvPr id="2" name="Title 1"/>
          <p:cNvSpPr>
            <a:spLocks noGrp="1"/>
          </p:cNvSpPr>
          <p:nvPr>
            <p:ph type="title"/>
          </p:nvPr>
        </p:nvSpPr>
        <p:spPr/>
        <p:txBody>
          <a:bodyPr>
            <a:normAutofit fontScale="90000"/>
          </a:bodyPr>
          <a:lstStyle/>
          <a:p>
            <a:r>
              <a:rPr lang="en-US" b="1" dirty="0" smtClean="0"/>
              <a:t>Permission from Department of Environment</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1328"/>
            <a:ext cx="8229600" cy="4995672"/>
          </a:xfrm>
        </p:spPr>
        <p:txBody>
          <a:bodyPr>
            <a:noAutofit/>
          </a:bodyPr>
          <a:lstStyle/>
          <a:p>
            <a:r>
              <a:rPr lang="en-US" sz="2800" dirty="0" smtClean="0">
                <a:latin typeface="Times New Roman" pitchFamily="18" charset="0"/>
                <a:cs typeface="Times New Roman" pitchFamily="18" charset="0"/>
              </a:rPr>
              <a:t>Before installation of machinery we have to obtain the permission for connection of some utilities like gas, electricity and T&amp;T. </a:t>
            </a:r>
          </a:p>
          <a:p>
            <a:r>
              <a:rPr lang="en-US" sz="2800" dirty="0" smtClean="0">
                <a:latin typeface="Times New Roman" pitchFamily="18" charset="0"/>
                <a:cs typeface="Times New Roman" pitchFamily="18" charset="0"/>
              </a:rPr>
              <a:t>These utilities are essential for business houses, especially for industrial enterprises. </a:t>
            </a:r>
          </a:p>
          <a:p>
            <a:r>
              <a:rPr lang="en-US" sz="2800" dirty="0" smtClean="0">
                <a:latin typeface="Times New Roman" pitchFamily="18" charset="0"/>
                <a:cs typeface="Times New Roman" pitchFamily="18" charset="0"/>
              </a:rPr>
              <a:t>Thus connection is to be taken through applying to respective authority and after payment of initial connection fees. </a:t>
            </a:r>
          </a:p>
          <a:p>
            <a:r>
              <a:rPr lang="en-US" sz="2800" dirty="0" smtClean="0">
                <a:latin typeface="Times New Roman" pitchFamily="18" charset="0"/>
                <a:cs typeface="Times New Roman" pitchFamily="18" charset="0"/>
              </a:rPr>
              <a:t>Thereafter monthly bill is to be paid regularly for the continuation in operations and avoid over dues payment, fines and penalties.</a:t>
            </a:r>
          </a:p>
          <a:p>
            <a:endParaRPr lang="en-US" sz="2800" dirty="0">
              <a:latin typeface="Times New Roman" pitchFamily="18" charset="0"/>
              <a:cs typeface="Times New Roman" pitchFamily="18" charset="0"/>
            </a:endParaRPr>
          </a:p>
        </p:txBody>
      </p:sp>
      <p:sp>
        <p:nvSpPr>
          <p:cNvPr id="2" name="Title 1"/>
          <p:cNvSpPr>
            <a:spLocks noGrp="1"/>
          </p:cNvSpPr>
          <p:nvPr>
            <p:ph type="title"/>
          </p:nvPr>
        </p:nvSpPr>
        <p:spPr/>
        <p:txBody>
          <a:bodyPr>
            <a:normAutofit fontScale="90000"/>
          </a:bodyPr>
          <a:lstStyle/>
          <a:p>
            <a:r>
              <a:rPr lang="en-US" b="1" dirty="0" smtClean="0"/>
              <a:t>Connection of Utilities: Gas, Electricity, Water and Telephone</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3200" dirty="0" smtClean="0">
                <a:latin typeface="Times New Roman" pitchFamily="18" charset="0"/>
                <a:cs typeface="Times New Roman" pitchFamily="18" charset="0"/>
              </a:rPr>
              <a:t>As a part of business, we should open an account in one of our favorite banks. </a:t>
            </a:r>
          </a:p>
          <a:p>
            <a:r>
              <a:rPr lang="en-US" sz="3200" dirty="0" smtClean="0">
                <a:latin typeface="Times New Roman" pitchFamily="18" charset="0"/>
                <a:cs typeface="Times New Roman" pitchFamily="18" charset="0"/>
              </a:rPr>
              <a:t>There are various kinds of Bank Accounts which people are looking for. </a:t>
            </a:r>
          </a:p>
          <a:p>
            <a:r>
              <a:rPr lang="en-US" sz="3200" dirty="0" smtClean="0">
                <a:latin typeface="Times New Roman" pitchFamily="18" charset="0"/>
                <a:cs typeface="Times New Roman" pitchFamily="18" charset="0"/>
              </a:rPr>
              <a:t>These account’s opening go through some procedure. Required information for opening a bank account varies from bank to bank. </a:t>
            </a:r>
            <a:endParaRPr lang="en-US" sz="3200" dirty="0">
              <a:latin typeface="Times New Roman" pitchFamily="18" charset="0"/>
              <a:cs typeface="Times New Roman" pitchFamily="18" charset="0"/>
            </a:endParaRPr>
          </a:p>
        </p:txBody>
      </p:sp>
      <p:sp>
        <p:nvSpPr>
          <p:cNvPr id="2" name="Title 1"/>
          <p:cNvSpPr>
            <a:spLocks noGrp="1"/>
          </p:cNvSpPr>
          <p:nvPr>
            <p:ph type="title"/>
          </p:nvPr>
        </p:nvSpPr>
        <p:spPr/>
        <p:txBody>
          <a:bodyPr/>
          <a:lstStyle/>
          <a:p>
            <a:r>
              <a:rPr lang="en-US" b="1" dirty="0" smtClean="0"/>
              <a:t>Opening Bank Account</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200" dirty="0" smtClean="0">
                <a:latin typeface="Times New Roman" pitchFamily="18" charset="0"/>
                <a:cs typeface="Times New Roman" pitchFamily="18" charset="0"/>
              </a:rPr>
              <a:t>Sole Proprietorship Account</a:t>
            </a:r>
          </a:p>
          <a:p>
            <a:r>
              <a:rPr lang="en-US" sz="3200" dirty="0" smtClean="0">
                <a:latin typeface="Times New Roman" pitchFamily="18" charset="0"/>
                <a:cs typeface="Times New Roman" pitchFamily="18" charset="0"/>
              </a:rPr>
              <a:t>Limited Company Account</a:t>
            </a:r>
          </a:p>
          <a:p>
            <a:r>
              <a:rPr lang="en-US" sz="3200" dirty="0" smtClean="0">
                <a:latin typeface="Times New Roman" pitchFamily="18" charset="0"/>
                <a:cs typeface="Times New Roman" pitchFamily="18" charset="0"/>
              </a:rPr>
              <a:t>Partnership Firm Account</a:t>
            </a:r>
          </a:p>
          <a:p>
            <a:r>
              <a:rPr lang="en-US" sz="3200" dirty="0" smtClean="0">
                <a:latin typeface="Times New Roman" pitchFamily="18" charset="0"/>
                <a:cs typeface="Times New Roman" pitchFamily="18" charset="0"/>
              </a:rPr>
              <a:t>Foreign Currency Account Opening</a:t>
            </a:r>
          </a:p>
          <a:p>
            <a:endParaRPr lang="en-US" sz="3200" dirty="0">
              <a:latin typeface="Times New Roman" pitchFamily="18" charset="0"/>
              <a:cs typeface="Times New Roman" pitchFamily="18" charset="0"/>
            </a:endParaRPr>
          </a:p>
        </p:txBody>
      </p:sp>
      <p:sp>
        <p:nvSpPr>
          <p:cNvPr id="2" name="Title 1"/>
          <p:cNvSpPr>
            <a:spLocks noGrp="1"/>
          </p:cNvSpPr>
          <p:nvPr>
            <p:ph type="title"/>
          </p:nvPr>
        </p:nvSpPr>
        <p:spPr/>
        <p:txBody>
          <a:bodyPr/>
          <a:lstStyle/>
          <a:p>
            <a:r>
              <a:rPr lang="en-US" b="1" dirty="0" smtClean="0"/>
              <a:t>Kinds of Bank Account</a:t>
            </a:r>
            <a:endParaRPr lang="en-US"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1328"/>
            <a:ext cx="8229600" cy="4995672"/>
          </a:xfrm>
        </p:spPr>
        <p:txBody>
          <a:bodyPr>
            <a:noAutofit/>
          </a:bodyPr>
          <a:lstStyle/>
          <a:p>
            <a:r>
              <a:rPr lang="en-US" sz="2800" dirty="0" smtClean="0">
                <a:latin typeface="Times New Roman" pitchFamily="18" charset="0"/>
                <a:cs typeface="Times New Roman" pitchFamily="18" charset="0"/>
              </a:rPr>
              <a:t>After having a TIN from Taxation Department you would have to be a member of respective chamber or association. </a:t>
            </a:r>
          </a:p>
          <a:p>
            <a:r>
              <a:rPr lang="en-US" sz="2800" dirty="0" smtClean="0">
                <a:latin typeface="Times New Roman" pitchFamily="18" charset="0"/>
                <a:cs typeface="Times New Roman" pitchFamily="18" charset="0"/>
              </a:rPr>
              <a:t>Without the membership you will not be allowed to apply for Export Registration Certificate (ERC), Import Registration Certificate (IRC) etc. </a:t>
            </a:r>
          </a:p>
          <a:p>
            <a:r>
              <a:rPr lang="en-US" sz="2800" dirty="0" smtClean="0">
                <a:latin typeface="Times New Roman" pitchFamily="18" charset="0"/>
                <a:cs typeface="Times New Roman" pitchFamily="18" charset="0"/>
              </a:rPr>
              <a:t>If you decide to start business at Dhaka, you should apply to get a membership in the Dhaka Chamber of Commerce and Industry. </a:t>
            </a:r>
          </a:p>
          <a:p>
            <a:r>
              <a:rPr lang="en-US" sz="2800" dirty="0" smtClean="0">
                <a:latin typeface="Times New Roman" pitchFamily="18" charset="0"/>
                <a:cs typeface="Times New Roman" pitchFamily="18" charset="0"/>
              </a:rPr>
              <a:t>However, you may also be a member of particular Manufacture Association. </a:t>
            </a:r>
          </a:p>
          <a:p>
            <a:endParaRPr lang="en-US" sz="2800" dirty="0">
              <a:latin typeface="Times New Roman" pitchFamily="18" charset="0"/>
              <a:cs typeface="Times New Roman" pitchFamily="18" charset="0"/>
            </a:endParaRPr>
          </a:p>
        </p:txBody>
      </p:sp>
      <p:sp>
        <p:nvSpPr>
          <p:cNvPr id="2" name="Title 1"/>
          <p:cNvSpPr>
            <a:spLocks noGrp="1"/>
          </p:cNvSpPr>
          <p:nvPr>
            <p:ph type="title"/>
          </p:nvPr>
        </p:nvSpPr>
        <p:spPr/>
        <p:txBody>
          <a:bodyPr>
            <a:normAutofit fontScale="90000"/>
          </a:bodyPr>
          <a:lstStyle/>
          <a:p>
            <a:r>
              <a:rPr lang="en-US" b="1" dirty="0" smtClean="0"/>
              <a:t>Membership of Chamber/Associations</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2601"/>
            <a:ext cx="7772400" cy="1371599"/>
          </a:xfrm>
        </p:spPr>
        <p:txBody>
          <a:bodyPr/>
          <a:lstStyle/>
          <a:p>
            <a:r>
              <a:rPr lang="en-US" dirty="0" smtClean="0"/>
              <a:t>Thanks to join with us!</a:t>
            </a:r>
            <a:endParaRPr lang="en-US" dirty="0"/>
          </a:p>
        </p:txBody>
      </p:sp>
      <p:sp>
        <p:nvSpPr>
          <p:cNvPr id="3" name="Subtitle 2"/>
          <p:cNvSpPr>
            <a:spLocks noGrp="1"/>
          </p:cNvSpPr>
          <p:nvPr>
            <p:ph type="subTitle" idx="1"/>
          </p:nvPr>
        </p:nvSpPr>
        <p:spPr/>
        <p:txBody>
          <a:bodyPr/>
          <a:lstStyle/>
          <a:p>
            <a:r>
              <a:rPr lang="en-US" dirty="0" smtClean="0"/>
              <a:t>Any Question?</a:t>
            </a:r>
            <a:endParaRPr lang="en-US" dirty="0"/>
          </a:p>
        </p:txBody>
      </p:sp>
      <p:graphicFrame>
        <p:nvGraphicFramePr>
          <p:cNvPr id="256003" name="Object 3"/>
          <p:cNvGraphicFramePr>
            <a:graphicFrameLocks noChangeAspect="1"/>
          </p:cNvGraphicFramePr>
          <p:nvPr>
            <p:extLst>
              <p:ext uri="{D42A27DB-BD31-4B8C-83A1-F6EECF244321}">
                <p14:modId xmlns:p14="http://schemas.microsoft.com/office/powerpoint/2010/main" val="3767930143"/>
              </p:ext>
            </p:extLst>
          </p:nvPr>
        </p:nvGraphicFramePr>
        <p:xfrm>
          <a:off x="685800" y="647700"/>
          <a:ext cx="3048000" cy="1905000"/>
        </p:xfrm>
        <a:graphic>
          <a:graphicData uri="http://schemas.openxmlformats.org/presentationml/2006/ole">
            <mc:AlternateContent xmlns:mc="http://schemas.openxmlformats.org/markup-compatibility/2006">
              <mc:Choice xmlns:v="urn:schemas-microsoft-com:vml" Requires="v">
                <p:oleObj spid="_x0000_s37896" name="Clip" r:id="rId4" imgW="1281289" imgH="927947" progId="">
                  <p:embed/>
                </p:oleObj>
              </mc:Choice>
              <mc:Fallback>
                <p:oleObj name="Clip" r:id="rId4" imgW="1281289" imgH="927947" progId="">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647700"/>
                        <a:ext cx="3048000" cy="190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nodeType="afterEffect">
                                  <p:stCondLst>
                                    <p:cond delay="0"/>
                                  </p:stCondLst>
                                  <p:childTnLst>
                                    <p:set>
                                      <p:cBhvr>
                                        <p:cTn id="6" dur="1" fill="hold">
                                          <p:stCondLst>
                                            <p:cond delay="0"/>
                                          </p:stCondLst>
                                        </p:cTn>
                                        <p:tgtEl>
                                          <p:spTgt spid="256003"/>
                                        </p:tgtEl>
                                        <p:attrNameLst>
                                          <p:attrName>style.visibility</p:attrName>
                                        </p:attrNameLst>
                                      </p:cBhvr>
                                      <p:to>
                                        <p:strVal val="visible"/>
                                      </p:to>
                                    </p:set>
                                    <p:anim calcmode="lin" valueType="num">
                                      <p:cBhvr>
                                        <p:cTn id="7" dur="1000" fill="hold"/>
                                        <p:tgtEl>
                                          <p:spTgt spid="256003"/>
                                        </p:tgtEl>
                                        <p:attrNameLst>
                                          <p:attrName>ppt_w</p:attrName>
                                        </p:attrNameLst>
                                      </p:cBhvr>
                                      <p:tavLst>
                                        <p:tav tm="0">
                                          <p:val>
                                            <p:fltVal val="0"/>
                                          </p:val>
                                        </p:tav>
                                        <p:tav tm="100000">
                                          <p:val>
                                            <p:strVal val="#ppt_w"/>
                                          </p:val>
                                        </p:tav>
                                      </p:tavLst>
                                    </p:anim>
                                    <p:anim calcmode="lin" valueType="num">
                                      <p:cBhvr>
                                        <p:cTn id="8" dur="1000" fill="hold"/>
                                        <p:tgtEl>
                                          <p:spTgt spid="256003"/>
                                        </p:tgtEl>
                                        <p:attrNameLst>
                                          <p:attrName>ppt_h</p:attrName>
                                        </p:attrNameLst>
                                      </p:cBhvr>
                                      <p:tavLst>
                                        <p:tav tm="0">
                                          <p:val>
                                            <p:fltVal val="0"/>
                                          </p:val>
                                        </p:tav>
                                        <p:tav tm="100000">
                                          <p:val>
                                            <p:strVal val="#ppt_h"/>
                                          </p:val>
                                        </p:tav>
                                      </p:tavLst>
                                    </p:anim>
                                    <p:anim calcmode="lin" valueType="num">
                                      <p:cBhvr>
                                        <p:cTn id="9" dur="1000" fill="hold"/>
                                        <p:tgtEl>
                                          <p:spTgt spid="25600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56003"/>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
                                            </p:cond>
                                          </p:stCondLst>
                                          <p:endCondLst>
                                            <p:cond evt="onStopAudio" delay="0">
                                              <p:tgtEl>
                                                <p:sldTgt/>
                                              </p:tgtEl>
                                            </p:cond>
                                          </p:endCondLst>
                                        </p:cTn>
                                        <p:tgtEl>
                                          <p:sndTgt r:embed="rId3" name="CLAP.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153</TotalTime>
  <Words>1623</Words>
  <Application>Microsoft Office PowerPoint</Application>
  <PresentationFormat>On-screen Show (4:3)</PresentationFormat>
  <Paragraphs>176</Paragraphs>
  <Slides>35</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2" baseType="lpstr">
      <vt:lpstr>Lucida Sans Unicode</vt:lpstr>
      <vt:lpstr>Times New Roman</vt:lpstr>
      <vt:lpstr>Verdana</vt:lpstr>
      <vt:lpstr>Wingdings 2</vt:lpstr>
      <vt:lpstr>Wingdings 3</vt:lpstr>
      <vt:lpstr>Concourse</vt:lpstr>
      <vt:lpstr>Clip</vt:lpstr>
      <vt:lpstr>PowerPoint Presentation</vt:lpstr>
      <vt:lpstr>Learning Objectives</vt:lpstr>
      <vt:lpstr>Chapter Outline</vt:lpstr>
      <vt:lpstr>Introduction</vt:lpstr>
      <vt:lpstr>PowerPoint Presentation</vt:lpstr>
      <vt:lpstr>PowerPoint Presentation</vt:lpstr>
      <vt:lpstr>Trade License</vt:lpstr>
      <vt:lpstr>Trade License</vt:lpstr>
      <vt:lpstr>PowerPoint Presentation</vt:lpstr>
      <vt:lpstr>Factory Inspection License</vt:lpstr>
      <vt:lpstr>Factory Inspection License</vt:lpstr>
      <vt:lpstr>Bonded warehouse license </vt:lpstr>
      <vt:lpstr>You have to submit your application along with the following documents</vt:lpstr>
      <vt:lpstr>Continued….</vt:lpstr>
      <vt:lpstr>BSTI License </vt:lpstr>
      <vt:lpstr>BSTI License</vt:lpstr>
      <vt:lpstr>Taxpayer’s Identification Number (TIN) Certificate </vt:lpstr>
      <vt:lpstr>How do you get a TIN? </vt:lpstr>
      <vt:lpstr>eTIN registration which means Electronic Tax Identification Number</vt:lpstr>
      <vt:lpstr>Registration of Value Added Tax (VAT)</vt:lpstr>
      <vt:lpstr>Trade Mark Registration</vt:lpstr>
      <vt:lpstr>PowerPoint Presentation</vt:lpstr>
      <vt:lpstr>Patents and Designs Registration</vt:lpstr>
      <vt:lpstr>Copyrights Registration</vt:lpstr>
      <vt:lpstr>Export Registration Certificate (ERC)</vt:lpstr>
      <vt:lpstr>Export registration certificate</vt:lpstr>
      <vt:lpstr>Import Registration Certificate (IRC) </vt:lpstr>
      <vt:lpstr>Import registration certificate</vt:lpstr>
      <vt:lpstr>BOI registration process for foreign investors</vt:lpstr>
      <vt:lpstr>Permission from Department of Environment</vt:lpstr>
      <vt:lpstr>Connection of Utilities: Gas, Electricity, Water and Telephone</vt:lpstr>
      <vt:lpstr>Opening Bank Account</vt:lpstr>
      <vt:lpstr>Kinds of Bank Account</vt:lpstr>
      <vt:lpstr>Membership of Chamber/Associations</vt:lpstr>
      <vt:lpstr>Thanks to join with us!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05 Introduction to Business</dc:title>
  <dc:creator>Zia</dc:creator>
  <cp:lastModifiedBy>Ramisa Nafisa CU</cp:lastModifiedBy>
  <cp:revision>40</cp:revision>
  <dcterms:created xsi:type="dcterms:W3CDTF">2006-08-16T00:00:00Z</dcterms:created>
  <dcterms:modified xsi:type="dcterms:W3CDTF">2022-05-24T16:00:15Z</dcterms:modified>
</cp:coreProperties>
</file>