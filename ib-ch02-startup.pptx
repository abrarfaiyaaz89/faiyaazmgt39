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2" r:id="rId7"/>
    <p:sldId id="263" r:id="rId8"/>
    <p:sldId id="264" r:id="rId9"/>
    <p:sldId id="280" r:id="rId10"/>
    <p:sldId id="287" r:id="rId11"/>
    <p:sldId id="288" r:id="rId12"/>
    <p:sldId id="289" r:id="rId13"/>
    <p:sldId id="290" r:id="rId14"/>
    <p:sldId id="291" r:id="rId15"/>
    <p:sldId id="292" r:id="rId16"/>
    <p:sldId id="293" r:id="rId17"/>
    <p:sldId id="266" r:id="rId18"/>
    <p:sldId id="267" r:id="rId19"/>
    <p:sldId id="294" r:id="rId20"/>
    <p:sldId id="295" r:id="rId21"/>
    <p:sldId id="296" r:id="rId22"/>
    <p:sldId id="297" r:id="rId23"/>
    <p:sldId id="298" r:id="rId24"/>
    <p:sldId id="299" r:id="rId25"/>
    <p:sldId id="300" r:id="rId26"/>
    <p:sldId id="301" r:id="rId27"/>
    <p:sldId id="302" r:id="rId28"/>
    <p:sldId id="303" r:id="rId29"/>
    <p:sldId id="286" r:id="rId30"/>
    <p:sldId id="269" r:id="rId31"/>
    <p:sldId id="270" r:id="rId32"/>
    <p:sldId id="271" r:id="rId33"/>
    <p:sldId id="272" r:id="rId34"/>
    <p:sldId id="277" r:id="rId35"/>
    <p:sldId id="273" r:id="rId36"/>
    <p:sldId id="274" r:id="rId37"/>
    <p:sldId id="285" r:id="rId3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9" autoAdjust="0"/>
    <p:restoredTop sz="86410" autoAdjust="0"/>
  </p:normalViewPr>
  <p:slideViewPr>
    <p:cSldViewPr>
      <p:cViewPr varScale="1">
        <p:scale>
          <a:sx n="42" d="100"/>
          <a:sy n="42" d="100"/>
        </p:scale>
        <p:origin x="-936" y="-108"/>
      </p:cViewPr>
      <p:guideLst>
        <p:guide orient="horz" pos="2160"/>
        <p:guide pos="2880"/>
      </p:guideLst>
    </p:cSldViewPr>
  </p:slideViewPr>
  <p:outlineViewPr>
    <p:cViewPr>
      <p:scale>
        <a:sx n="33" d="100"/>
        <a:sy n="33" d="100"/>
      </p:scale>
      <p:origin x="0" y="-19446"/>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01-Dec-23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01-Dec-23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01-Dec-23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01-Dec-23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01-Dec-23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01-Dec-23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01-Dec-23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01-Dec-23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1D8BD707-D9CF-40AE-B4C6-C98DA3205C09}" type="datetimeFigureOut">
              <a:rPr lang="en-US" smtClean="0"/>
              <a:pPr/>
              <a:t>01-Dec-23</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01-Dec-23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01-Dec-23</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1D8BD707-D9CF-40AE-B4C6-C98DA3205C09}" type="datetimeFigureOut">
              <a:rPr lang="en-US" smtClean="0"/>
              <a:pPr/>
              <a:t>01-Dec-23</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smtClean="0">
                <a:latin typeface="Times New Roman" panose="02020603050405020304" pitchFamily="18" charset="0"/>
                <a:cs typeface="Times New Roman" panose="02020603050405020304" pitchFamily="18" charset="0"/>
              </a:rPr>
              <a:t>Chapter 02</a:t>
            </a:r>
            <a:br>
              <a:rPr lang="en-US" sz="3200" dirty="0" smtClean="0">
                <a:latin typeface="Times New Roman" panose="02020603050405020304" pitchFamily="18" charset="0"/>
                <a:cs typeface="Times New Roman" panose="02020603050405020304" pitchFamily="18" charset="0"/>
              </a:rPr>
            </a:br>
            <a:r>
              <a:rPr lang="en-US" sz="3200" dirty="0" smtClean="0">
                <a:latin typeface="Times New Roman" panose="02020603050405020304" pitchFamily="18" charset="0"/>
                <a:cs typeface="Times New Roman" panose="02020603050405020304" pitchFamily="18" charset="0"/>
              </a:rPr>
              <a:t>Introduction to Business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sz="3200" dirty="0" smtClean="0">
                <a:latin typeface="Times New Roman" panose="02020603050405020304" pitchFamily="18" charset="0"/>
                <a:cs typeface="Times New Roman" panose="02020603050405020304" pitchFamily="18" charset="0"/>
              </a:rPr>
              <a:t>Start up a Business</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Times New Roman" panose="02020603050405020304" pitchFamily="18" charset="0"/>
                <a:cs typeface="Times New Roman" panose="02020603050405020304" pitchFamily="18" charset="0"/>
              </a:rPr>
              <a:t>Chapter Outline</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itchFamily="18" charset="0"/>
                <a:cs typeface="Times New Roman" pitchFamily="18" charset="0"/>
              </a:rPr>
              <a:t>Preliminary steps</a:t>
            </a:r>
          </a:p>
          <a:p>
            <a:r>
              <a:rPr lang="en-US" sz="3200" dirty="0" smtClean="0">
                <a:latin typeface="Times New Roman" pitchFamily="18" charset="0"/>
                <a:cs typeface="Times New Roman" pitchFamily="18" charset="0"/>
              </a:rPr>
              <a:t>The road map</a:t>
            </a:r>
          </a:p>
          <a:p>
            <a:r>
              <a:rPr lang="en-US" sz="3200" dirty="0" smtClean="0">
                <a:latin typeface="Times New Roman" pitchFamily="18" charset="0"/>
                <a:cs typeface="Times New Roman" pitchFamily="18" charset="0"/>
              </a:rPr>
              <a:t>Business plan</a:t>
            </a:r>
          </a:p>
          <a:p>
            <a:r>
              <a:rPr lang="en-US" sz="3200" dirty="0" smtClean="0">
                <a:latin typeface="Times New Roman" pitchFamily="18" charset="0"/>
                <a:cs typeface="Times New Roman" pitchFamily="18" charset="0"/>
              </a:rPr>
              <a:t>Deciding the form and type of business</a:t>
            </a:r>
          </a:p>
          <a:p>
            <a:r>
              <a:rPr lang="en-US" sz="3200" dirty="0" smtClean="0">
                <a:latin typeface="Times New Roman" pitchFamily="18" charset="0"/>
                <a:cs typeface="Times New Roman" pitchFamily="18" charset="0"/>
              </a:rPr>
              <a:t>Sources of Finance</a:t>
            </a:r>
          </a:p>
          <a:p>
            <a:r>
              <a:rPr lang="en-US" sz="3200" dirty="0" smtClean="0">
                <a:latin typeface="Times New Roman" pitchFamily="18" charset="0"/>
                <a:cs typeface="Times New Roman" pitchFamily="18" charset="0"/>
              </a:rPr>
              <a:t>Acts governing business in Bangladesh</a:t>
            </a:r>
            <a:endParaRPr lang="en-US" sz="32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anose="02020603050405020304" pitchFamily="18" charset="0"/>
                <a:cs typeface="Times New Roman" panose="02020603050405020304" pitchFamily="18" charset="0"/>
              </a:rPr>
              <a:t>Bangladesh positioned 122 among 183 countries in the ranking of ‘</a:t>
            </a:r>
            <a:r>
              <a:rPr lang="en-US" sz="3200" b="1" dirty="0" smtClean="0">
                <a:latin typeface="Times New Roman" panose="02020603050405020304" pitchFamily="18" charset="0"/>
                <a:cs typeface="Times New Roman" panose="02020603050405020304" pitchFamily="18" charset="0"/>
              </a:rPr>
              <a:t>Ease of the Doing Business’</a:t>
            </a:r>
            <a:r>
              <a:rPr lang="en-US" sz="3200" dirty="0" smtClean="0">
                <a:latin typeface="Times New Roman" panose="02020603050405020304" pitchFamily="18" charset="0"/>
                <a:cs typeface="Times New Roman" panose="02020603050405020304" pitchFamily="18" charset="0"/>
              </a:rPr>
              <a:t> by the </a:t>
            </a:r>
            <a:r>
              <a:rPr lang="en-US" sz="3200" b="1" dirty="0" smtClean="0">
                <a:latin typeface="Times New Roman" panose="02020603050405020304" pitchFamily="18" charset="0"/>
                <a:cs typeface="Times New Roman" panose="02020603050405020304" pitchFamily="18" charset="0"/>
              </a:rPr>
              <a:t>World Bank.</a:t>
            </a:r>
            <a:endParaRPr lang="en-US" sz="3200" dirty="0">
              <a:latin typeface="Times New Roman" panose="02020603050405020304" pitchFamily="18" charset="0"/>
              <a:cs typeface="Times New Roman" panose="02020603050405020304" pitchFamily="18" charset="0"/>
            </a:endParaRPr>
          </a:p>
        </p:txBody>
      </p:sp>
      <p:pic>
        <p:nvPicPr>
          <p:cNvPr id="5" name="Picture 4" descr="Image result for images of functional areas of business"/>
          <p:cNvPicPr/>
          <p:nvPr/>
        </p:nvPicPr>
        <p:blipFill>
          <a:blip r:embed="rId2">
            <a:duotone>
              <a:prstClr val="black"/>
              <a:schemeClr val="bg1">
                <a:tint val="45000"/>
                <a:satMod val="400000"/>
              </a:schemeClr>
            </a:duotone>
          </a:blip>
          <a:srcRect/>
          <a:stretch>
            <a:fillRect/>
          </a:stretch>
        </p:blipFill>
        <p:spPr bwMode="auto">
          <a:xfrm>
            <a:off x="2590800" y="3352800"/>
            <a:ext cx="4572000" cy="30480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Preliminary Steps to Start up Business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p>
        </p:txBody>
      </p:sp>
      <p:sp>
        <p:nvSpPr>
          <p:cNvPr id="205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2049" name="Group 1"/>
          <p:cNvGrpSpPr>
            <a:grpSpLocks noChangeAspect="1"/>
          </p:cNvGrpSpPr>
          <p:nvPr/>
        </p:nvGrpSpPr>
        <p:grpSpPr bwMode="auto">
          <a:xfrm>
            <a:off x="686006" y="1600200"/>
            <a:ext cx="7568451" cy="5029097"/>
            <a:chOff x="1994" y="1800"/>
            <a:chExt cx="8255" cy="6977"/>
          </a:xfrm>
        </p:grpSpPr>
        <p:sp>
          <p:nvSpPr>
            <p:cNvPr id="2056" name="AutoShape 8"/>
            <p:cNvSpPr>
              <a:spLocks noChangeAspect="1" noChangeArrowheads="1" noTextEdit="1"/>
            </p:cNvSpPr>
            <p:nvPr/>
          </p:nvSpPr>
          <p:spPr bwMode="auto">
            <a:xfrm>
              <a:off x="1994" y="1906"/>
              <a:ext cx="8145" cy="6660"/>
            </a:xfrm>
            <a:prstGeom prst="rect">
              <a:avLst/>
            </a:prstGeom>
            <a:gradFill rotWithShape="0">
              <a:gsLst>
                <a:gs pos="0">
                  <a:srgbClr val="FFFFFF"/>
                </a:gs>
                <a:gs pos="100000">
                  <a:srgbClr val="B6DDE8"/>
                </a:gs>
              </a:gsLst>
              <a:lin ang="5400000" scaled="1"/>
            </a:gradFill>
            <a:ln w="12700">
              <a:solidFill>
                <a:srgbClr val="92CDDC"/>
              </a:solidFill>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055" name="AutoShape 7"/>
            <p:cNvSpPr>
              <a:spLocks noChangeArrowheads="1"/>
            </p:cNvSpPr>
            <p:nvPr/>
          </p:nvSpPr>
          <p:spPr bwMode="auto">
            <a:xfrm>
              <a:off x="3060" y="1800"/>
              <a:ext cx="6497" cy="846"/>
            </a:xfrm>
            <a:prstGeom prst="curvedDownArrow">
              <a:avLst>
                <a:gd name="adj1" fmla="val 102857"/>
                <a:gd name="adj2" fmla="val 205714"/>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54" name="Text Box 6"/>
            <p:cNvSpPr txBox="1">
              <a:spLocks noChangeArrowheads="1"/>
            </p:cNvSpPr>
            <p:nvPr/>
          </p:nvSpPr>
          <p:spPr bwMode="auto">
            <a:xfrm>
              <a:off x="6316" y="2646"/>
              <a:ext cx="3764" cy="29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Part-Two</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BEFORE YOU START:</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4. Financing the business.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5Business organization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6.Licenses and permits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7.Business insurance.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8Communication tools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9.Buying a business or franchise</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2053" name="Text Box 5"/>
            <p:cNvSpPr txBox="1">
              <a:spLocks noChangeArrowheads="1"/>
            </p:cNvSpPr>
            <p:nvPr/>
          </p:nvSpPr>
          <p:spPr bwMode="auto">
            <a:xfrm>
              <a:off x="2160" y="2751"/>
              <a:ext cx="2826" cy="253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Part-One</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EVALUATING PROPOSED BUSINESS: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 Deciding on a business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2. The business plan</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3. Home based businesses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2052" name="AutoShape 4"/>
            <p:cNvSpPr>
              <a:spLocks noChangeArrowheads="1"/>
            </p:cNvSpPr>
            <p:nvPr/>
          </p:nvSpPr>
          <p:spPr bwMode="auto">
            <a:xfrm rot="15243585">
              <a:off x="1811" y="5656"/>
              <a:ext cx="2842" cy="2145"/>
            </a:xfrm>
            <a:prstGeom prst="curvedDownArrow">
              <a:avLst>
                <a:gd name="adj1" fmla="val 24594"/>
                <a:gd name="adj2" fmla="val 49189"/>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51" name="Text Box 3"/>
            <p:cNvSpPr txBox="1">
              <a:spLocks noChangeArrowheads="1"/>
            </p:cNvSpPr>
            <p:nvPr/>
          </p:nvSpPr>
          <p:spPr bwMode="auto">
            <a:xfrm>
              <a:off x="4570" y="5711"/>
              <a:ext cx="3491" cy="306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Part-Three</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OPERATING PITFALLS: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10</a:t>
              </a: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Location and leasing </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11. Accounting and cash flow</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12. E-Commerce </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13. Opening and marketing</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14. Managing employees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15. Expanding and handling problems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2050" name="AutoShape 2"/>
            <p:cNvSpPr>
              <a:spLocks noChangeArrowheads="1"/>
            </p:cNvSpPr>
            <p:nvPr/>
          </p:nvSpPr>
          <p:spPr bwMode="auto">
            <a:xfrm rot="5552554">
              <a:off x="7703" y="6073"/>
              <a:ext cx="2955" cy="2137"/>
            </a:xfrm>
            <a:prstGeom prst="curvedDownArrow">
              <a:avLst>
                <a:gd name="adj1" fmla="val 30365"/>
                <a:gd name="adj2" fmla="val 60731"/>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latin typeface="Times New Roman" panose="02020603050405020304" pitchFamily="18" charset="0"/>
                <a:cs typeface="Times New Roman" panose="02020603050405020304" pitchFamily="18" charset="0"/>
              </a:rPr>
              <a:t>Business Road Map</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itchFamily="18" charset="0"/>
                <a:cs typeface="Times New Roman" pitchFamily="18" charset="0"/>
              </a:rPr>
              <a:t>A business road map is a planning tool that outlines a company's goals and its strategy for achieving them. </a:t>
            </a:r>
          </a:p>
          <a:p>
            <a:r>
              <a:rPr lang="en-US" sz="3200" dirty="0" smtClean="0">
                <a:latin typeface="Times New Roman" pitchFamily="18" charset="0"/>
                <a:cs typeface="Times New Roman" pitchFamily="18" charset="0"/>
              </a:rPr>
              <a:t>It has a less formalized structure than a business plan, and might take the form of a graphic, a website, a flowchart or a traditional document.</a:t>
            </a:r>
            <a:endParaRPr lang="en-US" sz="32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Times New Roman" panose="02020603050405020304" pitchFamily="18" charset="0"/>
                <a:cs typeface="Times New Roman" panose="02020603050405020304" pitchFamily="18" charset="0"/>
              </a:rPr>
              <a:t>Road Map</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775191"/>
            <a:ext cx="8229600" cy="4778009"/>
          </a:xfrm>
        </p:spPr>
        <p:txBody>
          <a:bodyPr>
            <a:normAutofit fontScale="92500" lnSpcReduction="10000"/>
          </a:bodyPr>
          <a:lstStyle/>
          <a:p>
            <a:r>
              <a:rPr lang="en-US" sz="3200" dirty="0" smtClean="0">
                <a:solidFill>
                  <a:srgbClr val="FF0000"/>
                </a:solidFill>
                <a:latin typeface="Times New Roman" pitchFamily="18" charset="0"/>
                <a:cs typeface="Times New Roman" pitchFamily="18" charset="0"/>
              </a:rPr>
              <a:t>Phase 1:Find and develop your business ides, build a solid foundation</a:t>
            </a:r>
          </a:p>
          <a:p>
            <a:endParaRPr lang="en-US" sz="3200" dirty="0" smtClean="0">
              <a:solidFill>
                <a:srgbClr val="FF0000"/>
              </a:solidFill>
              <a:latin typeface="Times New Roman" pitchFamily="18" charset="0"/>
              <a:cs typeface="Times New Roman" pitchFamily="18" charset="0"/>
            </a:endParaRPr>
          </a:p>
          <a:p>
            <a:r>
              <a:rPr lang="en-US" sz="3200" b="1" dirty="0" smtClean="0">
                <a:latin typeface="Times New Roman" pitchFamily="18" charset="0"/>
                <a:cs typeface="Times New Roman" pitchFamily="18" charset="0"/>
              </a:rPr>
              <a:t>1.Direction:</a:t>
            </a:r>
            <a:r>
              <a:rPr lang="en-US" sz="3200" dirty="0" smtClean="0">
                <a:latin typeface="Times New Roman" pitchFamily="18" charset="0"/>
                <a:cs typeface="Times New Roman" pitchFamily="18" charset="0"/>
              </a:rPr>
              <a:t> Choose your business topic and define your audience</a:t>
            </a:r>
          </a:p>
          <a:p>
            <a:r>
              <a:rPr lang="en-US" sz="3200" b="1" dirty="0" smtClean="0">
                <a:latin typeface="Times New Roman" pitchFamily="18" charset="0"/>
                <a:cs typeface="Times New Roman" pitchFamily="18" charset="0"/>
              </a:rPr>
              <a:t>2.Connection:</a:t>
            </a:r>
            <a:r>
              <a:rPr lang="en-US" sz="3200" dirty="0" smtClean="0">
                <a:latin typeface="Times New Roman" pitchFamily="18" charset="0"/>
                <a:cs typeface="Times New Roman" pitchFamily="18" charset="0"/>
              </a:rPr>
              <a:t>Leverage community tools for support, friendship and accountability</a:t>
            </a:r>
          </a:p>
          <a:p>
            <a:r>
              <a:rPr lang="en-US" sz="3200" b="1" dirty="0" smtClean="0">
                <a:latin typeface="Times New Roman" pitchFamily="18" charset="0"/>
                <a:cs typeface="Times New Roman" pitchFamily="18" charset="0"/>
              </a:rPr>
              <a:t>3. Planning:</a:t>
            </a:r>
            <a:r>
              <a:rPr lang="en-US" sz="3200" dirty="0" smtClean="0">
                <a:latin typeface="Times New Roman" pitchFamily="18" charset="0"/>
                <a:cs typeface="Times New Roman" pitchFamily="18" charset="0"/>
              </a:rPr>
              <a:t> Define the problem and create a smart plan for your business</a:t>
            </a:r>
          </a:p>
          <a:p>
            <a:r>
              <a:rPr lang="en-US" sz="3200" b="1" dirty="0" smtClean="0">
                <a:latin typeface="Times New Roman" pitchFamily="18" charset="0"/>
                <a:cs typeface="Times New Roman" pitchFamily="18" charset="0"/>
              </a:rPr>
              <a:t>4. Set Up</a:t>
            </a:r>
            <a:r>
              <a:rPr lang="en-US" sz="3200" dirty="0" smtClean="0">
                <a:latin typeface="Times New Roman" pitchFamily="18" charset="0"/>
                <a:cs typeface="Times New Roman" pitchFamily="18" charset="0"/>
              </a:rPr>
              <a:t>: Name, establish and launch your business</a:t>
            </a:r>
          </a:p>
          <a:p>
            <a:endParaRPr lang="en-US" sz="32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Times New Roman" panose="02020603050405020304" pitchFamily="18" charset="0"/>
                <a:cs typeface="Times New Roman" panose="02020603050405020304" pitchFamily="18" charset="0"/>
              </a:rPr>
              <a:t>Road Map</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solidFill>
                  <a:srgbClr val="FF0000"/>
                </a:solidFill>
                <a:latin typeface="Times New Roman" pitchFamily="18" charset="0"/>
                <a:cs typeface="Times New Roman" pitchFamily="18" charset="0"/>
              </a:rPr>
              <a:t>Phase 2: Launch your business, earn through to support your self</a:t>
            </a:r>
          </a:p>
          <a:p>
            <a:endParaRPr lang="en-US" sz="3200" dirty="0" smtClean="0">
              <a:solidFill>
                <a:srgbClr val="FF0000"/>
              </a:solidFill>
              <a:latin typeface="Times New Roman" pitchFamily="18" charset="0"/>
              <a:cs typeface="Times New Roman" pitchFamily="18" charset="0"/>
            </a:endParaRPr>
          </a:p>
          <a:p>
            <a:r>
              <a:rPr lang="en-US" sz="3200" b="1" dirty="0" smtClean="0">
                <a:latin typeface="Times New Roman" pitchFamily="18" charset="0"/>
                <a:cs typeface="Times New Roman" pitchFamily="18" charset="0"/>
              </a:rPr>
              <a:t>5. Audience</a:t>
            </a:r>
            <a:r>
              <a:rPr lang="en-US" sz="3200" dirty="0" smtClean="0">
                <a:latin typeface="Times New Roman" pitchFamily="18" charset="0"/>
                <a:cs typeface="Times New Roman" pitchFamily="18" charset="0"/>
              </a:rPr>
              <a:t>: Choose an audience channel and grow your audience base</a:t>
            </a:r>
          </a:p>
          <a:p>
            <a:r>
              <a:rPr lang="en-US" sz="3200" b="1" dirty="0" smtClean="0">
                <a:latin typeface="Times New Roman" pitchFamily="18" charset="0"/>
                <a:cs typeface="Times New Roman" pitchFamily="18" charset="0"/>
              </a:rPr>
              <a:t>6. Product:</a:t>
            </a:r>
            <a:r>
              <a:rPr lang="en-US" sz="3200" dirty="0" smtClean="0">
                <a:latin typeface="Times New Roman" pitchFamily="18" charset="0"/>
                <a:cs typeface="Times New Roman" pitchFamily="18" charset="0"/>
              </a:rPr>
              <a:t> Plan and build your first small product to test your audience’s interest</a:t>
            </a:r>
          </a:p>
          <a:p>
            <a:r>
              <a:rPr lang="en-US" sz="3200" b="1" dirty="0" smtClean="0">
                <a:latin typeface="Times New Roman" pitchFamily="18" charset="0"/>
                <a:cs typeface="Times New Roman" pitchFamily="18" charset="0"/>
              </a:rPr>
              <a:t>7. Money</a:t>
            </a:r>
            <a:r>
              <a:rPr lang="en-US" sz="3200" dirty="0" smtClean="0">
                <a:latin typeface="Times New Roman" pitchFamily="18" charset="0"/>
                <a:cs typeface="Times New Roman" pitchFamily="18" charset="0"/>
              </a:rPr>
              <a:t>: Launch your product and grow revenue to support yourself </a:t>
            </a:r>
          </a:p>
          <a:p>
            <a:endParaRPr lang="en-US" sz="32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Times New Roman" panose="02020603050405020304" pitchFamily="18" charset="0"/>
                <a:cs typeface="Times New Roman" panose="02020603050405020304" pitchFamily="18" charset="0"/>
              </a:rPr>
              <a:t>Road Map</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itchFamily="18" charset="0"/>
                <a:cs typeface="Times New Roman" pitchFamily="18" charset="0"/>
              </a:rPr>
              <a:t>Phase 3: Optimize and grow to increased profitability and sustainability</a:t>
            </a:r>
          </a:p>
          <a:p>
            <a:endParaRPr lang="en-US" sz="3200" dirty="0" smtClean="0">
              <a:latin typeface="Times New Roman" pitchFamily="18" charset="0"/>
              <a:cs typeface="Times New Roman" pitchFamily="18" charset="0"/>
            </a:endParaRPr>
          </a:p>
          <a:p>
            <a:r>
              <a:rPr lang="en-US" sz="3200" b="1" dirty="0" smtClean="0">
                <a:latin typeface="Times New Roman" pitchFamily="18" charset="0"/>
                <a:cs typeface="Times New Roman" pitchFamily="18" charset="0"/>
              </a:rPr>
              <a:t>8. Growth</a:t>
            </a:r>
            <a:r>
              <a:rPr lang="en-US" sz="3200" dirty="0" smtClean="0">
                <a:latin typeface="Times New Roman" pitchFamily="18" charset="0"/>
                <a:cs typeface="Times New Roman" pitchFamily="18" charset="0"/>
              </a:rPr>
              <a:t>: A growth cycle to increase reach and revenue</a:t>
            </a:r>
          </a:p>
          <a:p>
            <a:r>
              <a:rPr lang="en-US" sz="3200" b="1" dirty="0" smtClean="0">
                <a:latin typeface="Times New Roman" pitchFamily="18" charset="0"/>
                <a:cs typeface="Times New Roman" pitchFamily="18" charset="0"/>
              </a:rPr>
              <a:t>9. Scale:</a:t>
            </a:r>
            <a:r>
              <a:rPr lang="en-US" sz="3200" dirty="0" smtClean="0">
                <a:latin typeface="Times New Roman" pitchFamily="18" charset="0"/>
                <a:cs typeface="Times New Roman" pitchFamily="18" charset="0"/>
              </a:rPr>
              <a:t> Rapidly accelerate your business growth, make it last</a:t>
            </a:r>
          </a:p>
          <a:p>
            <a:endParaRPr lang="en-US" sz="32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Start up a Business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118872" indent="0">
              <a:buNone/>
            </a:pPr>
            <a:r>
              <a:rPr lang="en-US" sz="3200" dirty="0" smtClean="0">
                <a:latin typeface="Times New Roman" panose="02020603050405020304" pitchFamily="18" charset="0"/>
                <a:cs typeface="Times New Roman" panose="02020603050405020304" pitchFamily="18" charset="0"/>
              </a:rPr>
              <a:t>A business may be started mainly under the following ways: </a:t>
            </a:r>
          </a:p>
          <a:p>
            <a:pPr marL="118872" indent="0">
              <a:buNone/>
            </a:pP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Starting a business as an entrepreneurship</a:t>
            </a:r>
          </a:p>
          <a:p>
            <a:r>
              <a:rPr lang="en-US" sz="3200" dirty="0" smtClean="0">
                <a:latin typeface="Times New Roman" panose="02020603050405020304" pitchFamily="18" charset="0"/>
                <a:cs typeface="Times New Roman" panose="02020603050405020304" pitchFamily="18" charset="0"/>
              </a:rPr>
              <a:t>Small business</a:t>
            </a:r>
          </a:p>
          <a:p>
            <a:r>
              <a:rPr lang="en-US" sz="3200" dirty="0" smtClean="0">
                <a:latin typeface="Times New Roman" panose="02020603050405020304" pitchFamily="18" charset="0"/>
                <a:cs typeface="Times New Roman" panose="02020603050405020304" pitchFamily="18" charset="0"/>
              </a:rPr>
              <a:t>Home based business</a:t>
            </a:r>
          </a:p>
          <a:p>
            <a:r>
              <a:rPr lang="en-US" sz="3200" dirty="0" smtClean="0">
                <a:latin typeface="Times New Roman" panose="02020603050405020304" pitchFamily="18" charset="0"/>
                <a:cs typeface="Times New Roman" panose="02020603050405020304" pitchFamily="18" charset="0"/>
              </a:rPr>
              <a:t>Buying an existing business</a:t>
            </a:r>
          </a:p>
          <a:p>
            <a:r>
              <a:rPr lang="en-US" sz="3200" dirty="0" smtClean="0">
                <a:latin typeface="Times New Roman" panose="02020603050405020304" pitchFamily="18" charset="0"/>
                <a:cs typeface="Times New Roman" panose="02020603050405020304" pitchFamily="18" charset="0"/>
              </a:rPr>
              <a:t>Franchising</a:t>
            </a:r>
          </a:p>
          <a:p>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Entrepreneurship ( New business)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anose="02020603050405020304" pitchFamily="18" charset="0"/>
                <a:cs typeface="Times New Roman" panose="02020603050405020304" pitchFamily="18" charset="0"/>
              </a:rPr>
              <a:t>Entrepreneurs usually start with an idea, often a simple one, and then transform that idea into a sustainable business. </a:t>
            </a:r>
          </a:p>
          <a:p>
            <a:r>
              <a:rPr lang="en-US" sz="3200" dirty="0" smtClean="0">
                <a:latin typeface="Times New Roman" panose="02020603050405020304" pitchFamily="18" charset="0"/>
                <a:cs typeface="Times New Roman" panose="02020603050405020304" pitchFamily="18" charset="0"/>
              </a:rPr>
              <a:t>Advantages: </a:t>
            </a:r>
          </a:p>
          <a:p>
            <a:r>
              <a:rPr lang="en-US" sz="3200" dirty="0" smtClean="0">
                <a:latin typeface="Times New Roman" panose="02020603050405020304" pitchFamily="18" charset="0"/>
                <a:cs typeface="Times New Roman" panose="02020603050405020304" pitchFamily="18" charset="0"/>
              </a:rPr>
              <a:t>1. Innovation</a:t>
            </a:r>
          </a:p>
          <a:p>
            <a:r>
              <a:rPr lang="en-US" sz="3200" dirty="0" smtClean="0">
                <a:latin typeface="Times New Roman" panose="02020603050405020304" pitchFamily="18" charset="0"/>
                <a:cs typeface="Times New Roman" panose="02020603050405020304" pitchFamily="18" charset="0"/>
              </a:rPr>
              <a:t>2. Flexible</a:t>
            </a:r>
          </a:p>
          <a:p>
            <a:r>
              <a:rPr lang="en-US" sz="3200" dirty="0" smtClean="0">
                <a:latin typeface="Times New Roman" panose="02020603050405020304" pitchFamily="18" charset="0"/>
                <a:cs typeface="Times New Roman" panose="02020603050405020304" pitchFamily="18" charset="0"/>
              </a:rPr>
              <a:t>3. personal attention</a:t>
            </a:r>
          </a:p>
          <a:p>
            <a:r>
              <a:rPr lang="en-US" sz="3200" dirty="0" smtClean="0">
                <a:latin typeface="Times New Roman" panose="02020603050405020304" pitchFamily="18" charset="0"/>
                <a:cs typeface="Times New Roman" panose="02020603050405020304" pitchFamily="18" charset="0"/>
              </a:rPr>
              <a:t>4. independence</a:t>
            </a:r>
          </a:p>
          <a:p>
            <a:r>
              <a:rPr lang="en-US" sz="3200" dirty="0" smtClean="0">
                <a:latin typeface="Times New Roman" panose="02020603050405020304" pitchFamily="18" charset="0"/>
                <a:cs typeface="Times New Roman" panose="02020603050405020304" pitchFamily="18" charset="0"/>
              </a:rPr>
              <a:t>5. cost conscious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03776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Small business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524000"/>
            <a:ext cx="8839200" cy="5181600"/>
          </a:xfrm>
        </p:spPr>
        <p:txBody>
          <a:bodyPr>
            <a:normAutofit/>
          </a:bodyPr>
          <a:lstStyle/>
          <a:p>
            <a:r>
              <a:rPr lang="en-US" sz="3200" dirty="0" smtClean="0">
                <a:latin typeface="Times New Roman" panose="02020603050405020304" pitchFamily="18" charset="0"/>
                <a:cs typeface="Times New Roman" panose="02020603050405020304" pitchFamily="18" charset="0"/>
              </a:rPr>
              <a:t>Small business is one which has less capital independently owned , managed and operated.</a:t>
            </a:r>
          </a:p>
          <a:p>
            <a:pPr marL="118872" indent="0">
              <a:buNone/>
            </a:pPr>
            <a:r>
              <a:rPr lang="en-US" sz="3200" dirty="0" smtClean="0">
                <a:latin typeface="Times New Roman" panose="02020603050405020304" pitchFamily="18" charset="0"/>
                <a:cs typeface="Times New Roman" panose="02020603050405020304" pitchFamily="18" charset="0"/>
              </a:rPr>
              <a:t> </a:t>
            </a:r>
          </a:p>
          <a:p>
            <a:pPr marL="118872" indent="0">
              <a:buNone/>
            </a:pPr>
            <a:r>
              <a:rPr lang="en-US" sz="3200" b="1" dirty="0" smtClean="0">
                <a:latin typeface="Times New Roman" panose="02020603050405020304" pitchFamily="18" charset="0"/>
                <a:cs typeface="Times New Roman" panose="02020603050405020304" pitchFamily="18" charset="0"/>
              </a:rPr>
              <a:t>Following factors need to be considered to start a small business: </a:t>
            </a:r>
          </a:p>
          <a:p>
            <a:pPr marL="118872" indent="0">
              <a:buNone/>
            </a:pPr>
            <a:r>
              <a:rPr lang="en-US" sz="3200" dirty="0" smtClean="0">
                <a:latin typeface="Times New Roman" panose="02020603050405020304" pitchFamily="18" charset="0"/>
                <a:cs typeface="Times New Roman" panose="02020603050405020304" pitchFamily="18" charset="0"/>
              </a:rPr>
              <a:t>1. Experience               5. Customer demographics</a:t>
            </a:r>
          </a:p>
          <a:p>
            <a:pPr marL="118872" indent="0">
              <a:buNone/>
            </a:pPr>
            <a:r>
              <a:rPr lang="en-US" sz="3200" dirty="0" smtClean="0">
                <a:latin typeface="Times New Roman" panose="02020603050405020304" pitchFamily="18" charset="0"/>
                <a:cs typeface="Times New Roman" panose="02020603050405020304" pitchFamily="18" charset="0"/>
              </a:rPr>
              <a:t>2. Capital                        6. Completion</a:t>
            </a:r>
          </a:p>
          <a:p>
            <a:pPr marL="118872" indent="0">
              <a:buNone/>
            </a:pPr>
            <a:r>
              <a:rPr lang="en-US" sz="3200" dirty="0" smtClean="0">
                <a:latin typeface="Times New Roman" panose="02020603050405020304" pitchFamily="18" charset="0"/>
                <a:cs typeface="Times New Roman" panose="02020603050405020304" pitchFamily="18" charset="0"/>
              </a:rPr>
              <a:t>3. Location                     7. Record keeping</a:t>
            </a:r>
          </a:p>
          <a:p>
            <a:pPr marL="118872" indent="0">
              <a:buNone/>
            </a:pPr>
            <a:r>
              <a:rPr lang="en-US" sz="3200" dirty="0" smtClean="0">
                <a:latin typeface="Times New Roman" panose="02020603050405020304" pitchFamily="18" charset="0"/>
                <a:cs typeface="Times New Roman" panose="02020603050405020304" pitchFamily="18" charset="0"/>
              </a:rPr>
              <a:t>4. Inventory management</a:t>
            </a:r>
          </a:p>
          <a:p>
            <a:pPr marL="118872" indent="0">
              <a:buNone/>
            </a:pPr>
            <a:r>
              <a:rPr lang="en-US" sz="3200" dirty="0" smtClean="0">
                <a:latin typeface="Times New Roman" panose="02020603050405020304" pitchFamily="18" charset="0"/>
                <a:cs typeface="Times New Roman" panose="02020603050405020304" pitchFamily="18" charset="0"/>
              </a:rPr>
              <a:t>                    8. Condition of business, if purchased</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65220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Starting small business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118872" indent="0">
              <a:buNone/>
            </a:pPr>
            <a:r>
              <a:rPr lang="en-US" sz="3200" dirty="0" smtClean="0">
                <a:latin typeface="Times New Roman" panose="02020603050405020304" pitchFamily="18" charset="0"/>
                <a:cs typeface="Times New Roman" panose="02020603050405020304" pitchFamily="18" charset="0"/>
              </a:rPr>
              <a:t>Problems of small business ownership</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Lack of experience</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Lack of management skill</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Inadequate finance</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Flaws in planning</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12895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Home based business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anose="02020603050405020304" pitchFamily="18" charset="0"/>
                <a:cs typeface="Times New Roman" panose="02020603050405020304" pitchFamily="18" charset="0"/>
              </a:rPr>
              <a:t>It is a typical small business and found in many countries significantly as a side business by people working in offices or by people seeking self employment, taking help from family members as feasible. </a:t>
            </a:r>
          </a:p>
          <a:p>
            <a:r>
              <a:rPr lang="en-US" sz="3200" dirty="0" smtClean="0">
                <a:latin typeface="Times New Roman" panose="02020603050405020304" pitchFamily="18" charset="0"/>
                <a:cs typeface="Times New Roman" panose="02020603050405020304" pitchFamily="18" charset="0"/>
              </a:rPr>
              <a:t>It can be:  </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As part timer</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As a full time entrepreneur</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65090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Home based business</a:t>
            </a:r>
          </a:p>
        </p:txBody>
      </p:sp>
      <p:sp>
        <p:nvSpPr>
          <p:cNvPr id="3" name="Content Placeholder 2"/>
          <p:cNvSpPr>
            <a:spLocks noGrp="1"/>
          </p:cNvSpPr>
          <p:nvPr>
            <p:ph idx="1"/>
          </p:nvPr>
        </p:nvSpPr>
        <p:spPr/>
        <p:txBody>
          <a:bodyPr/>
          <a:lstStyle/>
          <a:p>
            <a:r>
              <a:rPr lang="en-US" sz="3200" dirty="0" smtClean="0">
                <a:latin typeface="Times New Roman" panose="02020603050405020304" pitchFamily="18" charset="0"/>
                <a:cs typeface="Times New Roman" panose="02020603050405020304" pitchFamily="18" charset="0"/>
              </a:rPr>
              <a:t>Common pitfalls of home based business: </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Failure to compartmentalize</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Failure to limit financial risks</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Disregard for zoning requirement</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Physical limitations</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Work at home schemes</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Disagree for allowable business deductions</a:t>
            </a:r>
          </a:p>
          <a:p>
            <a:pPr marL="633222" indent="-514350">
              <a:buAutoNum type="arabicPeriod"/>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211356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Buy a existing business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anose="02020603050405020304" pitchFamily="18" charset="0"/>
                <a:cs typeface="Times New Roman" panose="02020603050405020304" pitchFamily="18" charset="0"/>
              </a:rPr>
              <a:t>Buying an existing business is less risky than starting from scratch. </a:t>
            </a:r>
          </a:p>
          <a:p>
            <a:r>
              <a:rPr lang="en-US" sz="3200" dirty="0" smtClean="0">
                <a:latin typeface="Times New Roman" panose="02020603050405020304" pitchFamily="18" charset="0"/>
                <a:cs typeface="Times New Roman" panose="02020603050405020304" pitchFamily="18" charset="0"/>
              </a:rPr>
              <a:t>Advantages : </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It has already generating cash flow and profits</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It has an established customer base</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It has reputation and employees who are familiar with all aspects of business.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53776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Franchising</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118872" indent="0">
              <a:buNone/>
            </a:pPr>
            <a:r>
              <a:rPr lang="en-US" sz="3200" dirty="0" smtClean="0">
                <a:latin typeface="Times New Roman" panose="02020603050405020304" pitchFamily="18" charset="0"/>
                <a:cs typeface="Times New Roman" panose="02020603050405020304" pitchFamily="18" charset="0"/>
              </a:rPr>
              <a:t>Business franchising is one of the safest and most risk free ways to start up and run a successful business. Business franchises and franchising opportunities are increasing internationally.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2689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Business Plan</a:t>
            </a:r>
            <a:r>
              <a:rPr lang="en-US" sz="3200" dirty="0" smtClean="0">
                <a:latin typeface="Times New Roman" panose="02020603050405020304" pitchFamily="18" charset="0"/>
                <a:cs typeface="Times New Roman" panose="02020603050405020304" pitchFamily="18" charset="0"/>
              </a:rPr>
              <a:t/>
            </a:r>
            <a:br>
              <a:rPr lang="en-US" sz="3200" dirty="0" smtClean="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r>
              <a:rPr lang="en-US" sz="3200" dirty="0" smtClean="0">
                <a:latin typeface="Times New Roman" pitchFamily="18" charset="0"/>
                <a:cs typeface="Times New Roman" pitchFamily="18" charset="0"/>
              </a:rPr>
              <a:t>Business plan is a formal, written expression of the entrepreneur’s vision for converting ideas into a profitable, going business. </a:t>
            </a:r>
          </a:p>
          <a:p>
            <a:r>
              <a:rPr lang="en-US" sz="3200" dirty="0" smtClean="0">
                <a:latin typeface="Times New Roman" pitchFamily="18" charset="0"/>
                <a:cs typeface="Times New Roman" pitchFamily="18" charset="0"/>
              </a:rPr>
              <a:t>The business plan is the entrepreneur’s roadmap for a successful enterprise. </a:t>
            </a:r>
          </a:p>
          <a:p>
            <a:r>
              <a:rPr lang="en-US" sz="3200" dirty="0" smtClean="0">
                <a:latin typeface="Times New Roman" pitchFamily="18" charset="0"/>
                <a:cs typeface="Times New Roman" pitchFamily="18" charset="0"/>
              </a:rPr>
              <a:t>The primary value in learning how to write a business plan will be to create a written outline that evaluates all aspects of the economic viability of your business venture including a description and analysis of your business prospects.</a:t>
            </a:r>
          </a:p>
          <a:p>
            <a:endParaRPr lang="en-US" sz="32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758952"/>
          </a:xfrm>
        </p:spPr>
        <p:txBody>
          <a:bodyPr>
            <a:normAutofit/>
          </a:bodyPr>
          <a:lstStyle/>
          <a:p>
            <a:r>
              <a:rPr lang="en-US" sz="4000" b="1" dirty="0" smtClean="0">
                <a:latin typeface="Times New Roman" panose="02020603050405020304" pitchFamily="18" charset="0"/>
                <a:cs typeface="Times New Roman" panose="02020603050405020304" pitchFamily="18" charset="0"/>
              </a:rPr>
              <a:t>Components of a Business Plan</a:t>
            </a:r>
            <a:endParaRPr lang="en-US" sz="4000" dirty="0">
              <a:latin typeface="Times New Roman" panose="02020603050405020304" pitchFamily="18" charset="0"/>
              <a:cs typeface="Times New Roman" panose="02020603050405020304" pitchFamily="18" charset="0"/>
            </a:endParaRPr>
          </a:p>
        </p:txBody>
      </p:sp>
      <p:pic>
        <p:nvPicPr>
          <p:cNvPr id="4" name="Picture 3" descr="Image result for images of components of business plan"/>
          <p:cNvPicPr/>
          <p:nvPr/>
        </p:nvPicPr>
        <p:blipFill>
          <a:blip r:embed="rId2" cstate="print">
            <a:duotone>
              <a:prstClr val="black"/>
              <a:schemeClr val="bg1">
                <a:tint val="45000"/>
                <a:satMod val="400000"/>
              </a:schemeClr>
            </a:duotone>
          </a:blip>
          <a:srcRect/>
          <a:stretch>
            <a:fillRect/>
          </a:stretch>
        </p:blipFill>
        <p:spPr bwMode="auto">
          <a:xfrm>
            <a:off x="304800" y="1066800"/>
            <a:ext cx="8534400" cy="5791200"/>
          </a:xfrm>
          <a:prstGeom prst="ellipse">
            <a:avLst/>
          </a:prstGeom>
          <a:ln>
            <a:noFill/>
          </a:ln>
          <a:effectLst>
            <a:softEdge rad="11250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normAutofit fontScale="92500" lnSpcReduction="10000"/>
          </a:bodyPr>
          <a:lstStyle/>
          <a:p>
            <a:r>
              <a:rPr lang="en-US" sz="3200" b="1" dirty="0" smtClean="0">
                <a:latin typeface="Times New Roman" panose="02020603050405020304" pitchFamily="18" charset="0"/>
                <a:cs typeface="Times New Roman" panose="02020603050405020304" pitchFamily="18" charset="0"/>
              </a:rPr>
              <a:t>Executive summary: </a:t>
            </a:r>
          </a:p>
          <a:p>
            <a:pPr marL="118872" indent="0">
              <a:buNone/>
            </a:pPr>
            <a:r>
              <a:rPr lang="en-US" sz="3200" dirty="0" smtClean="0">
                <a:latin typeface="Times New Roman" panose="02020603050405020304" pitchFamily="18" charset="0"/>
                <a:cs typeface="Times New Roman" panose="02020603050405020304" pitchFamily="18" charset="0"/>
              </a:rPr>
              <a:t>It generally cover: </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The company’s origins</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The product or service and its uniqueness of competitive advantage</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The goal and objectives of the organization</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The market potential for the product or service</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The management team and its track record</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The financing required to grow the business</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The exits strategy</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805783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Mission statement of business: </a:t>
            </a:r>
          </a:p>
          <a:p>
            <a:pPr marL="118872" indent="0">
              <a:buNone/>
            </a:pPr>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The mission statement spell out its overall goal, provide a path, and guide decision making.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830503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Company background</a:t>
            </a:r>
          </a:p>
          <a:p>
            <a:pPr marL="118872" indent="0">
              <a:buNone/>
            </a:pPr>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This section cover the location, function, history, size of the business. Describe the nature of the business.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10206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Description of product or service</a:t>
            </a:r>
          </a:p>
          <a:p>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This section provides a clear explanation of the product or service and its function. Photos and diagrams may be used.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69750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normAutofit lnSpcReduction="10000"/>
          </a:bodyPr>
          <a:lstStyle/>
          <a:p>
            <a:r>
              <a:rPr lang="en-US" sz="3200" b="1" dirty="0" smtClean="0">
                <a:latin typeface="Times New Roman" panose="02020603050405020304" pitchFamily="18" charset="0"/>
                <a:cs typeface="Times New Roman" panose="02020603050405020304" pitchFamily="18" charset="0"/>
              </a:rPr>
              <a:t>Market analysis and strategy</a:t>
            </a:r>
          </a:p>
          <a:p>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This section covers: </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Specific market and demand for the product</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Who are the customers of the product?</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Identify major competitors and their strengths and weaknesses and occupied market share. </a:t>
            </a:r>
          </a:p>
          <a:p>
            <a:pPr marL="633222" indent="-514350">
              <a:buAutoNum type="arabicPeriod"/>
            </a:pPr>
            <a:r>
              <a:rPr lang="en-US" sz="3200" dirty="0" smtClean="0">
                <a:latin typeface="Times New Roman" panose="02020603050405020304" pitchFamily="18" charset="0"/>
                <a:cs typeface="Times New Roman" panose="02020603050405020304" pitchFamily="18" charset="0"/>
              </a:rPr>
              <a:t>Marketing strategies to reach to the customers and sell the product or service. </a:t>
            </a:r>
          </a:p>
          <a:p>
            <a:pPr marL="633222" indent="-514350">
              <a:buAutoNum type="arabicPeriod"/>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80264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Competitor analysis: </a:t>
            </a:r>
          </a:p>
          <a:p>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This section identify the competitors and analysis their strengths and weakness and relative position of your product or service.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65241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SWOT analysis</a:t>
            </a:r>
          </a:p>
          <a:p>
            <a:endParaRPr lang="en-US" sz="3200" dirty="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Strength, weakness, opportunity and threat analysis uncover the opportunities that a business can exploit with the existing resources and also identify the threats that need to manage or eliminate.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987362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Operations</a:t>
            </a:r>
          </a:p>
          <a:p>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This section offers a details description of how product will be produce and service will be provided. In case of manufacturing organization it will cover how to collect raw materials, what is the manufacturing process, size of the factory, work force, work flows, and volume.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317154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Financial planning</a:t>
            </a:r>
          </a:p>
          <a:p>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This section explains fund and loan needed and what business will do with this money. It provides specific amount.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56523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Components of a Business Plan</a:t>
            </a:r>
          </a:p>
        </p:txBody>
      </p:sp>
      <p:sp>
        <p:nvSpPr>
          <p:cNvPr id="3" name="Content Placeholder 2"/>
          <p:cNvSpPr>
            <a:spLocks noGrp="1"/>
          </p:cNvSpPr>
          <p:nvPr>
            <p:ph idx="1"/>
          </p:nvPr>
        </p:nvSpPr>
        <p:spPr/>
        <p:txBody>
          <a:bodyPr/>
          <a:lstStyle/>
          <a:p>
            <a:r>
              <a:rPr lang="en-US" sz="3200" b="1" dirty="0" smtClean="0">
                <a:latin typeface="Times New Roman" panose="02020603050405020304" pitchFamily="18" charset="0"/>
                <a:cs typeface="Times New Roman" panose="02020603050405020304" pitchFamily="18" charset="0"/>
              </a:rPr>
              <a:t>Time line</a:t>
            </a:r>
          </a:p>
          <a:p>
            <a:endParaRPr lang="en-US" sz="3200" dirty="0">
              <a:latin typeface="Times New Roman" panose="02020603050405020304" pitchFamily="18" charset="0"/>
              <a:cs typeface="Times New Roman" panose="02020603050405020304" pitchFamily="18" charset="0"/>
            </a:endParaRPr>
          </a:p>
          <a:p>
            <a:pPr marL="118872" indent="0">
              <a:buNone/>
            </a:pPr>
            <a:r>
              <a:rPr lang="en-US" sz="3200" dirty="0" smtClean="0">
                <a:latin typeface="Times New Roman" panose="02020603050405020304" pitchFamily="18" charset="0"/>
                <a:cs typeface="Times New Roman" panose="02020603050405020304" pitchFamily="18" charset="0"/>
              </a:rPr>
              <a:t>A business plan, intended for circulation to investors, usually must project business operations for three years. Informal business plans can operate on shorter time frames. The core of a business plan time line is cash flow and revenue overtime.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723959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General procedure to start up a company</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itchFamily="18" charset="0"/>
                <a:cs typeface="Times New Roman" pitchFamily="18" charset="0"/>
              </a:rPr>
              <a:t>Pre registration ( for example , name verification or reservation)</a:t>
            </a:r>
          </a:p>
          <a:p>
            <a:r>
              <a:rPr lang="en-US" sz="3200" dirty="0" smtClean="0">
                <a:latin typeface="Times New Roman" pitchFamily="18" charset="0"/>
                <a:cs typeface="Times New Roman" pitchFamily="18" charset="0"/>
              </a:rPr>
              <a:t>Registration (under the company act)</a:t>
            </a:r>
          </a:p>
          <a:p>
            <a:r>
              <a:rPr lang="en-US" sz="3200" dirty="0" smtClean="0">
                <a:latin typeface="Times New Roman" pitchFamily="18" charset="0"/>
                <a:cs typeface="Times New Roman" pitchFamily="18" charset="0"/>
              </a:rPr>
              <a:t>Post registration ( for example, social security registration, company seal)</a:t>
            </a:r>
            <a:endParaRPr lang="en-US" sz="32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Act Governing Business in Bangladesh</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3200" dirty="0" smtClean="0">
                <a:latin typeface="Times New Roman" pitchFamily="18" charset="0"/>
                <a:cs typeface="Times New Roman" pitchFamily="18" charset="0"/>
              </a:rPr>
              <a:t>Legal environment of business comprise many laws, rules, and regulations framed under different laws. In fact business and business houses and concerned agencies are to work complying with such provision of relevant laws, rules and regulations.</a:t>
            </a:r>
          </a:p>
          <a:p>
            <a:endParaRPr lang="en-US" sz="32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Various business law regulations in Bangladesh </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0"/>
            <a:r>
              <a:rPr lang="en-US" sz="3200" dirty="0" smtClean="0">
                <a:latin typeface="Times New Roman" pitchFamily="18" charset="0"/>
                <a:cs typeface="Times New Roman" pitchFamily="18" charset="0"/>
              </a:rPr>
              <a:t>General laws governing business in general</a:t>
            </a:r>
          </a:p>
          <a:p>
            <a:pPr lvl="0"/>
            <a:r>
              <a:rPr lang="en-US" sz="3200" dirty="0" smtClean="0">
                <a:latin typeface="Times New Roman" pitchFamily="18" charset="0"/>
                <a:cs typeface="Times New Roman" pitchFamily="18" charset="0"/>
              </a:rPr>
              <a:t>Laws governing specific type of business houses</a:t>
            </a:r>
          </a:p>
          <a:p>
            <a:pPr lvl="0"/>
            <a:r>
              <a:rPr lang="en-US" sz="3200" dirty="0" smtClean="0">
                <a:latin typeface="Times New Roman" pitchFamily="18" charset="0"/>
                <a:cs typeface="Times New Roman" pitchFamily="18" charset="0"/>
              </a:rPr>
              <a:t>Labor law</a:t>
            </a:r>
          </a:p>
          <a:p>
            <a:pPr lvl="0"/>
            <a:r>
              <a:rPr lang="en-US" sz="3200" dirty="0" smtClean="0">
                <a:latin typeface="Times New Roman" pitchFamily="18" charset="0"/>
                <a:cs typeface="Times New Roman" pitchFamily="18" charset="0"/>
              </a:rPr>
              <a:t>Act relating to the consumer interest.</a:t>
            </a:r>
          </a:p>
          <a:p>
            <a:pPr lvl="0"/>
            <a:r>
              <a:rPr lang="en-US" sz="3200" dirty="0" smtClean="0">
                <a:latin typeface="Times New Roman" pitchFamily="18" charset="0"/>
                <a:cs typeface="Times New Roman" pitchFamily="18" charset="0"/>
              </a:rPr>
              <a:t>Some financial acts</a:t>
            </a:r>
          </a:p>
          <a:p>
            <a:endParaRPr lang="en-US" sz="32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sz="3200" b="1" dirty="0" smtClean="0">
                <a:latin typeface="Times New Roman" panose="02020603050405020304" pitchFamily="18" charset="0"/>
                <a:cs typeface="Times New Roman" panose="02020603050405020304" pitchFamily="18" charset="0"/>
              </a:rPr>
              <a:t>General laws governing business in general</a:t>
            </a:r>
            <a:r>
              <a:rPr lang="en-US" sz="3200" dirty="0" smtClean="0">
                <a:latin typeface="Times New Roman" panose="02020603050405020304" pitchFamily="18" charset="0"/>
                <a:cs typeface="Times New Roman" panose="02020603050405020304" pitchFamily="18" charset="0"/>
              </a:rPr>
              <a:t/>
            </a:r>
            <a:br>
              <a:rPr lang="en-US" sz="3200" dirty="0" smtClean="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r>
              <a:rPr lang="en-US" sz="3200" dirty="0" smtClean="0">
                <a:latin typeface="Times New Roman" pitchFamily="18" charset="0"/>
                <a:cs typeface="Times New Roman" pitchFamily="18" charset="0"/>
              </a:rPr>
              <a:t>Law of contract-contract act, 1872</a:t>
            </a:r>
          </a:p>
          <a:p>
            <a:pPr lvl="0"/>
            <a:r>
              <a:rPr lang="en-US" sz="3200" dirty="0" smtClean="0">
                <a:latin typeface="Times New Roman" pitchFamily="18" charset="0"/>
                <a:cs typeface="Times New Roman" pitchFamily="18" charset="0"/>
              </a:rPr>
              <a:t>The negotiable instrument act 1881</a:t>
            </a:r>
          </a:p>
          <a:p>
            <a:pPr lvl="0"/>
            <a:r>
              <a:rPr lang="en-US" sz="3200" dirty="0" smtClean="0">
                <a:latin typeface="Times New Roman" pitchFamily="18" charset="0"/>
                <a:cs typeface="Times New Roman" pitchFamily="18" charset="0"/>
              </a:rPr>
              <a:t>Law relating to carriage.</a:t>
            </a:r>
          </a:p>
          <a:p>
            <a:pPr lvl="0"/>
            <a:r>
              <a:rPr lang="en-US" sz="3200" dirty="0" smtClean="0">
                <a:latin typeface="Times New Roman" pitchFamily="18" charset="0"/>
                <a:cs typeface="Times New Roman" pitchFamily="18" charset="0"/>
              </a:rPr>
              <a:t>law relating to sale of goods act 1930</a:t>
            </a:r>
          </a:p>
          <a:p>
            <a:pPr lvl="0"/>
            <a:r>
              <a:rPr lang="en-US" sz="3200" dirty="0" smtClean="0">
                <a:latin typeface="Times New Roman" pitchFamily="18" charset="0"/>
                <a:cs typeface="Times New Roman" pitchFamily="18" charset="0"/>
              </a:rPr>
              <a:t>Trade mark act 1940</a:t>
            </a:r>
          </a:p>
          <a:p>
            <a:pPr lvl="0"/>
            <a:r>
              <a:rPr lang="en-US" sz="3200" dirty="0" smtClean="0">
                <a:latin typeface="Times New Roman" pitchFamily="18" charset="0"/>
                <a:cs typeface="Times New Roman" pitchFamily="18" charset="0"/>
              </a:rPr>
              <a:t>The arbitration act 1940</a:t>
            </a:r>
          </a:p>
          <a:p>
            <a:pPr lvl="0"/>
            <a:r>
              <a:rPr lang="en-US" sz="3200" dirty="0" smtClean="0">
                <a:latin typeface="Times New Roman" pitchFamily="18" charset="0"/>
                <a:cs typeface="Times New Roman" pitchFamily="18" charset="0"/>
              </a:rPr>
              <a:t>The shop act 1965</a:t>
            </a:r>
          </a:p>
          <a:p>
            <a:pPr lvl="0"/>
            <a:r>
              <a:rPr lang="en-US" sz="3200" dirty="0" smtClean="0">
                <a:latin typeface="Times New Roman" pitchFamily="18" charset="0"/>
                <a:cs typeface="Times New Roman" pitchFamily="18" charset="0"/>
              </a:rPr>
              <a:t>Customs act. 1969</a:t>
            </a:r>
          </a:p>
          <a:p>
            <a:pPr lvl="0"/>
            <a:r>
              <a:rPr lang="en-US" sz="3200" dirty="0" smtClean="0">
                <a:latin typeface="Times New Roman" pitchFamily="18" charset="0"/>
                <a:cs typeface="Times New Roman" pitchFamily="18" charset="0"/>
              </a:rPr>
              <a:t>Foreign investment protection act 1980</a:t>
            </a:r>
          </a:p>
          <a:p>
            <a:endParaRPr lang="en-US" sz="32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Laws governing specific type of business houses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sz="3200" b="1" dirty="0" smtClean="0">
                <a:latin typeface="Times New Roman" pitchFamily="18" charset="0"/>
                <a:cs typeface="Times New Roman" pitchFamily="18" charset="0"/>
              </a:rPr>
              <a:t>Laws governing specific type of business houses</a:t>
            </a:r>
            <a:endParaRPr lang="en-US" sz="3200" dirty="0" smtClean="0">
              <a:latin typeface="Times New Roman" pitchFamily="18" charset="0"/>
              <a:cs typeface="Times New Roman" pitchFamily="18" charset="0"/>
            </a:endParaRPr>
          </a:p>
          <a:p>
            <a:pPr lvl="0"/>
            <a:r>
              <a:rPr lang="en-US" sz="3200" dirty="0" smtClean="0">
                <a:latin typeface="Times New Roman" pitchFamily="18" charset="0"/>
                <a:cs typeface="Times New Roman" pitchFamily="18" charset="0"/>
              </a:rPr>
              <a:t>Partnership act 1932</a:t>
            </a:r>
          </a:p>
          <a:p>
            <a:pPr lvl="0"/>
            <a:r>
              <a:rPr lang="en-US" sz="3200" dirty="0" smtClean="0">
                <a:latin typeface="Times New Roman" pitchFamily="18" charset="0"/>
                <a:cs typeface="Times New Roman" pitchFamily="18" charset="0"/>
              </a:rPr>
              <a:t>Company act 1994</a:t>
            </a:r>
          </a:p>
          <a:p>
            <a:pPr lvl="0"/>
            <a:r>
              <a:rPr lang="en-US" sz="3200" dirty="0" smtClean="0">
                <a:latin typeface="Times New Roman" pitchFamily="18" charset="0"/>
                <a:cs typeface="Times New Roman" pitchFamily="18" charset="0"/>
              </a:rPr>
              <a:t>The Bangladesh industrial enterprise order 1972</a:t>
            </a:r>
          </a:p>
          <a:p>
            <a:pPr lvl="0"/>
            <a:r>
              <a:rPr lang="en-US" sz="3200" dirty="0" smtClean="0">
                <a:latin typeface="Times New Roman" pitchFamily="18" charset="0"/>
                <a:cs typeface="Times New Roman" pitchFamily="18" charset="0"/>
              </a:rPr>
              <a:t>Securities and exchange order 1969</a:t>
            </a:r>
          </a:p>
          <a:p>
            <a:pPr lvl="0"/>
            <a:r>
              <a:rPr lang="en-US" sz="3200" dirty="0" smtClean="0">
                <a:latin typeface="Times New Roman" pitchFamily="18" charset="0"/>
                <a:cs typeface="Times New Roman" pitchFamily="18" charset="0"/>
              </a:rPr>
              <a:t>Banking company act 1991</a:t>
            </a:r>
          </a:p>
          <a:p>
            <a:pPr lvl="0"/>
            <a:r>
              <a:rPr lang="en-US" sz="3200" dirty="0" smtClean="0">
                <a:latin typeface="Times New Roman" pitchFamily="18" charset="0"/>
                <a:cs typeface="Times New Roman" pitchFamily="18" charset="0"/>
              </a:rPr>
              <a:t>Law of insurance 1938</a:t>
            </a:r>
          </a:p>
          <a:p>
            <a:pPr lvl="0"/>
            <a:r>
              <a:rPr lang="en-US" sz="3200" dirty="0" smtClean="0">
                <a:latin typeface="Times New Roman" pitchFamily="18" charset="0"/>
                <a:cs typeface="Times New Roman" pitchFamily="18" charset="0"/>
              </a:rPr>
              <a:t>The cooperative society act 1984</a:t>
            </a:r>
          </a:p>
          <a:p>
            <a:endParaRPr lang="en-US" sz="32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Labor law</a:t>
            </a:r>
            <a:r>
              <a:rPr lang="en-US" sz="3200" dirty="0" smtClean="0">
                <a:latin typeface="Times New Roman" panose="02020603050405020304" pitchFamily="18" charset="0"/>
                <a:cs typeface="Times New Roman" panose="02020603050405020304" pitchFamily="18" charset="0"/>
              </a:rPr>
              <a:t/>
            </a:r>
            <a:br>
              <a:rPr lang="en-US" sz="3200" dirty="0" smtClean="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0"/>
            <a:r>
              <a:rPr lang="en-US" sz="3200" dirty="0" smtClean="0">
                <a:latin typeface="Times New Roman" pitchFamily="18" charset="0"/>
                <a:cs typeface="Times New Roman" pitchFamily="18" charset="0"/>
              </a:rPr>
              <a:t>Bangladesh labor law 2006</a:t>
            </a:r>
          </a:p>
          <a:p>
            <a:endParaRPr lang="en-US" sz="32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Act relating to the consumer interest</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lvl="0"/>
            <a:r>
              <a:rPr lang="en-US" sz="3200" dirty="0" smtClean="0">
                <a:latin typeface="Times New Roman" pitchFamily="18" charset="0"/>
                <a:cs typeface="Times New Roman" pitchFamily="18" charset="0"/>
              </a:rPr>
              <a:t>Essential commodity control act, 1956</a:t>
            </a:r>
          </a:p>
          <a:p>
            <a:pPr lvl="0"/>
            <a:r>
              <a:rPr lang="en-US" sz="3200" dirty="0" smtClean="0">
                <a:latin typeface="Times New Roman" pitchFamily="18" charset="0"/>
                <a:cs typeface="Times New Roman" pitchFamily="18" charset="0"/>
              </a:rPr>
              <a:t>Pure food ordinance, 1959</a:t>
            </a:r>
          </a:p>
          <a:p>
            <a:pPr lvl="0"/>
            <a:r>
              <a:rPr lang="en-US" sz="3200" dirty="0" smtClean="0">
                <a:latin typeface="Times New Roman" pitchFamily="18" charset="0"/>
                <a:cs typeface="Times New Roman" pitchFamily="18" charset="0"/>
              </a:rPr>
              <a:t>Essential commodity price and distribution ordinance 1970 </a:t>
            </a:r>
          </a:p>
          <a:p>
            <a:pPr lvl="0"/>
            <a:r>
              <a:rPr lang="en-US" sz="3200" dirty="0" smtClean="0">
                <a:latin typeface="Times New Roman" pitchFamily="18" charset="0"/>
                <a:cs typeface="Times New Roman" pitchFamily="18" charset="0"/>
              </a:rPr>
              <a:t>Drug control ordinance 1982</a:t>
            </a:r>
          </a:p>
          <a:p>
            <a:pPr lvl="0"/>
            <a:r>
              <a:rPr lang="en-US" sz="3200" dirty="0" smtClean="0">
                <a:latin typeface="Times New Roman" pitchFamily="18" charset="0"/>
                <a:cs typeface="Times New Roman" pitchFamily="18" charset="0"/>
              </a:rPr>
              <a:t>standard of weights  and measurement ordinance 1982</a:t>
            </a:r>
          </a:p>
          <a:p>
            <a:pPr lvl="0"/>
            <a:r>
              <a:rPr lang="en-US" sz="3200" dirty="0" smtClean="0">
                <a:latin typeface="Times New Roman" pitchFamily="18" charset="0"/>
                <a:cs typeface="Times New Roman" pitchFamily="18" charset="0"/>
              </a:rPr>
              <a:t>Breast feed substitute  ordinance 1984</a:t>
            </a:r>
          </a:p>
          <a:p>
            <a:pPr lvl="0"/>
            <a:r>
              <a:rPr lang="en-US" sz="3200" dirty="0" smtClean="0">
                <a:latin typeface="Times New Roman" pitchFamily="18" charset="0"/>
                <a:cs typeface="Times New Roman" pitchFamily="18" charset="0"/>
              </a:rPr>
              <a:t>Tobacco marketing act 1988</a:t>
            </a:r>
          </a:p>
          <a:p>
            <a:pPr lvl="0"/>
            <a:r>
              <a:rPr lang="en-US" sz="3200" dirty="0" smtClean="0">
                <a:latin typeface="Times New Roman" pitchFamily="18" charset="0"/>
                <a:cs typeface="Times New Roman" pitchFamily="18" charset="0"/>
              </a:rPr>
              <a:t>Code of criminal procedure 1860</a:t>
            </a:r>
          </a:p>
          <a:p>
            <a:endParaRPr lang="en-US" sz="32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Some financial acts</a:t>
            </a:r>
            <a:r>
              <a:rPr lang="en-US" sz="3200" dirty="0" smtClean="0">
                <a:latin typeface="Times New Roman" panose="02020603050405020304" pitchFamily="18" charset="0"/>
                <a:cs typeface="Times New Roman" panose="02020603050405020304" pitchFamily="18" charset="0"/>
              </a:rPr>
              <a:t/>
            </a:r>
            <a:br>
              <a:rPr lang="en-US" sz="3200" dirty="0" smtClean="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Business profit, revenue and expenditure are being affected by some financial laws. Though these can’t be termed in strict sense as laws relevant to business operations but impact cannot ignored as they affect financial performance. Such two important acts are</a:t>
            </a:r>
          </a:p>
          <a:p>
            <a:pPr lvl="0"/>
            <a:r>
              <a:rPr lang="en-US" sz="3200" dirty="0" smtClean="0">
                <a:latin typeface="Times New Roman" pitchFamily="18" charset="0"/>
                <a:cs typeface="Times New Roman" pitchFamily="18" charset="0"/>
              </a:rPr>
              <a:t>Income tax ordinance 1984</a:t>
            </a:r>
          </a:p>
          <a:p>
            <a:pPr lvl="0"/>
            <a:r>
              <a:rPr lang="en-US" sz="3200" dirty="0" smtClean="0">
                <a:latin typeface="Times New Roman" pitchFamily="18" charset="0"/>
                <a:cs typeface="Times New Roman" pitchFamily="18" charset="0"/>
              </a:rPr>
              <a:t>Value added tax (vat)</a:t>
            </a:r>
          </a:p>
          <a:p>
            <a:endParaRPr lang="en-US" sz="32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Organization of small business startup</a:t>
            </a:r>
            <a:r>
              <a:rPr lang="en-US" sz="3200" baseline="0" dirty="0" smtClean="0">
                <a:latin typeface="Times New Roman" panose="02020603050405020304" pitchFamily="18" charset="0"/>
                <a:cs typeface="Times New Roman" panose="02020603050405020304" pitchFamily="18" charset="0"/>
              </a:rPr>
              <a:t> costs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524000"/>
            <a:ext cx="8382000" cy="5082809"/>
          </a:xfrm>
        </p:spPr>
        <p:txBody>
          <a:bodyPr>
            <a:noAutofit/>
          </a:bodyPr>
          <a:lstStyle/>
          <a:p>
            <a:pPr>
              <a:buNone/>
            </a:pPr>
            <a:r>
              <a:rPr lang="en-US" sz="3200" b="1" dirty="0" smtClean="0">
                <a:latin typeface="Times New Roman" pitchFamily="18" charset="0"/>
                <a:cs typeface="Times New Roman" pitchFamily="18" charset="0"/>
              </a:rPr>
              <a:t>Start up costs are included: </a:t>
            </a:r>
          </a:p>
          <a:p>
            <a:r>
              <a:rPr lang="en-US" sz="3200" dirty="0" smtClean="0">
                <a:latin typeface="Times New Roman" pitchFamily="18" charset="0"/>
                <a:cs typeface="Times New Roman" pitchFamily="18" charset="0"/>
              </a:rPr>
              <a:t>Legal/paper work</a:t>
            </a:r>
          </a:p>
          <a:p>
            <a:r>
              <a:rPr lang="en-US" sz="3200" dirty="0" smtClean="0">
                <a:latin typeface="Times New Roman" pitchFamily="18" charset="0"/>
                <a:cs typeface="Times New Roman" pitchFamily="18" charset="0"/>
              </a:rPr>
              <a:t>Taxes</a:t>
            </a:r>
          </a:p>
          <a:p>
            <a:r>
              <a:rPr lang="en-US" sz="3200" dirty="0" smtClean="0">
                <a:latin typeface="Times New Roman" pitchFamily="18" charset="0"/>
                <a:cs typeface="Times New Roman" pitchFamily="18" charset="0"/>
              </a:rPr>
              <a:t>Professional development and education</a:t>
            </a:r>
          </a:p>
          <a:p>
            <a:r>
              <a:rPr lang="en-US" sz="3200" dirty="0" smtClean="0">
                <a:latin typeface="Times New Roman" pitchFamily="18" charset="0"/>
                <a:cs typeface="Times New Roman" pitchFamily="18" charset="0"/>
              </a:rPr>
              <a:t>Transportation</a:t>
            </a:r>
          </a:p>
          <a:p>
            <a:r>
              <a:rPr lang="en-US" sz="3200" dirty="0" smtClean="0">
                <a:latin typeface="Times New Roman" pitchFamily="18" charset="0"/>
                <a:cs typeface="Times New Roman" pitchFamily="18" charset="0"/>
              </a:rPr>
              <a:t>Equipment</a:t>
            </a:r>
          </a:p>
          <a:p>
            <a:r>
              <a:rPr lang="en-US" sz="3200" dirty="0" smtClean="0">
                <a:latin typeface="Times New Roman" pitchFamily="18" charset="0"/>
                <a:cs typeface="Times New Roman" pitchFamily="18" charset="0"/>
              </a:rPr>
              <a:t>Marketing</a:t>
            </a:r>
          </a:p>
          <a:p>
            <a:r>
              <a:rPr lang="en-US" sz="3200" dirty="0" smtClean="0">
                <a:latin typeface="Times New Roman" pitchFamily="18" charset="0"/>
                <a:cs typeface="Times New Roman" pitchFamily="18" charset="0"/>
              </a:rPr>
              <a:t>Miscellaneous</a:t>
            </a:r>
          </a:p>
          <a:p>
            <a:pPr>
              <a:buNone/>
            </a:pPr>
            <a:r>
              <a:rPr lang="en-US" sz="3200" dirty="0" smtClean="0">
                <a:latin typeface="Times New Roman" pitchFamily="18" charset="0"/>
                <a:cs typeface="Times New Roman" pitchFamily="18" charset="0"/>
              </a:rPr>
              <a:t>Required:</a:t>
            </a:r>
          </a:p>
          <a:p>
            <a:pPr>
              <a:buNone/>
            </a:pPr>
            <a:r>
              <a:rPr lang="en-US" sz="3200" dirty="0" smtClean="0">
                <a:latin typeface="Times New Roman" pitchFamily="18" charset="0"/>
                <a:cs typeface="Times New Roman" pitchFamily="18" charset="0"/>
              </a:rPr>
              <a:t>Listing groups of related business activities  and then categorizing them. Find the areas where need to prioritize the finance. </a:t>
            </a:r>
          </a:p>
          <a:p>
            <a:pPr>
              <a:buNone/>
            </a:pPr>
            <a:r>
              <a:rPr lang="en-US" sz="3200" dirty="0" smtClean="0">
                <a:latin typeface="Times New Roman" pitchFamily="18" charset="0"/>
                <a:cs typeface="Times New Roman" pitchFamily="18" charset="0"/>
              </a:rPr>
              <a:t>Businessman always focus on minimize the cost. </a:t>
            </a:r>
            <a:endParaRPr lang="en-US" sz="32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234</TotalTime>
  <Words>1493</Words>
  <Application>Microsoft Office PowerPoint</Application>
  <PresentationFormat>On-screen Show (4:3)</PresentationFormat>
  <Paragraphs>219</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Module</vt:lpstr>
      <vt:lpstr>Chapter 02 Introduction to Business</vt:lpstr>
      <vt:lpstr>Chapter Outline</vt:lpstr>
      <vt:lpstr>Introduction</vt:lpstr>
      <vt:lpstr>Preliminary Steps to Start up Business</vt:lpstr>
      <vt:lpstr>Business Road Map</vt:lpstr>
      <vt:lpstr>Road Map</vt:lpstr>
      <vt:lpstr>Road Map</vt:lpstr>
      <vt:lpstr>Road Map</vt:lpstr>
      <vt:lpstr>Start up a Business</vt:lpstr>
      <vt:lpstr>Entrepreneurship ( New business)</vt:lpstr>
      <vt:lpstr>Small business</vt:lpstr>
      <vt:lpstr>Starting small business</vt:lpstr>
      <vt:lpstr>Home based business</vt:lpstr>
      <vt:lpstr>Home based business</vt:lpstr>
      <vt:lpstr>Buy a existing business</vt:lpstr>
      <vt:lpstr>Franchising</vt:lpstr>
      <vt:lpstr>Business Plan </vt:lpstr>
      <vt:lpstr>Components of a Business Plan</vt:lpstr>
      <vt:lpstr>Components of a Business Plan</vt:lpstr>
      <vt:lpstr>Components of a Business Plan</vt:lpstr>
      <vt:lpstr>Components of a Business Plan</vt:lpstr>
      <vt:lpstr>Components of a Business Plan</vt:lpstr>
      <vt:lpstr>Components of a Business Plan</vt:lpstr>
      <vt:lpstr>Components of a Business Plan</vt:lpstr>
      <vt:lpstr>Components of a Business Plan</vt:lpstr>
      <vt:lpstr>Components of a Business Plan</vt:lpstr>
      <vt:lpstr>Components of a Business Plan</vt:lpstr>
      <vt:lpstr>Components of a Business Plan</vt:lpstr>
      <vt:lpstr>General procedure to start up a company</vt:lpstr>
      <vt:lpstr>Act Governing Business in Bangladesh</vt:lpstr>
      <vt:lpstr>Various business law regulations in Bangladesh </vt:lpstr>
      <vt:lpstr>General laws governing business in general </vt:lpstr>
      <vt:lpstr>Laws governing specific type of business houses</vt:lpstr>
      <vt:lpstr>Labor law </vt:lpstr>
      <vt:lpstr>Act relating to the consumer interest</vt:lpstr>
      <vt:lpstr>Some financial acts </vt:lpstr>
      <vt:lpstr>Organization of small business startup costs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03 Introduction to Business</dc:title>
  <dc:creator>Zia</dc:creator>
  <cp:lastModifiedBy>MD.HARISUR RAHMAN</cp:lastModifiedBy>
  <cp:revision>52</cp:revision>
  <dcterms:created xsi:type="dcterms:W3CDTF">2006-08-16T00:00:00Z</dcterms:created>
  <dcterms:modified xsi:type="dcterms:W3CDTF">2023-12-01T17:40:19Z</dcterms:modified>
</cp:coreProperties>
</file>