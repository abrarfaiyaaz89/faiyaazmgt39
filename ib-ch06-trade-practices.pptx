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3" r:id="rId5"/>
    <p:sldId id="275" r:id="rId6"/>
    <p:sldId id="264" r:id="rId7"/>
    <p:sldId id="276" r:id="rId8"/>
    <p:sldId id="277" r:id="rId9"/>
    <p:sldId id="278" r:id="rId10"/>
    <p:sldId id="284" r:id="rId11"/>
    <p:sldId id="282" r:id="rId12"/>
    <p:sldId id="265" r:id="rId13"/>
    <p:sldId id="279" r:id="rId14"/>
    <p:sldId id="266" r:id="rId15"/>
    <p:sldId id="280" r:id="rId16"/>
    <p:sldId id="281" r:id="rId17"/>
    <p:sldId id="315" r:id="rId18"/>
    <p:sldId id="268" r:id="rId19"/>
    <p:sldId id="283" r:id="rId20"/>
    <p:sldId id="285" r:id="rId21"/>
    <p:sldId id="286" r:id="rId22"/>
    <p:sldId id="287" r:id="rId23"/>
    <p:sldId id="288" r:id="rId24"/>
    <p:sldId id="289" r:id="rId25"/>
    <p:sldId id="290" r:id="rId26"/>
    <p:sldId id="291" r:id="rId27"/>
    <p:sldId id="292" r:id="rId28"/>
    <p:sldId id="293" r:id="rId29"/>
    <p:sldId id="294"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4" r:id="rId47"/>
    <p:sldId id="312" r:id="rId48"/>
    <p:sldId id="31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6410" autoAdjust="0"/>
  </p:normalViewPr>
  <p:slideViewPr>
    <p:cSldViewPr>
      <p:cViewPr varScale="1">
        <p:scale>
          <a:sx n="64" d="100"/>
          <a:sy n="64" d="100"/>
        </p:scale>
        <p:origin x="924" y="72"/>
      </p:cViewPr>
      <p:guideLst>
        <p:guide orient="horz" pos="2160"/>
        <p:guide pos="2880"/>
      </p:guideLst>
    </p:cSldViewPr>
  </p:slideViewPr>
  <p:outlineViewPr>
    <p:cViewPr>
      <p:scale>
        <a:sx n="33" d="100"/>
        <a:sy n="33" d="100"/>
      </p:scale>
      <p:origin x="0" y="-3656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57200" y="274638"/>
            <a:ext cx="8229600" cy="6202362"/>
          </a:xfrm>
        </p:spPr>
        <p:txBody>
          <a:bodyPr>
            <a:noAutofit/>
          </a:bodyPr>
          <a:lstStyle/>
          <a:p>
            <a:pPr algn="l"/>
            <a:r>
              <a:rPr lang="en-US" sz="3200" b="1" dirty="0">
                <a:latin typeface="Times New Roman" pitchFamily="18" charset="0"/>
                <a:ea typeface="Times New Roman"/>
                <a:cs typeface="Times New Roman" pitchFamily="18" charset="0"/>
              </a:rPr>
              <a:t>Trade practices and facilitating agencies in Bangladesh</a:t>
            </a:r>
            <a:endParaRPr lang="en-US" sz="3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126162"/>
          </a:xfrm>
        </p:spPr>
        <p:txBody>
          <a:bodyPr>
            <a:normAutofit/>
          </a:bodyPr>
          <a:lstStyle/>
          <a:p>
            <a:pPr algn="l"/>
            <a:r>
              <a:rPr lang="en-US" sz="3200" b="1" dirty="0" smtClean="0">
                <a:latin typeface="Times New Roman" pitchFamily="18" charset="0"/>
                <a:ea typeface="Times New Roman"/>
                <a:cs typeface="Times New Roman" pitchFamily="18" charset="0"/>
              </a:rPr>
              <a:t>Trade policy:</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The regulations and policies that determine how a country conducts trade with other countries is called trade policy.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It includes use of tariffs and other trade barriers. Trade policy can involve various complex types of actions , such as the elimination of quantitative restrictions or the reduction of tariffs.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274638"/>
            <a:ext cx="8382000" cy="6202362"/>
          </a:xfrm>
        </p:spPr>
        <p:txBody>
          <a:bodyPr>
            <a:normAutofit fontScale="90000"/>
          </a:bodyPr>
          <a:lstStyle/>
          <a:p>
            <a:pPr algn="l"/>
            <a:r>
              <a:rPr lang="en-US" sz="3200" b="1" dirty="0" smtClean="0">
                <a:latin typeface="Times New Roman" pitchFamily="18" charset="0"/>
                <a:ea typeface="Times New Roman"/>
                <a:cs typeface="Times New Roman" pitchFamily="18" charset="0"/>
              </a:rPr>
              <a:t>Objectives of trade policy</a:t>
            </a:r>
            <a:br>
              <a:rPr lang="en-US" sz="3200" b="1"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 To appreciate trade with other nations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2. To protect domestic market prevailing in the country.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3. To increase the export of particular product</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4. To prevent the imports of particular goods  to safe the domestic industries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5. To encourage the imports of capital goods for speeding up the economic development</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6. To restrict the imports of goods which create unfavorable balance of payment.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7. To enter into trade agreements with foreign nations for stabilizing the foreign trade.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202362"/>
          </a:xfrm>
        </p:spPr>
        <p:txBody>
          <a:bodyPr>
            <a:normAutofit/>
          </a:bodyPr>
          <a:lstStyle/>
          <a:p>
            <a:pPr algn="l"/>
            <a:r>
              <a:rPr lang="en-US" sz="3200" b="1" dirty="0" smtClean="0">
                <a:latin typeface="Times New Roman" pitchFamily="18" charset="0"/>
                <a:ea typeface="Times New Roman"/>
                <a:cs typeface="Times New Roman" pitchFamily="18" charset="0"/>
              </a:rPr>
              <a:t>Trade policy management in Bangladesh</a:t>
            </a:r>
            <a:br>
              <a:rPr lang="en-US" sz="3200" b="1"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Trade policy regime in Bangladesh has five aspects.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 General institutional and legal framework</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2. Formulation and administration of trade policy</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3. Trade policy implications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4. Trade agreements and arrangements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5. Foreign investment regime. </a:t>
            </a:r>
            <a:br>
              <a:rPr lang="en-US" sz="3200" dirty="0" smtClean="0">
                <a:latin typeface="Times New Roman" pitchFamily="18" charset="0"/>
                <a:ea typeface="Times New Roman"/>
                <a:cs typeface="Times New Roman" pitchFamily="18" charset="0"/>
              </a:rPr>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153400" cy="6126162"/>
          </a:xfrm>
        </p:spPr>
        <p:txBody>
          <a:bodyPr>
            <a:normAutofit/>
          </a:bodyPr>
          <a:lstStyle/>
          <a:p>
            <a:pPr algn="l"/>
            <a:r>
              <a:rPr lang="en-US" sz="3200" b="1" dirty="0" smtClean="0">
                <a:latin typeface="Times New Roman" pitchFamily="18" charset="0"/>
                <a:ea typeface="Times New Roman"/>
                <a:cs typeface="Times New Roman" pitchFamily="18" charset="0"/>
              </a:rPr>
              <a:t>General institutional and legal framework:</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a:latin typeface="Times New Roman" pitchFamily="18" charset="0"/>
                <a:ea typeface="Times New Roman"/>
                <a:cs typeface="Times New Roman" pitchFamily="18" charset="0"/>
              </a:rPr>
              <a:t/>
            </a:r>
            <a:br>
              <a:rPr lang="en-US" sz="3200" dirty="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All laws related to trade passed through parliament. Different governmental ,  semi-governmental and non governmental organizations ( EPB, Ministry of commerce, Chamber houses) assist government to determine new laws, modify present laws.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278562"/>
          </a:xfrm>
        </p:spPr>
        <p:txBody>
          <a:bodyPr>
            <a:normAutofit fontScale="90000"/>
          </a:bodyPr>
          <a:lstStyle/>
          <a:p>
            <a:pPr algn="l"/>
            <a:r>
              <a:rPr lang="en-US" sz="3200" b="1" dirty="0" smtClean="0">
                <a:latin typeface="Times New Roman" pitchFamily="18" charset="0"/>
                <a:ea typeface="Times New Roman"/>
                <a:cs typeface="Times New Roman" pitchFamily="18" charset="0"/>
              </a:rPr>
              <a:t>Formulation and administration of trade policy</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 Ministry of commerce and ministry of finance are the key players for formulating and implementing trade and trade related policies. Bangladesh tariff commission, the export promotion bureau, the office of the chief of imports and exports assist the ministry for formulating trade policies.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2. Ministry of finance makes the final decisions regarding tariffs through the national board of revenue ( NRB). </a:t>
            </a:r>
            <a:br>
              <a:rPr lang="en-US" sz="3200" dirty="0" smtClean="0">
                <a:latin typeface="Times New Roman" pitchFamily="18" charset="0"/>
                <a:ea typeface="Times New Roman"/>
                <a:cs typeface="Times New Roman" pitchFamily="18" charset="0"/>
              </a:rPr>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274638"/>
            <a:ext cx="8534400" cy="6278562"/>
          </a:xfrm>
        </p:spPr>
        <p:txBody>
          <a:bodyPr>
            <a:normAutofit/>
          </a:bodyPr>
          <a:lstStyle/>
          <a:p>
            <a:pPr algn="l"/>
            <a:r>
              <a:rPr lang="en-US" sz="3200" dirty="0" smtClean="0">
                <a:latin typeface="Times New Roman" pitchFamily="18" charset="0"/>
                <a:ea typeface="Times New Roman"/>
                <a:cs typeface="Times New Roman" pitchFamily="18" charset="0"/>
              </a:rPr>
              <a:t>3. A number of other ministries and agencies are involved in the process of formulating and implementing trade and trade related policies. Under the ministry of industries, BSTI work for determining Bangladesh standard, Department of patent designs and trademarks deals with patents.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As well as, privatization commission, the board of investment, BEPZA , PPP office also assists for policy formulation.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382000" cy="6278562"/>
          </a:xfrm>
        </p:spPr>
        <p:txBody>
          <a:bodyPr>
            <a:normAutofit fontScale="90000"/>
          </a:bodyPr>
          <a:lstStyle/>
          <a:p>
            <a:pPr algn="l"/>
            <a:r>
              <a:rPr lang="en-US" sz="3200" dirty="0" smtClean="0">
                <a:latin typeface="Times New Roman" pitchFamily="18" charset="0"/>
                <a:ea typeface="Times New Roman"/>
                <a:cs typeface="Times New Roman" pitchFamily="18" charset="0"/>
              </a:rPr>
              <a:t>4. In the area of services, Bangladesh Bank play a key role in typical monetary and financial sector regulation. The securities and exchange commission exercises regulatory and supervisory functions over stock exchanges and merchant banks.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Other ministries , like ministry of post and telecommunications, the ministry of civil aviation and tourism, the ministry of shipping and the ministry of communication for road and rail transport also play the  vital roles. </a:t>
            </a:r>
            <a:br>
              <a:rPr lang="en-US" sz="3200" dirty="0" smtClean="0">
                <a:latin typeface="Times New Roman" pitchFamily="18" charset="0"/>
                <a:ea typeface="Times New Roman"/>
                <a:cs typeface="Times New Roman" pitchFamily="18" charset="0"/>
              </a:rPr>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305800" cy="6278562"/>
          </a:xfrm>
        </p:spPr>
        <p:txBody>
          <a:bodyPr>
            <a:normAutofit/>
          </a:bodyPr>
          <a:lstStyle/>
          <a:p>
            <a:pPr algn="l"/>
            <a:r>
              <a:rPr lang="en-US" sz="3200" dirty="0" smtClean="0">
                <a:latin typeface="Times New Roman" pitchFamily="18" charset="0"/>
                <a:ea typeface="Times New Roman"/>
                <a:cs typeface="Times New Roman" pitchFamily="18" charset="0"/>
              </a:rPr>
              <a:t>5. Some policy consultative bodies like import advisory committee and the export promotion council, the national committee on export and the national council for industrial development effectively participate in policy formulation.</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6. The private sector also participate in policy formulation through advisory bodies. BGMEA, BKMEA, the federation of Bangladesh chambers of commerce and industry are key role players.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144000" cy="6858000"/>
          </a:xfrm>
        </p:spPr>
        <p:txBody>
          <a:bodyPr>
            <a:normAutofit fontScale="90000"/>
          </a:bodyPr>
          <a:lstStyle/>
          <a:p>
            <a:pPr algn="l"/>
            <a:r>
              <a:rPr lang="en-US" sz="3200" dirty="0" smtClean="0">
                <a:latin typeface="Times New Roman" panose="02020603050405020304" pitchFamily="18" charset="0"/>
                <a:cs typeface="Times New Roman" panose="02020603050405020304" pitchFamily="18" charset="0"/>
              </a:rPr>
              <a:t>Main</a:t>
            </a:r>
            <a:r>
              <a:rPr lang="en-US" sz="3200" baseline="0" dirty="0" smtClean="0">
                <a:latin typeface="Times New Roman" panose="02020603050405020304" pitchFamily="18" charset="0"/>
                <a:cs typeface="Times New Roman" panose="02020603050405020304" pitchFamily="18" charset="0"/>
              </a:rPr>
              <a:t> legislation relating to trade and trade related activities</a:t>
            </a:r>
            <a:br>
              <a:rPr lang="en-US" sz="3200" baseline="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 Customs Act, 1969</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2. Import and export (Control) Act 1950</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3. Exporters and indenters (registration) order 1981</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4. BSTI act 1986</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5. Food safety ordinance 1994</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6. Fish feed and animal feed act 2010 and fish hatchery act 2010</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7. Animal slaughter and meat quality control act 2011</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8. Public procurement act 2006 and public procurement regulations 2008</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9. Competition law 2012</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10. Bangladesh economic zones act 2010</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11. National ICT act 2009</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12. Foreign investment (promotion and protection) act 1980</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13. Bangladesh export processing zones authority act 1980</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14. Banking companies act 1991</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15. Money laundering prevention act 2012</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16. Securities and exchange commission rules 2006</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17. Insurance act 1887</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18. Telecommunication regulation act no 18, 2001</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19. Merchant shipping ordinance, 1993. </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20. Bangladesh tourism board act 2010. </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246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9144000" cy="6705600"/>
          </a:xfrm>
        </p:spPr>
        <p:txBody>
          <a:bodyPr>
            <a:normAutofit fontScale="90000"/>
          </a:bodyPr>
          <a:lstStyle/>
          <a:p>
            <a:pPr algn="l"/>
            <a:r>
              <a:rPr lang="en-US" sz="3200" b="1" dirty="0" smtClean="0">
                <a:latin typeface="Times New Roman" pitchFamily="18" charset="0"/>
                <a:ea typeface="Times New Roman"/>
                <a:cs typeface="Times New Roman" pitchFamily="18" charset="0"/>
              </a:rPr>
              <a:t>Trade agreement and arrangement:</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a:latin typeface="Times New Roman" pitchFamily="18" charset="0"/>
                <a:ea typeface="Times New Roman"/>
                <a:cs typeface="Times New Roman" pitchFamily="18" charset="0"/>
              </a:rPr>
              <a:t/>
            </a:r>
            <a:br>
              <a:rPr lang="en-US" sz="3200" dirty="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Bangladesh successfully negotiated regional trade and economic agreements. Such as: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 The south Asian free trade area ( SAFTA)</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2. The Asia pacific trade agreement (APTA)</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3. The bay of Bengal initiative for multi-</a:t>
            </a:r>
            <a:r>
              <a:rPr lang="en-US" sz="3200" dirty="0" err="1" smtClean="0">
                <a:latin typeface="Times New Roman" pitchFamily="18" charset="0"/>
                <a:ea typeface="Times New Roman"/>
                <a:cs typeface="Times New Roman" pitchFamily="18" charset="0"/>
              </a:rPr>
              <a:t>sectoral</a:t>
            </a:r>
            <a:r>
              <a:rPr lang="en-US" sz="3200" dirty="0" smtClean="0">
                <a:latin typeface="Times New Roman" pitchFamily="18" charset="0"/>
                <a:ea typeface="Times New Roman"/>
                <a:cs typeface="Times New Roman" pitchFamily="18" charset="0"/>
              </a:rPr>
              <a:t> , technical and economical cooperation (BIMSTEC).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4. Bangladesh is member of WTO.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5. Bangladesh has bilateral trade agreements with 43 countries, namely: Albania, Algeria, Hungary, India, Indonesia, Iran, Iraq, Kenya, South Korea, Kuwait, Libya, Malaysia, Mali, Morocco, Myanmar, Nepal, Pakistan, Poland, Romania, Senegal, Sri Lanka, Sudan, etc. </a:t>
            </a:r>
            <a:endParaRPr lang="en-US" dirty="0"/>
          </a:p>
        </p:txBody>
      </p:sp>
    </p:spTree>
    <p:extLst>
      <p:ext uri="{BB962C8B-B14F-4D97-AF65-F5344CB8AC3E}">
        <p14:creationId xmlns:p14="http://schemas.microsoft.com/office/powerpoint/2010/main" val="3564381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202362"/>
          </a:xfrm>
        </p:spPr>
        <p:txBody>
          <a:bodyPr>
            <a:normAutofit/>
          </a:bodyPr>
          <a:lstStyle/>
          <a:p>
            <a:pPr algn="l"/>
            <a:r>
              <a:rPr lang="en-US" sz="3200" b="1" dirty="0" smtClean="0">
                <a:latin typeface="Times New Roman" pitchFamily="18" charset="0"/>
                <a:ea typeface="Times New Roman"/>
                <a:cs typeface="Times New Roman" pitchFamily="18" charset="0"/>
              </a:rPr>
              <a:t>Industrial policy (2022):</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To achieve the balance development through economical , social and environmental protection government developed the industrial policy 2022. In this policy the government emphasize small and medium sized industry development. Beside this, large scale industry and selected service sectors also given importance. </a:t>
            </a:r>
            <a:br>
              <a:rPr lang="en-US" sz="3200" dirty="0" smtClean="0">
                <a:latin typeface="Times New Roman" pitchFamily="18" charset="0"/>
                <a:ea typeface="Times New Roman"/>
                <a:cs typeface="Times New Roman" pitchFamily="18" charset="0"/>
              </a:rPr>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0" y="274638"/>
            <a:ext cx="8991600" cy="6430962"/>
          </a:xfrm>
        </p:spPr>
        <p:txBody>
          <a:bodyPr>
            <a:noAutofit/>
          </a:bodyPr>
          <a:lstStyle/>
          <a:p>
            <a:pPr algn="l"/>
            <a:r>
              <a:rPr lang="en-US" sz="2800" b="1" dirty="0" smtClean="0">
                <a:latin typeface="Times New Roman" panose="02020603050405020304" pitchFamily="18" charset="0"/>
                <a:cs typeface="Times New Roman" panose="02020603050405020304" pitchFamily="18" charset="0"/>
              </a:rPr>
              <a:t>The goal of industrial policy 2022: </a:t>
            </a:r>
          </a:p>
          <a:p>
            <a:pPr algn="l"/>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1. Improve the socio-economical condition of the people by achieving industrial growth through sustainable and environmental industrialization. . </a:t>
            </a:r>
          </a:p>
          <a:p>
            <a:pPr algn="l"/>
            <a:r>
              <a:rPr lang="en-US" sz="2800" dirty="0" smtClean="0">
                <a:latin typeface="Times New Roman" panose="02020603050405020304" pitchFamily="18" charset="0"/>
                <a:cs typeface="Times New Roman" panose="02020603050405020304" pitchFamily="18" charset="0"/>
              </a:rPr>
              <a:t>2. Increase the national contribution of industrial sector 40% within 2027 by skill manpower, productivity and employment to achieve the vision of 2041 of the government. </a:t>
            </a:r>
          </a:p>
          <a:p>
            <a:pPr algn="l"/>
            <a:r>
              <a:rPr lang="en-US" sz="2800" dirty="0" smtClean="0">
                <a:latin typeface="Times New Roman" panose="02020603050405020304" pitchFamily="18" charset="0"/>
                <a:cs typeface="Times New Roman" panose="02020603050405020304" pitchFamily="18" charset="0"/>
              </a:rPr>
              <a:t>3. Increase the capability of both government and private sector to achieve the long term growth of industrialization by adapting technological changes in 4</a:t>
            </a:r>
            <a:r>
              <a:rPr lang="en-US" sz="2800" baseline="30000" dirty="0" smtClean="0">
                <a:latin typeface="Times New Roman" panose="02020603050405020304" pitchFamily="18" charset="0"/>
                <a:cs typeface="Times New Roman" panose="02020603050405020304" pitchFamily="18" charset="0"/>
              </a:rPr>
              <a:t>th</a:t>
            </a:r>
            <a:r>
              <a:rPr lang="en-US" sz="2800" dirty="0" smtClean="0">
                <a:latin typeface="Times New Roman" panose="02020603050405020304" pitchFamily="18" charset="0"/>
                <a:cs typeface="Times New Roman" panose="02020603050405020304" pitchFamily="18" charset="0"/>
              </a:rPr>
              <a:t> industrial revolution.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4. Collect sustainable and develop technology and develop the existing technology for building strong base </a:t>
            </a:r>
            <a:r>
              <a:rPr lang="en-US" sz="2800" smtClean="0">
                <a:latin typeface="Times New Roman" panose="02020603050405020304" pitchFamily="18" charset="0"/>
                <a:cs typeface="Times New Roman" panose="02020603050405020304" pitchFamily="18" charset="0"/>
              </a:rPr>
              <a:t>for light </a:t>
            </a:r>
            <a:r>
              <a:rPr lang="en-US" sz="2800" dirty="0" smtClean="0">
                <a:latin typeface="Times New Roman" panose="02020603050405020304" pitchFamily="18" charset="0"/>
                <a:cs typeface="Times New Roman" panose="02020603050405020304" pitchFamily="18" charset="0"/>
              </a:rPr>
              <a:t>engineering industry.  </a:t>
            </a:r>
            <a:br>
              <a:rPr lang="en-US" sz="2800" dirty="0" smtClean="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79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202362"/>
          </a:xfrm>
        </p:spPr>
        <p:txBody>
          <a:bodyPr>
            <a:normAutofit/>
          </a:bodyPr>
          <a:lstStyle/>
          <a:p>
            <a:pPr algn="l"/>
            <a:r>
              <a:rPr lang="en-US" sz="3200" b="1" dirty="0" smtClean="0">
                <a:latin typeface="Times New Roman" pitchFamily="18" charset="0"/>
                <a:ea typeface="Times New Roman"/>
                <a:cs typeface="Times New Roman" pitchFamily="18" charset="0"/>
              </a:rPr>
              <a:t>Objectives of industrial policy:</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a:latin typeface="Times New Roman" pitchFamily="18" charset="0"/>
                <a:ea typeface="Times New Roman"/>
                <a:cs typeface="Times New Roman" pitchFamily="18" charset="0"/>
              </a:rPr>
              <a:t/>
            </a:r>
            <a:br>
              <a:rPr lang="en-US" sz="3200" dirty="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 Create more entrepreneurs by protecting , developing and enhancing local industries, give more motivation for developing new innovative technology by research and give them patent.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a:latin typeface="Times New Roman" pitchFamily="18" charset="0"/>
                <a:ea typeface="Times New Roman"/>
                <a:cs typeface="Times New Roman" pitchFamily="18" charset="0"/>
              </a:rPr>
              <a:t>2</a:t>
            </a:r>
            <a:r>
              <a:rPr lang="en-US" sz="3200" dirty="0" smtClean="0">
                <a:latin typeface="Times New Roman" pitchFamily="18" charset="0"/>
                <a:ea typeface="Times New Roman"/>
                <a:cs typeface="Times New Roman" pitchFamily="18" charset="0"/>
              </a:rPr>
              <a:t>. Create the favorable industrial environment for developing small, medium and cottage industries as main stream industrial development.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274638"/>
            <a:ext cx="8839200" cy="6354762"/>
          </a:xfrm>
        </p:spPr>
        <p:txBody>
          <a:bodyPr>
            <a:normAutofit fontScale="90000"/>
          </a:bodyPr>
          <a:lstStyle/>
          <a:p>
            <a:pPr algn="l"/>
            <a:r>
              <a:rPr lang="en-US" sz="3200" dirty="0">
                <a:latin typeface="Times New Roman" pitchFamily="18" charset="0"/>
                <a:ea typeface="Times New Roman"/>
                <a:cs typeface="Times New Roman" pitchFamily="18" charset="0"/>
              </a:rPr>
              <a:t>3</a:t>
            </a:r>
            <a:r>
              <a:rPr lang="en-US" sz="3200" dirty="0" smtClean="0">
                <a:latin typeface="Times New Roman" pitchFamily="18" charset="0"/>
                <a:ea typeface="Times New Roman"/>
                <a:cs typeface="Times New Roman" pitchFamily="18" charset="0"/>
              </a:rPr>
              <a:t>. Establishment</a:t>
            </a:r>
            <a:r>
              <a:rPr lang="en-US" sz="3200" baseline="0" dirty="0" smtClean="0">
                <a:latin typeface="Times New Roman" pitchFamily="18" charset="0"/>
                <a:ea typeface="Times New Roman"/>
                <a:cs typeface="Times New Roman" pitchFamily="18" charset="0"/>
              </a:rPr>
              <a:t> of export </a:t>
            </a:r>
            <a:r>
              <a:rPr lang="en-US" sz="3200" dirty="0">
                <a:latin typeface="Times New Roman" pitchFamily="18" charset="0"/>
                <a:ea typeface="Times New Roman"/>
                <a:cs typeface="Times New Roman" pitchFamily="18" charset="0"/>
              </a:rPr>
              <a:t>oriented and </a:t>
            </a:r>
            <a:r>
              <a:rPr lang="en-US" sz="3200" dirty="0" smtClean="0">
                <a:latin typeface="Times New Roman" pitchFamily="18" charset="0"/>
                <a:ea typeface="Times New Roman"/>
                <a:cs typeface="Times New Roman" pitchFamily="18" charset="0"/>
              </a:rPr>
              <a:t> diversified industries by inspiring development of backward linkage industries.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4. Create the environment for high technological heavy industries by developing forward and backward industries for light and heavy industries.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5. Accelerate local and foreign investment by the more development of investment environment.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6. Assist and encourage for sustainable (environmental protective) industrialization. </a:t>
            </a:r>
            <a:br>
              <a:rPr lang="en-US" sz="3200" dirty="0" smtClean="0">
                <a:latin typeface="Times New Roman" pitchFamily="18" charset="0"/>
                <a:ea typeface="Times New Roman"/>
                <a:cs typeface="Times New Roman" pitchFamily="18" charset="0"/>
              </a:rPr>
            </a:br>
            <a:endParaRPr lang="en-US" dirty="0"/>
          </a:p>
        </p:txBody>
      </p:sp>
    </p:spTree>
    <p:extLst>
      <p:ext uri="{BB962C8B-B14F-4D97-AF65-F5344CB8AC3E}">
        <p14:creationId xmlns:p14="http://schemas.microsoft.com/office/powerpoint/2010/main" val="851841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305800" cy="6354762"/>
          </a:xfrm>
        </p:spPr>
        <p:txBody>
          <a:bodyPr>
            <a:normAutofit/>
          </a:bodyPr>
          <a:lstStyle/>
          <a:p>
            <a:pPr algn="l"/>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a:latin typeface="Times New Roman" pitchFamily="18" charset="0"/>
                <a:ea typeface="Times New Roman"/>
                <a:cs typeface="Times New Roman" pitchFamily="18" charset="0"/>
              </a:rPr>
              <a:t>7. Specialized industrialization through proper utilization of area based agricultural, forestry, animal, natural and sea resources. </a:t>
            </a: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8. Increasing the opportunities for women entrepreneurs.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9. Provide legal and infrastructural facilities for encouraging foreign investment side by side local investment. </a:t>
            </a:r>
            <a:br>
              <a:rPr lang="en-US" sz="3200" dirty="0" smtClean="0">
                <a:latin typeface="Times New Roman" pitchFamily="18" charset="0"/>
                <a:ea typeface="Times New Roman"/>
                <a:cs typeface="Times New Roman" pitchFamily="18" charset="0"/>
              </a:rPr>
            </a:br>
            <a:endParaRPr lang="en-US" sz="3200" dirty="0" smtClean="0">
              <a:latin typeface="Times New Roman" pitchFamily="18" charset="0"/>
              <a:ea typeface="Times New Roman"/>
              <a:cs typeface="Times New Roman" pitchFamily="18" charset="0"/>
            </a:endParaRPr>
          </a:p>
          <a:p>
            <a:endParaRPr lang="en-US" dirty="0"/>
          </a:p>
        </p:txBody>
      </p:sp>
    </p:spTree>
    <p:extLst>
      <p:ext uri="{BB962C8B-B14F-4D97-AF65-F5344CB8AC3E}">
        <p14:creationId xmlns:p14="http://schemas.microsoft.com/office/powerpoint/2010/main" val="32238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305800" cy="6354762"/>
          </a:xfrm>
        </p:spPr>
        <p:txBody>
          <a:bodyPr>
            <a:normAutofit fontScale="90000"/>
          </a:bodyPr>
          <a:lstStyle/>
          <a:p>
            <a:pPr algn="l"/>
            <a:r>
              <a:rPr lang="en-US" sz="3200" dirty="0" smtClean="0">
                <a:latin typeface="Times New Roman" pitchFamily="18" charset="0"/>
                <a:ea typeface="Times New Roman"/>
                <a:cs typeface="Times New Roman" pitchFamily="18" charset="0"/>
              </a:rPr>
              <a:t>10. Protect human health and interest developing and controlling the quality of industrial products.</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11. Increase the productivity of industrial product and increase the ability for local and international commercialization.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
            </a:r>
            <a:br>
              <a:rPr lang="en-US" sz="3200" dirty="0" smtClean="0">
                <a:latin typeface="Times New Roman" pitchFamily="18" charset="0"/>
                <a:ea typeface="Times New Roman"/>
                <a:cs typeface="Times New Roman" pitchFamily="18" charset="0"/>
              </a:rPr>
            </a:br>
            <a:r>
              <a:rPr lang="en-US" sz="3200" dirty="0" smtClean="0">
                <a:latin typeface="Times New Roman" pitchFamily="18" charset="0"/>
                <a:ea typeface="Times New Roman"/>
                <a:cs typeface="Times New Roman" pitchFamily="18" charset="0"/>
              </a:rPr>
              <a:t>12. To ensure the supply of skill manpower that incorporate with market demand and changing technology under 4</a:t>
            </a:r>
            <a:r>
              <a:rPr lang="en-US" sz="3200" baseline="30000" dirty="0" smtClean="0">
                <a:latin typeface="Times New Roman" pitchFamily="18" charset="0"/>
                <a:ea typeface="Times New Roman"/>
                <a:cs typeface="Times New Roman" pitchFamily="18" charset="0"/>
              </a:rPr>
              <a:t>th</a:t>
            </a:r>
            <a:r>
              <a:rPr lang="en-US" sz="3200" dirty="0" smtClean="0">
                <a:latin typeface="Times New Roman" pitchFamily="18" charset="0"/>
                <a:ea typeface="Times New Roman"/>
                <a:cs typeface="Times New Roman" pitchFamily="18" charset="0"/>
              </a:rPr>
              <a:t> industrial revaluation, provide assistance and coordinate education and training programs of public and private sector.  </a:t>
            </a:r>
            <a:br>
              <a:rPr lang="en-US" sz="3200" dirty="0" smtClean="0">
                <a:latin typeface="Times New Roman" pitchFamily="18" charset="0"/>
                <a:ea typeface="Times New Roman"/>
                <a:cs typeface="Times New Roman" pitchFamily="18" charset="0"/>
              </a:rPr>
            </a:br>
            <a:endParaRPr lang="en-US" sz="3200" dirty="0" smtClean="0">
              <a:latin typeface="Times New Roman" pitchFamily="18" charset="0"/>
              <a:ea typeface="Times New Roman"/>
              <a:cs typeface="Times New Roman" pitchFamily="18" charset="0"/>
            </a:endParaRPr>
          </a:p>
          <a:p>
            <a:endParaRPr lang="en-US" dirty="0"/>
          </a:p>
        </p:txBody>
      </p:sp>
    </p:spTree>
    <p:extLst>
      <p:ext uri="{BB962C8B-B14F-4D97-AF65-F5344CB8AC3E}">
        <p14:creationId xmlns:p14="http://schemas.microsoft.com/office/powerpoint/2010/main" val="3525637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202362"/>
          </a:xfrm>
        </p:spPr>
        <p:txBody>
          <a:bodyPr>
            <a:noAutofit/>
          </a:bodyPr>
          <a:lstStyle/>
          <a:p>
            <a:pPr algn="l"/>
            <a:r>
              <a:rPr lang="en-US" sz="2800" b="1" dirty="0" smtClean="0">
                <a:latin typeface="Times New Roman" panose="02020603050405020304" pitchFamily="18" charset="0"/>
                <a:ea typeface="Times New Roman"/>
                <a:cs typeface="Times New Roman" pitchFamily="18" charset="0"/>
              </a:rPr>
              <a:t>Competition Act: </a:t>
            </a:r>
            <a:r>
              <a:rPr lang="en-US" sz="2800" dirty="0" smtClean="0">
                <a:latin typeface="Times New Roman" panose="02020603050405020304" pitchFamily="18" charset="0"/>
                <a:ea typeface="Times New Roman"/>
                <a:cs typeface="Times New Roman" pitchFamily="18" charset="0"/>
              </a:rPr>
              <a:t/>
            </a:r>
            <a:br>
              <a:rPr lang="en-US" sz="2800" dirty="0" smtClean="0">
                <a:latin typeface="Times New Roman" panose="02020603050405020304" pitchFamily="18" charset="0"/>
                <a:ea typeface="Times New Roman"/>
                <a:cs typeface="Times New Roman" pitchFamily="18" charset="0"/>
              </a:rPr>
            </a:br>
            <a:r>
              <a:rPr lang="en-US" sz="2800" dirty="0">
                <a:latin typeface="Times New Roman" pitchFamily="18" charset="0"/>
                <a:ea typeface="Times New Roman"/>
                <a:cs typeface="Times New Roman" pitchFamily="18" charset="0"/>
              </a:rPr>
              <a:t/>
            </a:r>
            <a:br>
              <a:rPr lang="en-US" sz="2800" dirty="0">
                <a:latin typeface="Times New Roman" pitchFamily="18" charset="0"/>
                <a:ea typeface="Times New Roman"/>
                <a:cs typeface="Times New Roman" pitchFamily="18" charset="0"/>
              </a:rPr>
            </a:br>
            <a:r>
              <a:rPr lang="en-US" sz="2800" dirty="0">
                <a:latin typeface="Times New Roman" pitchFamily="18" charset="0"/>
                <a:ea typeface="Times New Roman"/>
                <a:cs typeface="Times New Roman" pitchFamily="18" charset="0"/>
              </a:rPr>
              <a:t>In Bangladesh, the Competition Act was enacted in 2012 with the subsequent establishment of the Bangladesh Competition Commission (BCC). </a:t>
            </a:r>
            <a:br>
              <a:rPr lang="en-US" sz="2800" dirty="0">
                <a:latin typeface="Times New Roman" pitchFamily="18" charset="0"/>
                <a:ea typeface="Times New Roman"/>
                <a:cs typeface="Times New Roman" pitchFamily="18" charset="0"/>
              </a:rPr>
            </a:br>
            <a:r>
              <a:rPr lang="en-US" sz="2800" dirty="0">
                <a:latin typeface="Times New Roman" pitchFamily="18" charset="0"/>
                <a:ea typeface="Times New Roman"/>
                <a:cs typeface="Times New Roman" pitchFamily="18" charset="0"/>
              </a:rPr>
              <a:t>Competition law, also known as anti-trust law, is the set of legislations which promote and maintain market competition by regulating anti-competitive </a:t>
            </a:r>
            <a:r>
              <a:rPr lang="en-US" sz="2800" dirty="0" smtClean="0">
                <a:latin typeface="Times New Roman" pitchFamily="18" charset="0"/>
                <a:ea typeface="Times New Roman"/>
                <a:cs typeface="Times New Roman" pitchFamily="18" charset="0"/>
              </a:rPr>
              <a:t>behavior </a:t>
            </a:r>
            <a:r>
              <a:rPr lang="en-US" sz="2800" dirty="0">
                <a:latin typeface="Times New Roman" pitchFamily="18" charset="0"/>
                <a:ea typeface="Times New Roman"/>
                <a:cs typeface="Times New Roman" pitchFamily="18" charset="0"/>
              </a:rPr>
              <a:t>and arrangements among the companies in a particular </a:t>
            </a:r>
            <a:r>
              <a:rPr lang="en-US" sz="2800" dirty="0" smtClean="0">
                <a:latin typeface="Times New Roman" pitchFamily="18" charset="0"/>
                <a:ea typeface="Times New Roman"/>
                <a:cs typeface="Times New Roman" pitchFamily="18" charset="0"/>
              </a:rPr>
              <a:t>economy.</a:t>
            </a:r>
            <a:br>
              <a:rPr lang="en-US" sz="2800" dirty="0" smtClean="0">
                <a:latin typeface="Times New Roman" pitchFamily="18" charset="0"/>
                <a:ea typeface="Times New Roman"/>
                <a:cs typeface="Times New Roman" pitchFamily="18" charset="0"/>
              </a:rPr>
            </a:br>
            <a:r>
              <a:rPr lang="en-US" sz="2800" dirty="0">
                <a:latin typeface="Times New Roman" pitchFamily="18" charset="0"/>
                <a:ea typeface="Times New Roman"/>
                <a:cs typeface="Times New Roman" pitchFamily="18" charset="0"/>
              </a:rPr>
              <a:t/>
            </a:r>
            <a:br>
              <a:rPr lang="en-US" sz="2800" dirty="0">
                <a:latin typeface="Times New Roman" pitchFamily="18" charset="0"/>
                <a:ea typeface="Times New Roman"/>
                <a:cs typeface="Times New Roman" pitchFamily="18" charset="0"/>
              </a:rPr>
            </a:br>
            <a:r>
              <a:rPr lang="en-US" sz="2800" dirty="0" err="1" smtClean="0">
                <a:latin typeface="Times New Roman" pitchFamily="18" charset="0"/>
                <a:ea typeface="Times New Roman"/>
                <a:cs typeface="Times New Roman" pitchFamily="18" charset="0"/>
              </a:rPr>
              <a:t>Evaly</a:t>
            </a:r>
            <a:r>
              <a:rPr lang="en-US" sz="2800" dirty="0" smtClean="0">
                <a:latin typeface="Times New Roman" pitchFamily="18" charset="0"/>
                <a:ea typeface="Times New Roman"/>
                <a:cs typeface="Times New Roman" pitchFamily="18" charset="0"/>
              </a:rPr>
              <a:t> case </a:t>
            </a:r>
            <a:br>
              <a:rPr lang="en-US" sz="2800" dirty="0" smtClean="0">
                <a:latin typeface="Times New Roman" pitchFamily="18" charset="0"/>
                <a:ea typeface="Times New Roman"/>
                <a:cs typeface="Times New Roman" pitchFamily="18" charset="0"/>
              </a:rPr>
            </a:br>
            <a:endParaRPr lang="en-US" sz="2800" dirty="0" smtClean="0">
              <a:latin typeface="Times New Roman" pitchFamily="18" charset="0"/>
              <a:ea typeface="Times New Roman"/>
              <a:cs typeface="Times New Roman" pitchFamily="18" charset="0"/>
            </a:endParaRPr>
          </a:p>
          <a:p>
            <a:pPr algn="l"/>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274638"/>
            <a:ext cx="8839200" cy="6583362"/>
          </a:xfrm>
        </p:spPr>
        <p:txBody>
          <a:bodyPr>
            <a:normAutofit fontScale="90000"/>
          </a:bodyPr>
          <a:lstStyle/>
          <a:p>
            <a:pPr algn="l"/>
            <a:r>
              <a:rPr lang="en-US" sz="2800" b="1" dirty="0" smtClean="0">
                <a:latin typeface="Times New Roman" panose="02020603050405020304" pitchFamily="18" charset="0"/>
                <a:cs typeface="Times New Roman" panose="02020603050405020304" pitchFamily="18" charset="0"/>
              </a:rPr>
              <a:t>Competition law aims to control mainly three types of situations in an economy:</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1. Anticompetitive agreements and natural monopoly: Where two or more firms agree among themselves to fix prices, limit production, divide markets geographically, or rig bids when tendering for government contracts.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2. Abuses of dominance or exclusionary behavior: Where one firm is so powerful that it can act without thinking about its competitors. Abuses of dominance or exclusionary behavior can include predatory pricing, i.e. pricing below cost to drive competitors out of a market and then raising prices once they are gone.</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3. Merger-control regulation: Where firms that want to merge are reviewed to ensure that their deal is not likely to reduce competition significantly, which may lead to abusive behavior.</a:t>
            </a:r>
            <a:br>
              <a:rPr lang="en-US" sz="2800" dirty="0" smtClean="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3011305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en-US" sz="3600" b="1" dirty="0">
                <a:latin typeface="Times New Roman" panose="02020603050405020304" pitchFamily="18" charset="0"/>
                <a:cs typeface="Times New Roman" panose="02020603050405020304" pitchFamily="18" charset="0"/>
              </a:rPr>
              <a:t>Facilitating Agencies of Business </a:t>
            </a:r>
          </a:p>
        </p:txBody>
      </p:sp>
      <p:sp>
        <p:nvSpPr>
          <p:cNvPr id="3" name="Content Placeholder 2"/>
          <p:cNvSpPr>
            <a:spLocks noGrp="1"/>
          </p:cNvSpPr>
          <p:nvPr>
            <p:ph idx="1"/>
          </p:nvPr>
        </p:nvSpPr>
        <p:spPr>
          <a:xfrm>
            <a:off x="228600" y="1295400"/>
            <a:ext cx="8458200" cy="5334000"/>
          </a:xfrm>
        </p:spPr>
        <p:txBody>
          <a:bodyPr>
            <a:noAutofit/>
          </a:bodyPr>
          <a:lstStyle/>
          <a:p>
            <a:pPr marL="0" indent="0">
              <a:buNone/>
            </a:pPr>
            <a:r>
              <a:rPr lang="en-US" sz="3000" dirty="0">
                <a:latin typeface="Times New Roman" panose="02020603050405020304" pitchFamily="18" charset="0"/>
                <a:cs typeface="Times New Roman" panose="02020603050405020304" pitchFamily="18" charset="0"/>
              </a:rPr>
              <a:t>Business in Bangladesh is facilitated by some facilitating agencies. </a:t>
            </a:r>
          </a:p>
          <a:p>
            <a:pPr marL="0" indent="0">
              <a:buNone/>
            </a:pPr>
            <a:r>
              <a:rPr lang="en-US" sz="3000" dirty="0">
                <a:latin typeface="Times New Roman" panose="02020603050405020304" pitchFamily="18" charset="0"/>
                <a:cs typeface="Times New Roman" panose="02020603050405020304" pitchFamily="18" charset="0"/>
              </a:rPr>
              <a:t>After the Independence of Bangladesh, these facilitating agencies has played a major role in assisting business in Bangladesh by providing various incentives and facilities that ultimately helped the business firms in achieving their business goals. </a:t>
            </a:r>
          </a:p>
          <a:p>
            <a:pPr marL="0" indent="0">
              <a:buNone/>
            </a:pPr>
            <a:r>
              <a:rPr lang="en-US" sz="3000" dirty="0">
                <a:latin typeface="Times New Roman" panose="02020603050405020304" pitchFamily="18" charset="0"/>
                <a:cs typeface="Times New Roman" panose="02020603050405020304" pitchFamily="18" charset="0"/>
              </a:rPr>
              <a:t>Some of them are Chittagong Chamber of Commerce, Dhaka Chamber of Commerce, BGMEA, BKMEA, BEPZA, BOI</a:t>
            </a:r>
            <a:r>
              <a:rPr lang="en-US" sz="3000" dirty="0" smtClean="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Customs, FBCCI, EPB etc</a:t>
            </a:r>
            <a:r>
              <a:rPr lang="en-US" sz="3000" dirty="0" smtClean="0">
                <a:latin typeface="Times New Roman" panose="02020603050405020304" pitchFamily="18" charset="0"/>
                <a:cs typeface="Times New Roman" panose="02020603050405020304" pitchFamily="18" charset="0"/>
              </a:rPr>
              <a:t>.</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708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of facilitating Business"/>
          <p:cNvPicPr/>
          <p:nvPr/>
        </p:nvPicPr>
        <p:blipFill>
          <a:blip r:embed="rId2" cstate="print"/>
          <a:srcRect/>
          <a:stretch>
            <a:fillRect/>
          </a:stretch>
        </p:blipFill>
        <p:spPr bwMode="auto">
          <a:xfrm>
            <a:off x="609600" y="838200"/>
            <a:ext cx="7772400" cy="5257800"/>
          </a:xfrm>
          <a:prstGeom prst="rect">
            <a:avLst/>
          </a:prstGeom>
          <a:noFill/>
          <a:ln w="9525">
            <a:noFill/>
            <a:miter lim="800000"/>
            <a:headEnd/>
            <a:tailEnd/>
          </a:ln>
        </p:spPr>
      </p:pic>
    </p:spTree>
    <p:extLst>
      <p:ext uri="{BB962C8B-B14F-4D97-AF65-F5344CB8AC3E}">
        <p14:creationId xmlns:p14="http://schemas.microsoft.com/office/powerpoint/2010/main" val="33111530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228600"/>
            <a:ext cx="8686800" cy="6477000"/>
          </a:xfrm>
        </p:spPr>
        <p:txBody>
          <a:bodyPr>
            <a:normAutofit/>
          </a:bodyPr>
          <a:lstStyle/>
          <a:p>
            <a:r>
              <a:rPr lang="en-US" sz="3200" dirty="0" smtClean="0">
                <a:effectLst/>
                <a:latin typeface="Times New Roman" panose="02020603050405020304" pitchFamily="18" charset="0"/>
                <a:cs typeface="Times New Roman" panose="02020603050405020304" pitchFamily="18" charset="0"/>
              </a:rPr>
              <a:t>Required services</a:t>
            </a:r>
            <a:r>
              <a:rPr lang="en-US" sz="3200" baseline="0" dirty="0" smtClean="0">
                <a:effectLst/>
                <a:latin typeface="Times New Roman" panose="02020603050405020304" pitchFamily="18" charset="0"/>
                <a:cs typeface="Times New Roman" panose="02020603050405020304" pitchFamily="18" charset="0"/>
              </a:rPr>
              <a:t> to establish a Business</a:t>
            </a:r>
            <a:br>
              <a:rPr lang="en-US" sz="3200" baseline="0" dirty="0" smtClean="0">
                <a:effectLst/>
                <a:latin typeface="Times New Roman" panose="02020603050405020304" pitchFamily="18" charset="0"/>
                <a:cs typeface="Times New Roman" panose="02020603050405020304" pitchFamily="18" charset="0"/>
              </a:rPr>
            </a:br>
            <a:r>
              <a:rPr lang="en-US" sz="3200" dirty="0">
                <a:effectLst/>
                <a:latin typeface="Times New Roman" panose="02020603050405020304" pitchFamily="18" charset="0"/>
                <a:cs typeface="Times New Roman" panose="02020603050405020304" pitchFamily="18" charset="0"/>
              </a:rPr>
              <a:t/>
            </a:r>
            <a:br>
              <a:rPr lang="en-US" sz="3200" dirty="0">
                <a:effectLst/>
                <a:latin typeface="Times New Roman" panose="02020603050405020304" pitchFamily="18" charset="0"/>
                <a:cs typeface="Times New Roman" panose="02020603050405020304" pitchFamily="18" charset="0"/>
              </a:rPr>
            </a:br>
            <a:r>
              <a:rPr lang="en-US" sz="3200" dirty="0" smtClean="0">
                <a:effectLst/>
                <a:latin typeface="Times New Roman" panose="02020603050405020304" pitchFamily="18" charset="0"/>
                <a:cs typeface="Times New Roman" panose="02020603050405020304" pitchFamily="18" charset="0"/>
              </a:rPr>
              <a:t>A. </a:t>
            </a:r>
            <a:r>
              <a:rPr lang="en-US" sz="3200" dirty="0" err="1" smtClean="0">
                <a:effectLst/>
                <a:latin typeface="Times New Roman" panose="02020603050405020304" pitchFamily="18" charset="0"/>
                <a:cs typeface="Times New Roman" panose="02020603050405020304" pitchFamily="18" charset="0"/>
              </a:rPr>
              <a:t>Stimulative</a:t>
            </a:r>
            <a:r>
              <a:rPr lang="en-US" sz="3200" dirty="0" smtClean="0">
                <a:effectLst/>
                <a:latin typeface="Times New Roman" panose="02020603050405020304" pitchFamily="18" charset="0"/>
                <a:cs typeface="Times New Roman" panose="02020603050405020304" pitchFamily="18" charset="0"/>
              </a:rPr>
              <a:t> support</a:t>
            </a:r>
            <a:br>
              <a:rPr lang="en-US" sz="3200" dirty="0" smtClean="0">
                <a:effectLst/>
                <a:latin typeface="Times New Roman" panose="02020603050405020304" pitchFamily="18" charset="0"/>
                <a:cs typeface="Times New Roman" panose="02020603050405020304" pitchFamily="18" charset="0"/>
              </a:rPr>
            </a:br>
            <a:r>
              <a:rPr lang="en-US" sz="3200" dirty="0" smtClean="0">
                <a:effectLst/>
                <a:latin typeface="Times New Roman" panose="02020603050405020304" pitchFamily="18" charset="0"/>
                <a:cs typeface="Times New Roman" panose="02020603050405020304" pitchFamily="18" charset="0"/>
              </a:rPr>
              <a:t>B. </a:t>
            </a:r>
            <a:r>
              <a:rPr lang="en-US" sz="3200" dirty="0" err="1" smtClean="0">
                <a:effectLst/>
                <a:latin typeface="Times New Roman" panose="02020603050405020304" pitchFamily="18" charset="0"/>
                <a:cs typeface="Times New Roman" panose="02020603050405020304" pitchFamily="18" charset="0"/>
              </a:rPr>
              <a:t>Endorsive</a:t>
            </a:r>
            <a:r>
              <a:rPr lang="en-US" sz="3200" dirty="0" smtClean="0">
                <a:effectLst/>
                <a:latin typeface="Times New Roman" panose="02020603050405020304" pitchFamily="18" charset="0"/>
                <a:cs typeface="Times New Roman" panose="02020603050405020304" pitchFamily="18" charset="0"/>
              </a:rPr>
              <a:t> support</a:t>
            </a:r>
            <a:br>
              <a:rPr lang="en-US" sz="3200" dirty="0" smtClean="0">
                <a:effectLst/>
                <a:latin typeface="Times New Roman" panose="02020603050405020304" pitchFamily="18" charset="0"/>
                <a:cs typeface="Times New Roman" panose="02020603050405020304" pitchFamily="18" charset="0"/>
              </a:rPr>
            </a:br>
            <a:r>
              <a:rPr lang="en-US" sz="3200" dirty="0" smtClean="0">
                <a:effectLst/>
                <a:latin typeface="Times New Roman" panose="02020603050405020304" pitchFamily="18" charset="0"/>
                <a:cs typeface="Times New Roman" panose="02020603050405020304" pitchFamily="18" charset="0"/>
              </a:rPr>
              <a:t>C. Protective support</a:t>
            </a:r>
            <a:endParaRPr lang="en-US" sz="32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476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err="1" smtClean="0">
                <a:effectLst/>
                <a:latin typeface="Times New Roman" panose="02020603050405020304" pitchFamily="18" charset="0"/>
                <a:cs typeface="Times New Roman" panose="02020603050405020304" pitchFamily="18" charset="0"/>
              </a:rPr>
              <a:t>Stimulative</a:t>
            </a:r>
            <a:r>
              <a:rPr lang="en-US" sz="3600" b="1" baseline="0" dirty="0" smtClean="0">
                <a:effectLst/>
                <a:latin typeface="Times New Roman" panose="02020603050405020304" pitchFamily="18" charset="0"/>
                <a:cs typeface="Times New Roman" panose="02020603050405020304" pitchFamily="18" charset="0"/>
              </a:rPr>
              <a:t> support: </a:t>
            </a:r>
            <a:endParaRPr lang="en-US" sz="3200" b="0"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1. Entrepreneurial education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Motivation training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Investment opportunities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4. Providing consultancy</a:t>
            </a:r>
          </a:p>
          <a:p>
            <a:endParaRPr lang="en-US" dirty="0"/>
          </a:p>
        </p:txBody>
      </p:sp>
    </p:spTree>
    <p:extLst>
      <p:ext uri="{BB962C8B-B14F-4D97-AF65-F5344CB8AC3E}">
        <p14:creationId xmlns:p14="http://schemas.microsoft.com/office/powerpoint/2010/main" val="2857725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6986"/>
            <a:ext cx="8229600" cy="1143000"/>
          </a:xfrm>
        </p:spPr>
        <p:txBody>
          <a:bodyPr>
            <a:normAutofit/>
          </a:bodyPr>
          <a:lstStyle/>
          <a:p>
            <a:r>
              <a:rPr lang="en-US" sz="3600" b="1" dirty="0" err="1" smtClean="0">
                <a:effectLst/>
                <a:latin typeface="Times New Roman" panose="02020603050405020304" pitchFamily="18" charset="0"/>
                <a:cs typeface="Times New Roman" panose="02020603050405020304" pitchFamily="18" charset="0"/>
              </a:rPr>
              <a:t>Endorsive</a:t>
            </a:r>
            <a:r>
              <a:rPr lang="en-US" sz="3600" b="1" dirty="0" smtClean="0">
                <a:effectLst/>
                <a:latin typeface="Times New Roman" panose="02020603050405020304" pitchFamily="18" charset="0"/>
                <a:cs typeface="Times New Roman" panose="02020603050405020304" pitchFamily="18" charset="0"/>
              </a:rPr>
              <a:t> support: </a:t>
            </a:r>
            <a:r>
              <a:rPr lang="en-US" sz="3200" dirty="0">
                <a:effectLst/>
                <a:latin typeface="Times New Roman" panose="02020603050405020304" pitchFamily="18" charset="0"/>
                <a:cs typeface="Times New Roman" panose="02020603050405020304" pitchFamily="18" charset="0"/>
              </a:rPr>
              <a:t/>
            </a:r>
            <a:br>
              <a:rPr lang="en-US" sz="3200" dirty="0">
                <a:effectLst/>
                <a:latin typeface="Times New Roman" panose="02020603050405020304" pitchFamily="18" charset="0"/>
                <a:cs typeface="Times New Roman" panose="02020603050405020304" pitchFamily="18" charset="0"/>
              </a:rPr>
            </a:br>
            <a:endParaRPr lang="en-US" sz="3200" b="0"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1. Registering the industrial organization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Obtaining capital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Infrastructural facilities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4. Selecting and procuring machinery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5. Obtaining management consultancy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6. Marketing the products</a:t>
            </a:r>
          </a:p>
          <a:p>
            <a:endParaRPr lang="en-US" dirty="0"/>
          </a:p>
        </p:txBody>
      </p:sp>
    </p:spTree>
    <p:extLst>
      <p:ext uri="{BB962C8B-B14F-4D97-AF65-F5344CB8AC3E}">
        <p14:creationId xmlns:p14="http://schemas.microsoft.com/office/powerpoint/2010/main" val="2740939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effectLst/>
                <a:latin typeface="Times New Roman" panose="02020603050405020304" pitchFamily="18" charset="0"/>
                <a:cs typeface="Times New Roman" panose="02020603050405020304" pitchFamily="18" charset="0"/>
              </a:rPr>
              <a:t>Protective support:</a:t>
            </a:r>
            <a:r>
              <a:rPr lang="en-US" sz="3200" dirty="0">
                <a:effectLst/>
                <a:latin typeface="Times New Roman" panose="02020603050405020304" pitchFamily="18" charset="0"/>
                <a:cs typeface="Times New Roman" panose="02020603050405020304" pitchFamily="18" charset="0"/>
              </a:rPr>
              <a:t/>
            </a:r>
            <a:br>
              <a:rPr lang="en-US" sz="3200" dirty="0">
                <a:effectLst/>
                <a:latin typeface="Times New Roman" panose="02020603050405020304" pitchFamily="18" charset="0"/>
                <a:cs typeface="Times New Roman" panose="02020603050405020304" pitchFamily="18" charset="0"/>
              </a:rPr>
            </a:br>
            <a:endParaRPr lang="en-US" sz="3200" b="0"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1. Modernization of the business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Expansion of the business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Marketing the commodity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4. Arranging additional funding for utilizing the potential production capacity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5. Extension of the time period for repayment of debt and interest thereof</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6. Establishment of common services center. </a:t>
            </a:r>
          </a:p>
        </p:txBody>
      </p:sp>
    </p:spTree>
    <p:extLst>
      <p:ext uri="{BB962C8B-B14F-4D97-AF65-F5344CB8AC3E}">
        <p14:creationId xmlns:p14="http://schemas.microsoft.com/office/powerpoint/2010/main" val="3501155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839200" cy="1143000"/>
          </a:xfrm>
        </p:spPr>
        <p:txBody>
          <a:bodyPr>
            <a:normAutofit fontScale="90000"/>
          </a:bodyPr>
          <a:lstStyle/>
          <a:p>
            <a:r>
              <a:rPr lang="en-US" sz="4000" b="1" dirty="0" smtClean="0">
                <a:effectLst/>
                <a:latin typeface="Times New Roman" panose="02020603050405020304" pitchFamily="18" charset="0"/>
                <a:cs typeface="Times New Roman" panose="02020603050405020304" pitchFamily="18" charset="0"/>
              </a:rPr>
              <a:t>Support services of government institutions:</a:t>
            </a:r>
            <a:endParaRPr lang="en-US" sz="3200" b="0"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Government provide services to businessman through some policies, such as: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1. Industrial and investment policy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Fiscal policy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Import – export policy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4. Policy for providing different infrastructural facilities. </a:t>
            </a:r>
          </a:p>
        </p:txBody>
      </p:sp>
    </p:spTree>
    <p:extLst>
      <p:ext uri="{BB962C8B-B14F-4D97-AF65-F5344CB8AC3E}">
        <p14:creationId xmlns:p14="http://schemas.microsoft.com/office/powerpoint/2010/main" val="25409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274638"/>
            <a:ext cx="8458200" cy="6430962"/>
          </a:xfrm>
        </p:spPr>
        <p:txBody>
          <a:bodyPr>
            <a:noAutofit/>
          </a:bodyPr>
          <a:lstStyle/>
          <a:p>
            <a:pPr algn="l"/>
            <a:r>
              <a:rPr lang="en-US" sz="3200" b="1" dirty="0" smtClean="0">
                <a:effectLst/>
                <a:latin typeface="Times New Roman" panose="02020603050405020304" pitchFamily="18" charset="0"/>
                <a:cs typeface="Times New Roman" panose="02020603050405020304" pitchFamily="18" charset="0"/>
              </a:rPr>
              <a:t>Government</a:t>
            </a:r>
            <a:r>
              <a:rPr lang="en-US" sz="3200" b="1" baseline="0" dirty="0" smtClean="0">
                <a:effectLst/>
                <a:latin typeface="Times New Roman" panose="02020603050405020304" pitchFamily="18" charset="0"/>
                <a:cs typeface="Times New Roman" panose="02020603050405020304" pitchFamily="18" charset="0"/>
              </a:rPr>
              <a:t> provides institutional and non institutional facilities for business development, such as: </a:t>
            </a:r>
            <a:r>
              <a:rPr lang="en-US" sz="3200" baseline="0" dirty="0" smtClean="0">
                <a:effectLst/>
                <a:latin typeface="Times New Roman" panose="02020603050405020304" pitchFamily="18" charset="0"/>
                <a:cs typeface="Times New Roman" panose="02020603050405020304" pitchFamily="18" charset="0"/>
              </a:rPr>
              <a:t/>
            </a:r>
            <a:br>
              <a:rPr lang="en-US" sz="3200" baseline="0" dirty="0" smtClean="0">
                <a:effectLst/>
                <a:latin typeface="Times New Roman" panose="02020603050405020304" pitchFamily="18" charset="0"/>
                <a:cs typeface="Times New Roman" panose="02020603050405020304" pitchFamily="18" charset="0"/>
              </a:rPr>
            </a:br>
            <a:r>
              <a:rPr lang="en-US" sz="3200" baseline="0" dirty="0" smtClean="0">
                <a:effectLst/>
                <a:latin typeface="Times New Roman" panose="02020603050405020304" pitchFamily="18" charset="0"/>
                <a:cs typeface="Times New Roman" panose="02020603050405020304" pitchFamily="18" charset="0"/>
              </a:rPr>
              <a:t/>
            </a:r>
            <a:br>
              <a:rPr lang="en-US" sz="3200" baseline="0" dirty="0" smtClean="0">
                <a:effectLst/>
                <a:latin typeface="Times New Roman" panose="02020603050405020304" pitchFamily="18" charset="0"/>
                <a:cs typeface="Times New Roman" panose="02020603050405020304" pitchFamily="18" charset="0"/>
              </a:rPr>
            </a:br>
            <a:r>
              <a:rPr lang="en-US" sz="2800" b="0" dirty="0" smtClean="0">
                <a:effectLst/>
                <a:latin typeface="Times New Roman" panose="02020603050405020304" pitchFamily="18" charset="0"/>
                <a:cs typeface="Times New Roman" panose="02020603050405020304" pitchFamily="18" charset="0"/>
              </a:rPr>
              <a:t>A. Industrial and investment policy – Now national industrial policy 2022 is working.</a:t>
            </a:r>
            <a:br>
              <a:rPr lang="en-US" sz="2800" b="0" dirty="0" smtClean="0">
                <a:effectLst/>
                <a:latin typeface="Times New Roman" panose="02020603050405020304" pitchFamily="18" charset="0"/>
                <a:cs typeface="Times New Roman" panose="02020603050405020304" pitchFamily="18" charset="0"/>
              </a:rPr>
            </a:br>
            <a:r>
              <a:rPr lang="en-US" sz="2800" b="0" dirty="0" smtClean="0">
                <a:effectLst/>
                <a:latin typeface="Times New Roman" panose="02020603050405020304" pitchFamily="18" charset="0"/>
                <a:cs typeface="Times New Roman" panose="02020603050405020304" pitchFamily="18" charset="0"/>
              </a:rPr>
              <a:t/>
            </a:r>
            <a:br>
              <a:rPr lang="en-US" sz="2800" b="0" dirty="0" smtClean="0">
                <a:effectLst/>
                <a:latin typeface="Times New Roman" panose="02020603050405020304" pitchFamily="18" charset="0"/>
                <a:cs typeface="Times New Roman" panose="02020603050405020304" pitchFamily="18" charset="0"/>
              </a:rPr>
            </a:br>
            <a:r>
              <a:rPr lang="en-US" sz="2800" b="0" dirty="0" smtClean="0">
                <a:effectLst/>
                <a:latin typeface="Times New Roman" panose="02020603050405020304" pitchFamily="18" charset="0"/>
                <a:cs typeface="Times New Roman" panose="02020603050405020304" pitchFamily="18" charset="0"/>
              </a:rPr>
              <a:t>B. Government encouragement to establish industries.</a:t>
            </a:r>
            <a:br>
              <a:rPr lang="en-US" sz="2800" b="0" dirty="0" smtClean="0">
                <a:effectLst/>
                <a:latin typeface="Times New Roman" panose="02020603050405020304" pitchFamily="18" charset="0"/>
                <a:cs typeface="Times New Roman" panose="02020603050405020304" pitchFamily="18" charset="0"/>
              </a:rPr>
            </a:br>
            <a:r>
              <a:rPr lang="en-US" sz="2800" b="0" dirty="0" smtClean="0">
                <a:effectLst/>
                <a:latin typeface="Times New Roman" panose="02020603050405020304" pitchFamily="18" charset="0"/>
                <a:cs typeface="Times New Roman" panose="02020603050405020304" pitchFamily="18" charset="0"/>
              </a:rPr>
              <a:t>Government emphasize balance industrial development. Giving facilities on the basis of area:</a:t>
            </a:r>
            <a:br>
              <a:rPr lang="en-US" sz="2800" b="0" dirty="0" smtClean="0">
                <a:effectLst/>
                <a:latin typeface="Times New Roman" panose="02020603050405020304" pitchFamily="18" charset="0"/>
                <a:cs typeface="Times New Roman" panose="02020603050405020304" pitchFamily="18" charset="0"/>
              </a:rPr>
            </a:br>
            <a:r>
              <a:rPr lang="en-US" sz="2800" b="0" dirty="0">
                <a:effectLst/>
                <a:latin typeface="Times New Roman" panose="02020603050405020304" pitchFamily="18" charset="0"/>
                <a:cs typeface="Times New Roman" panose="02020603050405020304" pitchFamily="18" charset="0"/>
              </a:rPr>
              <a:t> </a:t>
            </a:r>
            <a:r>
              <a:rPr lang="en-US" sz="2800" b="0" dirty="0" smtClean="0">
                <a:effectLst/>
                <a:latin typeface="Times New Roman" panose="02020603050405020304" pitchFamily="18" charset="0"/>
                <a:cs typeface="Times New Roman" panose="02020603050405020304" pitchFamily="18" charset="0"/>
              </a:rPr>
              <a:t>  a. Developed area</a:t>
            </a:r>
            <a:br>
              <a:rPr lang="en-US" sz="2800" b="0" dirty="0" smtClean="0">
                <a:effectLst/>
                <a:latin typeface="Times New Roman" panose="02020603050405020304" pitchFamily="18" charset="0"/>
                <a:cs typeface="Times New Roman" panose="02020603050405020304" pitchFamily="18" charset="0"/>
              </a:rPr>
            </a:br>
            <a:r>
              <a:rPr lang="en-US" sz="2800" b="0" dirty="0">
                <a:effectLst/>
                <a:latin typeface="Times New Roman" panose="02020603050405020304" pitchFamily="18" charset="0"/>
                <a:cs typeface="Times New Roman" panose="02020603050405020304" pitchFamily="18" charset="0"/>
              </a:rPr>
              <a:t> </a:t>
            </a:r>
            <a:r>
              <a:rPr lang="en-US" sz="2800" b="0" dirty="0" smtClean="0">
                <a:effectLst/>
                <a:latin typeface="Times New Roman" panose="02020603050405020304" pitchFamily="18" charset="0"/>
                <a:cs typeface="Times New Roman" panose="02020603050405020304" pitchFamily="18" charset="0"/>
              </a:rPr>
              <a:t>  b. Least develop area</a:t>
            </a:r>
            <a:br>
              <a:rPr lang="en-US" sz="2800" b="0" dirty="0" smtClean="0">
                <a:effectLst/>
                <a:latin typeface="Times New Roman" panose="02020603050405020304" pitchFamily="18" charset="0"/>
                <a:cs typeface="Times New Roman" panose="02020603050405020304" pitchFamily="18" charset="0"/>
              </a:rPr>
            </a:br>
            <a:r>
              <a:rPr lang="en-US" sz="2800" b="0" dirty="0">
                <a:effectLst/>
                <a:latin typeface="Times New Roman" panose="02020603050405020304" pitchFamily="18" charset="0"/>
                <a:cs typeface="Times New Roman" panose="02020603050405020304" pitchFamily="18" charset="0"/>
              </a:rPr>
              <a:t> </a:t>
            </a:r>
            <a:r>
              <a:rPr lang="en-US" sz="2800" b="0" dirty="0" smtClean="0">
                <a:effectLst/>
                <a:latin typeface="Times New Roman" panose="02020603050405020304" pitchFamily="18" charset="0"/>
                <a:cs typeface="Times New Roman" panose="02020603050405020304" pitchFamily="18" charset="0"/>
              </a:rPr>
              <a:t>  c. Under-develop area</a:t>
            </a:r>
            <a:endParaRPr lang="en-US" sz="28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7587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229600" cy="6202362"/>
          </a:xfrm>
        </p:spPr>
        <p:txBody>
          <a:bodyPr>
            <a:normAutofit/>
          </a:bodyPr>
          <a:lstStyle/>
          <a:p>
            <a:pPr algn="l"/>
            <a:r>
              <a:rPr lang="en-US" sz="3200" dirty="0" smtClean="0">
                <a:effectLst/>
                <a:latin typeface="Times New Roman" panose="02020603050405020304" pitchFamily="18" charset="0"/>
                <a:cs typeface="Times New Roman" panose="02020603050405020304" pitchFamily="18" charset="0"/>
              </a:rPr>
              <a:t>C.</a:t>
            </a:r>
            <a:r>
              <a:rPr lang="en-US" sz="3200" baseline="0" dirty="0" smtClean="0">
                <a:effectLst/>
                <a:latin typeface="Times New Roman" panose="02020603050405020304" pitchFamily="18" charset="0"/>
                <a:cs typeface="Times New Roman" panose="02020603050405020304" pitchFamily="18" charset="0"/>
              </a:rPr>
              <a:t> Revenue privileges to  encourage business:</a:t>
            </a:r>
            <a:br>
              <a:rPr lang="en-US" sz="3200" baseline="0" dirty="0" smtClean="0">
                <a:effectLst/>
                <a:latin typeface="Times New Roman" panose="02020603050405020304" pitchFamily="18" charset="0"/>
                <a:cs typeface="Times New Roman" panose="02020603050405020304" pitchFamily="18" charset="0"/>
              </a:rPr>
            </a:br>
            <a:r>
              <a:rPr lang="en-US" sz="3200" dirty="0">
                <a:effectLst/>
                <a:latin typeface="Times New Roman" panose="02020603050405020304" pitchFamily="18" charset="0"/>
                <a:cs typeface="Times New Roman" panose="02020603050405020304" pitchFamily="18" charset="0"/>
              </a:rPr>
              <a:t/>
            </a:r>
            <a:br>
              <a:rPr lang="en-US" sz="3200" dirty="0">
                <a:effectLst/>
                <a:latin typeface="Times New Roman" panose="02020603050405020304" pitchFamily="18" charset="0"/>
                <a:cs typeface="Times New Roman" panose="02020603050405020304" pitchFamily="18" charset="0"/>
              </a:rPr>
            </a:br>
            <a:r>
              <a:rPr lang="en-US" sz="3200" b="0" dirty="0" err="1" smtClean="0">
                <a:effectLst/>
                <a:latin typeface="Times New Roman" panose="02020603050405020304" pitchFamily="18" charset="0"/>
                <a:cs typeface="Times New Roman" panose="02020603050405020304" pitchFamily="18" charset="0"/>
              </a:rPr>
              <a:t>i</a:t>
            </a:r>
            <a:r>
              <a:rPr lang="en-US" sz="3200" b="0" dirty="0" smtClean="0">
                <a:effectLst/>
                <a:latin typeface="Times New Roman" panose="02020603050405020304" pitchFamily="18" charset="0"/>
                <a:cs typeface="Times New Roman" panose="02020603050405020304" pitchFamily="18" charset="0"/>
              </a:rPr>
              <a:t>. Tax holiday</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ii. Opportunity for determining higher rate for depreciation – 80% in first year and 20% in the next year</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iii. Investment allowance – 20% of actual cost of machinery and plant will be given. 25% for least developed area. </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iv. Loss transfer</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v. Tax free area</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vi. Exemption from dual tax </a:t>
            </a:r>
            <a:r>
              <a:rPr lang="en-US" sz="3200" b="0" baseline="0" dirty="0" smtClean="0">
                <a:effectLst/>
                <a:latin typeface="Times New Roman" panose="02020603050405020304" pitchFamily="18" charset="0"/>
                <a:cs typeface="Times New Roman" panose="02020603050405020304" pitchFamily="18" charset="0"/>
              </a:rPr>
              <a:t> </a:t>
            </a:r>
            <a:endParaRPr lang="en-US" sz="32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2387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274638"/>
            <a:ext cx="8534400" cy="6354762"/>
          </a:xfrm>
        </p:spPr>
        <p:txBody>
          <a:bodyPr>
            <a:normAutofit fontScale="90000"/>
          </a:bodyPr>
          <a:lstStyle/>
          <a:p>
            <a:pPr algn="l"/>
            <a:r>
              <a:rPr lang="en-US" sz="3200" dirty="0" smtClean="0">
                <a:effectLst/>
                <a:latin typeface="Times New Roman" panose="02020603050405020304" pitchFamily="18" charset="0"/>
                <a:cs typeface="Times New Roman" panose="02020603050405020304" pitchFamily="18" charset="0"/>
              </a:rPr>
              <a:t>D.</a:t>
            </a:r>
            <a:r>
              <a:rPr lang="en-US" sz="3200" baseline="0" dirty="0" smtClean="0">
                <a:effectLst/>
                <a:latin typeface="Times New Roman" panose="02020603050405020304" pitchFamily="18" charset="0"/>
                <a:cs typeface="Times New Roman" panose="02020603050405020304" pitchFamily="18" charset="0"/>
              </a:rPr>
              <a:t> Financing of business</a:t>
            </a:r>
            <a:r>
              <a:rPr lang="en-US" sz="3200" dirty="0" smtClean="0">
                <a:effectLst/>
                <a:latin typeface="Times New Roman" panose="02020603050405020304" pitchFamily="18" charset="0"/>
                <a:cs typeface="Times New Roman" panose="02020603050405020304" pitchFamily="18" charset="0"/>
              </a:rPr>
              <a:t> </a:t>
            </a:r>
            <a:br>
              <a:rPr lang="en-US" sz="3200" dirty="0" smtClean="0">
                <a:effectLst/>
                <a:latin typeface="Times New Roman" panose="02020603050405020304" pitchFamily="18" charset="0"/>
                <a:cs typeface="Times New Roman" panose="02020603050405020304" pitchFamily="18" charset="0"/>
              </a:rPr>
            </a:br>
            <a:r>
              <a:rPr lang="en-US" sz="3200" dirty="0">
                <a:effectLst/>
                <a:latin typeface="Times New Roman" panose="02020603050405020304" pitchFamily="18" charset="0"/>
                <a:cs typeface="Times New Roman" panose="02020603050405020304" pitchFamily="18" charset="0"/>
              </a:rPr>
              <a:t> </a:t>
            </a:r>
            <a:r>
              <a:rPr lang="en-US" sz="3200" dirty="0" smtClean="0">
                <a:effectLst/>
                <a:latin typeface="Times New Roman" panose="02020603050405020304" pitchFamily="18" charset="0"/>
                <a:cs typeface="Times New Roman" panose="02020603050405020304" pitchFamily="18" charset="0"/>
              </a:rPr>
              <a:t>     </a:t>
            </a:r>
            <a:r>
              <a:rPr lang="en-US" sz="3200" b="0" dirty="0" smtClean="0">
                <a:effectLst/>
                <a:latin typeface="Times New Roman" panose="02020603050405020304" pitchFamily="18" charset="0"/>
                <a:cs typeface="Times New Roman" panose="02020603050405020304" pitchFamily="18" charset="0"/>
              </a:rPr>
              <a:t>Government ensure the local and foreign currency loan through different institutions. </a:t>
            </a:r>
            <a:br>
              <a:rPr lang="en-US" sz="3200" b="0" dirty="0" smtClean="0">
                <a:effectLst/>
                <a:latin typeface="Times New Roman" panose="02020603050405020304" pitchFamily="18" charset="0"/>
                <a:cs typeface="Times New Roman" panose="02020603050405020304" pitchFamily="18" charset="0"/>
              </a:rPr>
            </a:br>
            <a:r>
              <a:rPr lang="en-US" sz="3200" dirty="0">
                <a:effectLst/>
                <a:latin typeface="Times New Roman" panose="02020603050405020304" pitchFamily="18" charset="0"/>
                <a:cs typeface="Times New Roman" panose="02020603050405020304" pitchFamily="18" charset="0"/>
              </a:rPr>
              <a:t/>
            </a:r>
            <a:br>
              <a:rPr lang="en-US" sz="3200" dirty="0">
                <a:effectLst/>
                <a:latin typeface="Times New Roman" panose="02020603050405020304" pitchFamily="18" charset="0"/>
                <a:cs typeface="Times New Roman" panose="02020603050405020304" pitchFamily="18" charset="0"/>
              </a:rPr>
            </a:br>
            <a:r>
              <a:rPr lang="en-US" sz="3200" dirty="0" smtClean="0">
                <a:effectLst/>
                <a:latin typeface="Times New Roman" panose="02020603050405020304" pitchFamily="18" charset="0"/>
                <a:cs typeface="Times New Roman" panose="02020603050405020304" pitchFamily="18" charset="0"/>
              </a:rPr>
              <a:t>E. Institutions assisting industrialization:</a:t>
            </a:r>
            <a:br>
              <a:rPr lang="en-US" sz="3200" dirty="0" smtClean="0">
                <a:effectLst/>
                <a:latin typeface="Times New Roman" panose="02020603050405020304" pitchFamily="18" charset="0"/>
                <a:cs typeface="Times New Roman" panose="02020603050405020304" pitchFamily="18" charset="0"/>
              </a:rPr>
            </a:br>
            <a:r>
              <a:rPr lang="en-US" sz="3200" dirty="0" smtClean="0">
                <a:effectLst/>
                <a:latin typeface="Times New Roman" panose="02020603050405020304" pitchFamily="18" charset="0"/>
                <a:cs typeface="Times New Roman" panose="02020603050405020304" pitchFamily="18" charset="0"/>
              </a:rPr>
              <a:t/>
            </a:r>
            <a:br>
              <a:rPr lang="en-US" sz="3200" dirty="0" smtClean="0">
                <a:effectLst/>
                <a:latin typeface="Times New Roman" panose="02020603050405020304" pitchFamily="18" charset="0"/>
                <a:cs typeface="Times New Roman" panose="02020603050405020304" pitchFamily="18" charset="0"/>
              </a:rPr>
            </a:br>
            <a:r>
              <a:rPr lang="en-US" sz="3200" b="0" dirty="0" err="1" smtClean="0">
                <a:effectLst/>
                <a:latin typeface="Times New Roman" panose="02020603050405020304" pitchFamily="18" charset="0"/>
                <a:cs typeface="Times New Roman" panose="02020603050405020304" pitchFamily="18" charset="0"/>
              </a:rPr>
              <a:t>i</a:t>
            </a:r>
            <a:r>
              <a:rPr lang="en-US" sz="3200" b="0" dirty="0" smtClean="0">
                <a:effectLst/>
                <a:latin typeface="Times New Roman" panose="02020603050405020304" pitchFamily="18" charset="0"/>
                <a:cs typeface="Times New Roman" panose="02020603050405020304" pitchFamily="18" charset="0"/>
              </a:rPr>
              <a:t>. Investment corporation of Bangladesh</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ii. Commercial Banks</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iii. Controller of import and export</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iv. Bangladesh handloom products export corporation</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v. Bangladesh industrial technical assistance corporation</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vi. Bangladesh standard and testing institute</a:t>
            </a:r>
            <a:br>
              <a:rPr lang="en-US" sz="3200" b="0" dirty="0" smtClean="0">
                <a:effectLst/>
                <a:latin typeface="Times New Roman" panose="02020603050405020304" pitchFamily="18" charset="0"/>
                <a:cs typeface="Times New Roman" panose="02020603050405020304" pitchFamily="18" charset="0"/>
              </a:rPr>
            </a:br>
            <a:r>
              <a:rPr lang="en-US" sz="3200" b="0" dirty="0" smtClean="0">
                <a:effectLst/>
                <a:latin typeface="Times New Roman" panose="02020603050405020304" pitchFamily="18" charset="0"/>
                <a:cs typeface="Times New Roman" panose="02020603050405020304" pitchFamily="18" charset="0"/>
              </a:rPr>
              <a:t>vii. Bangladesh council for scientific and industrial research (BCSIR). </a:t>
            </a:r>
            <a:endParaRPr lang="en-US" sz="32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630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602163"/>
          </a:xfrm>
        </p:spPr>
        <p:txBody>
          <a:bodyPr/>
          <a:lstStyle/>
          <a:p>
            <a:r>
              <a:rPr lang="en-US" dirty="0" smtClean="0">
                <a:latin typeface="Times New Roman" panose="02020603050405020304" pitchFamily="18" charset="0"/>
                <a:cs typeface="Times New Roman" panose="02020603050405020304" pitchFamily="18" charset="0"/>
              </a:rPr>
              <a:t>To take delivery of goods, a number of documents are to be submitted, import duty is to be paid.</a:t>
            </a:r>
          </a:p>
          <a:p>
            <a:r>
              <a:rPr lang="en-US" dirty="0" smtClean="0">
                <a:latin typeface="Times New Roman" panose="02020603050405020304" pitchFamily="18" charset="0"/>
                <a:cs typeface="Times New Roman" panose="02020603050405020304" pitchFamily="18" charset="0"/>
              </a:rPr>
              <a:t>To help performing these services &amp; assist both importer &amp; custom authority a group of expert who perform these function are called clearing agent.</a:t>
            </a:r>
          </a:p>
          <a:p>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457200" y="609600"/>
            <a:ext cx="8229600" cy="808038"/>
          </a:xfrm>
        </p:spPr>
        <p:txBody>
          <a:bodyPr>
            <a:normAutofit fontScale="90000"/>
          </a:bodyPr>
          <a:lstStyle/>
          <a:p>
            <a:r>
              <a:rPr lang="en-US" dirty="0" smtClean="0">
                <a:latin typeface="Times New Roman" panose="02020603050405020304" pitchFamily="18" charset="0"/>
                <a:cs typeface="Times New Roman" panose="02020603050405020304" pitchFamily="18" charset="0"/>
              </a:rPr>
              <a:t>Clearing and Forwarding (C&amp;F) Agency</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9264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pany"/>
          <p:cNvPicPr/>
          <p:nvPr/>
        </p:nvPicPr>
        <p:blipFill>
          <a:blip r:embed="rId2" cstate="print"/>
          <a:srcRect/>
          <a:stretch>
            <a:fillRect/>
          </a:stretch>
        </p:blipFill>
        <p:spPr bwMode="auto">
          <a:xfrm>
            <a:off x="685800" y="152400"/>
            <a:ext cx="7924799" cy="6477000"/>
          </a:xfrm>
          <a:prstGeom prst="rect">
            <a:avLst/>
          </a:prstGeom>
          <a:noFill/>
          <a:ln w="9525">
            <a:noFill/>
            <a:miter lim="800000"/>
            <a:headEnd/>
            <a:tailEnd/>
          </a:ln>
          <a:effectLst>
            <a:outerShdw dist="107763" dir="18900000" algn="ctr" rotWithShape="0">
              <a:srgbClr val="808080">
                <a:alpha val="50000"/>
              </a:srgbClr>
            </a:outerShdw>
          </a:effectLst>
        </p:spPr>
      </p:pic>
    </p:spTree>
    <p:extLst>
      <p:ext uri="{BB962C8B-B14F-4D97-AF65-F5344CB8AC3E}">
        <p14:creationId xmlns:p14="http://schemas.microsoft.com/office/powerpoint/2010/main" val="31961089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17638"/>
            <a:ext cx="8991600" cy="5440362"/>
          </a:xfrm>
        </p:spPr>
        <p:txBody>
          <a:bodyPr>
            <a:noAutofit/>
          </a:bodyPr>
          <a:lstStyle/>
          <a:p>
            <a:pPr lvl="0" algn="just"/>
            <a:r>
              <a:rPr lang="en-US" sz="2800" dirty="0" smtClean="0">
                <a:latin typeface="Times New Roman" panose="02020603050405020304" pitchFamily="18" charset="0"/>
                <a:cs typeface="Times New Roman" panose="02020603050405020304" pitchFamily="18" charset="0"/>
              </a:rPr>
              <a:t>Unloading &amp; proper stacking of materials.</a:t>
            </a:r>
          </a:p>
          <a:p>
            <a:pPr lvl="0" algn="just"/>
            <a:r>
              <a:rPr lang="en-US" sz="2800" dirty="0" smtClean="0">
                <a:latin typeface="Times New Roman" panose="02020603050405020304" pitchFamily="18" charset="0"/>
                <a:cs typeface="Times New Roman" panose="02020603050405020304" pitchFamily="18" charset="0"/>
              </a:rPr>
              <a:t> Maintaining adequate 'A' class </a:t>
            </a:r>
            <a:r>
              <a:rPr lang="en-US" sz="2800" dirty="0" err="1" smtClean="0">
                <a:latin typeface="Times New Roman" panose="02020603050405020304" pitchFamily="18" charset="0"/>
                <a:cs typeface="Times New Roman" panose="02020603050405020304" pitchFamily="18" charset="0"/>
              </a:rPr>
              <a:t>godown</a:t>
            </a:r>
            <a:r>
              <a:rPr lang="en-US" sz="2800" dirty="0" smtClean="0">
                <a:latin typeface="Times New Roman" panose="02020603050405020304" pitchFamily="18" charset="0"/>
                <a:cs typeface="Times New Roman" panose="02020603050405020304" pitchFamily="18" charset="0"/>
              </a:rPr>
              <a:t> in good condition with required infrastructure.</a:t>
            </a:r>
          </a:p>
          <a:p>
            <a:pPr lvl="0" algn="just"/>
            <a:r>
              <a:rPr lang="en-US" sz="2800" dirty="0" smtClean="0">
                <a:latin typeface="Times New Roman" panose="02020603050405020304" pitchFamily="18" charset="0"/>
                <a:cs typeface="Times New Roman" panose="02020603050405020304" pitchFamily="18" charset="0"/>
              </a:rPr>
              <a:t>Loading and Arranging transport for dispatches. </a:t>
            </a:r>
          </a:p>
          <a:p>
            <a:pPr lvl="0" algn="just"/>
            <a:r>
              <a:rPr lang="en-US" sz="2800" dirty="0" smtClean="0">
                <a:latin typeface="Times New Roman" panose="02020603050405020304" pitchFamily="18" charset="0"/>
                <a:cs typeface="Times New Roman" panose="02020603050405020304" pitchFamily="18" charset="0"/>
              </a:rPr>
              <a:t>Delivery / </a:t>
            </a:r>
            <a:r>
              <a:rPr lang="en-US" sz="2800" dirty="0" err="1" smtClean="0">
                <a:latin typeface="Times New Roman" panose="02020603050405020304" pitchFamily="18" charset="0"/>
                <a:cs typeface="Times New Roman" panose="02020603050405020304" pitchFamily="18" charset="0"/>
              </a:rPr>
              <a:t>Despatch</a:t>
            </a:r>
            <a:r>
              <a:rPr lang="en-US"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of goods to Dealers / customers as per SO or STO. [sales order/stock transfer order]</a:t>
            </a:r>
          </a:p>
          <a:p>
            <a:pPr lvl="0" algn="just"/>
            <a:r>
              <a:rPr lang="en-US" sz="2800" dirty="0" smtClean="0">
                <a:latin typeface="Times New Roman" panose="02020603050405020304" pitchFamily="18" charset="0"/>
                <a:cs typeface="Times New Roman" panose="02020603050405020304" pitchFamily="18" charset="0"/>
              </a:rPr>
              <a:t>Invoicing as per company price list, Permitting discounts on invoice as per policy.</a:t>
            </a:r>
          </a:p>
          <a:p>
            <a:pPr lvl="0" algn="just"/>
            <a:r>
              <a:rPr lang="en-US" sz="2800" dirty="0" smtClean="0">
                <a:latin typeface="Times New Roman" panose="02020603050405020304" pitchFamily="18" charset="0"/>
                <a:cs typeface="Times New Roman" panose="02020603050405020304" pitchFamily="18" charset="0"/>
              </a:rPr>
              <a:t>Maintaining stock records in the computer system and existing checking physical stock tallies with the same. </a:t>
            </a:r>
          </a:p>
          <a:p>
            <a:pPr lvl="0" algn="just"/>
            <a:r>
              <a:rPr lang="en-US" sz="2800" dirty="0" smtClean="0">
                <a:latin typeface="Times New Roman" panose="02020603050405020304" pitchFamily="18" charset="0"/>
                <a:cs typeface="Times New Roman" panose="02020603050405020304" pitchFamily="18" charset="0"/>
              </a:rPr>
              <a:t>Proper storage &amp; handling of stock in </a:t>
            </a:r>
            <a:r>
              <a:rPr lang="en-US" sz="2800" dirty="0" err="1" smtClean="0">
                <a:latin typeface="Times New Roman" panose="02020603050405020304" pitchFamily="18" charset="0"/>
                <a:cs typeface="Times New Roman" panose="02020603050405020304" pitchFamily="18" charset="0"/>
              </a:rPr>
              <a:t>godown</a:t>
            </a:r>
            <a:r>
              <a:rPr lang="en-US" sz="2800" dirty="0" smtClean="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Facilities Provided by C&amp;F Agents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2681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Custom is concerned with smooth operation of foreign trade &amp; excise is concerned with production of home goods &amp; duties charged thereon. </a:t>
            </a:r>
          </a:p>
          <a:p>
            <a:r>
              <a:rPr lang="en-US" dirty="0" smtClean="0">
                <a:latin typeface="Times New Roman" panose="02020603050405020304" pitchFamily="18" charset="0"/>
                <a:cs typeface="Times New Roman" panose="02020603050405020304" pitchFamily="18" charset="0"/>
              </a:rPr>
              <a:t>In one hand the custom authority &amp; excise authority excise control, supervision and monitoring, on the other hand it impose &amp; levy duty which is one of the important source of revenue of a country.</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Customs and Excise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9299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Government appoints custom officials as per general order of appointment set for the purpose. Some officials come through B.C.S. or Public Service commission &amp; some are directly appointed by the Government. </a:t>
            </a:r>
          </a:p>
          <a:p>
            <a:r>
              <a:rPr lang="en-US" dirty="0" smtClean="0">
                <a:latin typeface="Times New Roman" panose="02020603050405020304" pitchFamily="18" charset="0"/>
                <a:cs typeface="Times New Roman" panose="02020603050405020304" pitchFamily="18" charset="0"/>
              </a:rPr>
              <a:t>The functions, powers &amp; authorities of the persons under the hierarchy of the authority are guided by custom Act.</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Custom Authority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1641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In order to respond to the challenge of the constantly changing requirements in the implementation of control in the protection of the Community's financial, social and economic interests, without posing unnecessary hindrance to legitimate business, and to fulfill the main priorities,</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93861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953000"/>
          </a:xfrm>
        </p:spPr>
        <p:txBody>
          <a:bodyPr>
            <a:normAutofit fontScale="92500"/>
          </a:bodyPr>
          <a:lstStyle/>
          <a:p>
            <a:r>
              <a:rPr lang="en-US" dirty="0" smtClean="0">
                <a:latin typeface="Times New Roman" panose="02020603050405020304" pitchFamily="18" charset="0"/>
                <a:cs typeface="Times New Roman" panose="02020603050405020304" pitchFamily="18" charset="0"/>
              </a:rPr>
              <a:t>Customs has a major role in the trade facilitation of Bangladesh. </a:t>
            </a:r>
          </a:p>
          <a:p>
            <a:r>
              <a:rPr lang="en-US" dirty="0" smtClean="0">
                <a:latin typeface="Times New Roman" panose="02020603050405020304" pitchFamily="18" charset="0"/>
                <a:cs typeface="Times New Roman" panose="02020603050405020304" pitchFamily="18" charset="0"/>
              </a:rPr>
              <a:t>It plays one of the major role in collecting the revenues for the Government and also facilitates in the accomplishment of trade and commerce.</a:t>
            </a:r>
          </a:p>
          <a:p>
            <a:r>
              <a:rPr lang="en-US" dirty="0" smtClean="0">
                <a:latin typeface="Times New Roman" panose="02020603050405020304" pitchFamily="18" charset="0"/>
                <a:cs typeface="Times New Roman" panose="02020603050405020304" pitchFamily="18" charset="0"/>
              </a:rPr>
              <a:t>Customs are usually a major budget contributor, and sometimes the most important source of revenue for a country.  </a:t>
            </a:r>
          </a:p>
          <a:p>
            <a:r>
              <a:rPr lang="en-US" dirty="0" smtClean="0">
                <a:latin typeface="Times New Roman" panose="02020603050405020304" pitchFamily="18" charset="0"/>
                <a:cs typeface="Times New Roman" panose="02020603050405020304" pitchFamily="18" charset="0"/>
              </a:rPr>
              <a:t>Customs also have a unique observation position. </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Customs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8632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229600" cy="4330891"/>
          </a:xfrm>
        </p:spPr>
        <p:txBody>
          <a:bodyPr>
            <a:normAutofit fontScale="92500" lnSpcReduction="20000"/>
          </a:bodyPr>
          <a:lstStyle/>
          <a:p>
            <a:pPr algn="just"/>
            <a:r>
              <a:rPr lang="en-US"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chamber of commerce</a:t>
            </a:r>
            <a:r>
              <a:rPr lang="en-US" dirty="0" smtClean="0">
                <a:latin typeface="Times New Roman" panose="02020603050405020304" pitchFamily="18" charset="0"/>
                <a:cs typeface="Times New Roman" panose="02020603050405020304" pitchFamily="18" charset="0"/>
              </a:rPr>
              <a:t> (also referred to in some circles as a </a:t>
            </a:r>
            <a:r>
              <a:rPr lang="en-US" b="1" dirty="0" smtClean="0">
                <a:latin typeface="Times New Roman" panose="02020603050405020304" pitchFamily="18" charset="0"/>
                <a:cs typeface="Times New Roman" panose="02020603050405020304" pitchFamily="18" charset="0"/>
              </a:rPr>
              <a:t>board of trade</a:t>
            </a:r>
            <a:r>
              <a:rPr lang="en-US" dirty="0" smtClean="0">
                <a:latin typeface="Times New Roman" panose="02020603050405020304" pitchFamily="18" charset="0"/>
                <a:cs typeface="Times New Roman" panose="02020603050405020304" pitchFamily="18" charset="0"/>
              </a:rPr>
              <a:t>) is a form of business network, e.g. a local organization of businesses whose goal is to add the interest of businesses. </a:t>
            </a:r>
          </a:p>
          <a:p>
            <a:pPr algn="just"/>
            <a:r>
              <a:rPr lang="en-US" dirty="0" smtClean="0">
                <a:latin typeface="Times New Roman" panose="02020603050405020304" pitchFamily="18" charset="0"/>
                <a:cs typeface="Times New Roman" panose="02020603050405020304" pitchFamily="18" charset="0"/>
              </a:rPr>
              <a:t>Business owners in towns and cities form these local societies to advocate on behalf of the business community. </a:t>
            </a:r>
          </a:p>
          <a:p>
            <a:pPr algn="just"/>
            <a:r>
              <a:rPr lang="en-US" dirty="0" smtClean="0">
                <a:latin typeface="Times New Roman" panose="02020603050405020304" pitchFamily="18" charset="0"/>
                <a:cs typeface="Times New Roman" panose="02020603050405020304" pitchFamily="18" charset="0"/>
              </a:rPr>
              <a:t>Local businesses are members, and they elect a board of directors or executive council to set policy for the chamber.</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Chamber of commerce and Industries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3030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Local and regional chambers</a:t>
            </a:r>
          </a:p>
          <a:p>
            <a:r>
              <a:rPr lang="en-US" dirty="0" smtClean="0">
                <a:latin typeface="Times New Roman" panose="02020603050405020304" pitchFamily="18" charset="0"/>
                <a:cs typeface="Times New Roman" panose="02020603050405020304" pitchFamily="18" charset="0"/>
              </a:rPr>
              <a:t>State chambers</a:t>
            </a:r>
          </a:p>
          <a:p>
            <a:r>
              <a:rPr lang="en-US" dirty="0" smtClean="0">
                <a:latin typeface="Times New Roman" panose="02020603050405020304" pitchFamily="18" charset="0"/>
                <a:cs typeface="Times New Roman" panose="02020603050405020304" pitchFamily="18" charset="0"/>
              </a:rPr>
              <a:t>Compulsory/public law chambers</a:t>
            </a:r>
          </a:p>
          <a:p>
            <a:r>
              <a:rPr lang="en-US" dirty="0" smtClean="0">
                <a:latin typeface="Times New Roman" panose="02020603050405020304" pitchFamily="18" charset="0"/>
                <a:cs typeface="Times New Roman" panose="02020603050405020304" pitchFamily="18" charset="0"/>
              </a:rPr>
              <a:t>Continental/private law chambers</a:t>
            </a:r>
          </a:p>
          <a:p>
            <a:r>
              <a:rPr lang="en-US" dirty="0" smtClean="0">
                <a:latin typeface="Times New Roman" panose="02020603050405020304" pitchFamily="18" charset="0"/>
                <a:cs typeface="Times New Roman" panose="02020603050405020304" pitchFamily="18" charset="0"/>
              </a:rPr>
              <a:t>Multilateral chambers</a:t>
            </a:r>
          </a:p>
          <a:p>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Chamber models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5813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0"/>
            <a:ext cx="8229600" cy="3992563"/>
          </a:xfrm>
        </p:spPr>
        <p:txBody>
          <a:bodyPr>
            <a:normAutofit lnSpcReduction="10000"/>
          </a:bodyPr>
          <a:lstStyle/>
          <a:p>
            <a:r>
              <a:rPr lang="en-US" dirty="0" smtClean="0">
                <a:latin typeface="Times New Roman" panose="02020603050405020304" pitchFamily="18" charset="0"/>
                <a:cs typeface="Times New Roman" panose="02020603050405020304" pitchFamily="18" charset="0"/>
              </a:rPr>
              <a:t>Development of industry</a:t>
            </a:r>
          </a:p>
          <a:p>
            <a:r>
              <a:rPr lang="en-US" dirty="0" smtClean="0">
                <a:latin typeface="Times New Roman" panose="02020603050405020304" pitchFamily="18" charset="0"/>
                <a:cs typeface="Times New Roman" panose="02020603050405020304" pitchFamily="18" charset="0"/>
              </a:rPr>
              <a:t>Transportation of goods</a:t>
            </a:r>
          </a:p>
          <a:p>
            <a:r>
              <a:rPr lang="en-US" dirty="0" smtClean="0">
                <a:latin typeface="Times New Roman" panose="02020603050405020304" pitchFamily="18" charset="0"/>
                <a:cs typeface="Times New Roman" panose="02020603050405020304" pitchFamily="18" charset="0"/>
              </a:rPr>
              <a:t>Promoting sound infrastructure</a:t>
            </a:r>
          </a:p>
          <a:p>
            <a:r>
              <a:rPr lang="en-US" dirty="0" smtClean="0">
                <a:latin typeface="Times New Roman" panose="02020603050405020304" pitchFamily="18" charset="0"/>
                <a:cs typeface="Times New Roman" panose="02020603050405020304" pitchFamily="18" charset="0"/>
              </a:rPr>
              <a:t>Human resource development</a:t>
            </a:r>
          </a:p>
          <a:p>
            <a:r>
              <a:rPr lang="en-US" dirty="0" smtClean="0">
                <a:latin typeface="Times New Roman" panose="02020603050405020304" pitchFamily="18" charset="0"/>
                <a:cs typeface="Times New Roman" panose="02020603050405020304" pitchFamily="18" charset="0"/>
              </a:rPr>
              <a:t>Harmonization of sales tax structure</a:t>
            </a:r>
          </a:p>
          <a:p>
            <a:r>
              <a:rPr lang="en-US" dirty="0" smtClean="0">
                <a:latin typeface="Times New Roman" panose="02020603050405020304" pitchFamily="18" charset="0"/>
                <a:cs typeface="Times New Roman" panose="02020603050405020304" pitchFamily="18" charset="0"/>
              </a:rPr>
              <a:t>Providing updated information</a:t>
            </a:r>
          </a:p>
          <a:p>
            <a:r>
              <a:rPr lang="en-US" dirty="0" smtClean="0">
                <a:latin typeface="Times New Roman" panose="02020603050405020304" pitchFamily="18" charset="0"/>
                <a:cs typeface="Times New Roman" panose="02020603050405020304" pitchFamily="18" charset="0"/>
              </a:rPr>
              <a:t>Creating market</a:t>
            </a:r>
          </a:p>
          <a:p>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304800" y="685800"/>
            <a:ext cx="8382000" cy="1066800"/>
          </a:xfrm>
        </p:spPr>
        <p:txBody>
          <a:bodyPr>
            <a:normAutofit fontScale="90000"/>
          </a:bodyPr>
          <a:lstStyle/>
          <a:p>
            <a:r>
              <a:rPr lang="en-US" sz="3600" b="1" dirty="0" smtClean="0">
                <a:latin typeface="Times New Roman" panose="02020603050405020304" pitchFamily="18" charset="0"/>
                <a:cs typeface="Times New Roman" panose="02020603050405020304" pitchFamily="18" charset="0"/>
              </a:rPr>
              <a:t>Importance of Chamber of Commerce in the development of industry and commerce of the Country</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5405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95400"/>
            <a:ext cx="8686800" cy="5486400"/>
          </a:xfrm>
        </p:spPr>
        <p:txBody>
          <a:bodyPr>
            <a:noAutofit/>
          </a:bodyPr>
          <a:lstStyle/>
          <a:p>
            <a:r>
              <a:rPr lang="en-US" sz="2800" dirty="0" smtClean="0">
                <a:latin typeface="Times New Roman" panose="02020603050405020304" pitchFamily="18" charset="0"/>
                <a:cs typeface="Times New Roman" panose="02020603050405020304" pitchFamily="18" charset="0"/>
              </a:rPr>
              <a:t>Export Promotion Bureau (EPB) of Bangladesh promotes exports for the South Asian nation.</a:t>
            </a:r>
          </a:p>
          <a:p>
            <a:r>
              <a:rPr lang="en-US" sz="2800" dirty="0" smtClean="0">
                <a:latin typeface="Times New Roman" panose="02020603050405020304" pitchFamily="18" charset="0"/>
                <a:cs typeface="Times New Roman" panose="02020603050405020304" pitchFamily="18" charset="0"/>
              </a:rPr>
              <a:t>Every year EPB arranges fairs locally and internationally. Generally EPB is a National Export Promotion Agency under the ministry of commerce.  </a:t>
            </a:r>
          </a:p>
          <a:p>
            <a:r>
              <a:rPr lang="en-US" sz="2800" dirty="0" smtClean="0">
                <a:latin typeface="Times New Roman" panose="02020603050405020304" pitchFamily="18" charset="0"/>
                <a:cs typeface="Times New Roman" panose="02020603050405020304" pitchFamily="18" charset="0"/>
              </a:rPr>
              <a:t>The main function of EPB is to promote export trade and improve plan &amp; policies helpful to the private sector. </a:t>
            </a:r>
          </a:p>
          <a:p>
            <a:r>
              <a:rPr lang="en-US" sz="2800" dirty="0" smtClean="0">
                <a:latin typeface="Times New Roman" panose="02020603050405020304" pitchFamily="18" charset="0"/>
                <a:cs typeface="Times New Roman" panose="02020603050405020304" pitchFamily="18" charset="0"/>
              </a:rPr>
              <a:t>The </a:t>
            </a:r>
            <a:r>
              <a:rPr lang="en-US" sz="2800" dirty="0" smtClean="0">
                <a:latin typeface="Times New Roman" panose="02020603050405020304" pitchFamily="18" charset="0"/>
                <a:cs typeface="Times New Roman" panose="02020603050405020304" pitchFamily="18" charset="0"/>
              </a:rPr>
              <a:t>EPB </a:t>
            </a:r>
            <a:r>
              <a:rPr lang="en-US" sz="2800" dirty="0" smtClean="0">
                <a:latin typeface="Times New Roman" panose="02020603050405020304" pitchFamily="18" charset="0"/>
                <a:cs typeface="Times New Roman" panose="02020603050405020304" pitchFamily="18" charset="0"/>
              </a:rPr>
              <a:t>administered by a Board of Management (BOM) comprising members from both public &amp; private sectors where Honorable Minister for Commerce is the ex-officio Chairman and the Vice-Chairman is the chief executive of the Export Promotion Bureau. </a:t>
            </a:r>
          </a:p>
          <a:p>
            <a:endParaRPr lang="en-US"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457200" y="274638"/>
            <a:ext cx="8229600" cy="71596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Export Promotion Bureau (EPB)</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67763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76800"/>
          </a:xfrm>
        </p:spPr>
        <p:txBody>
          <a:bodyPr>
            <a:normAutofit fontScale="92500" lnSpcReduction="20000"/>
          </a:bodyPr>
          <a:lstStyle/>
          <a:p>
            <a:pPr algn="just"/>
            <a:r>
              <a:rPr lang="en-US" dirty="0" smtClean="0">
                <a:latin typeface="Times New Roman" panose="02020603050405020304" pitchFamily="18" charset="0"/>
                <a:cs typeface="Times New Roman" panose="02020603050405020304" pitchFamily="18" charset="0"/>
              </a:rPr>
              <a:t>It consists of several divisions. </a:t>
            </a:r>
          </a:p>
          <a:p>
            <a:pPr algn="just"/>
            <a:r>
              <a:rPr lang="en-US" dirty="0" smtClean="0">
                <a:latin typeface="Times New Roman" panose="02020603050405020304" pitchFamily="18" charset="0"/>
                <a:cs typeface="Times New Roman" panose="02020603050405020304" pitchFamily="18" charset="0"/>
              </a:rPr>
              <a:t>These are; policy and planning division, commodities department division, information division, fairs and display division, administration and finance division, textile division, statistics and research division, and Information and Communication Technology division. </a:t>
            </a:r>
          </a:p>
          <a:p>
            <a:pPr algn="just"/>
            <a:r>
              <a:rPr lang="en-US" dirty="0" smtClean="0">
                <a:latin typeface="Times New Roman" panose="02020603050405020304" pitchFamily="18" charset="0"/>
                <a:cs typeface="Times New Roman" panose="02020603050405020304" pitchFamily="18" charset="0"/>
              </a:rPr>
              <a:t>EPB is a semi-autonomous organization under the Ministry of Commerce of the Government of Bangladesh. </a:t>
            </a:r>
          </a:p>
          <a:p>
            <a:pPr algn="just"/>
            <a:r>
              <a:rPr lang="en-US" dirty="0" smtClean="0">
                <a:latin typeface="Times New Roman" panose="02020603050405020304" pitchFamily="18" charset="0"/>
                <a:cs typeface="Times New Roman" panose="02020603050405020304" pitchFamily="18" charset="0"/>
              </a:rPr>
              <a:t>Its main objective is to promote the export sector of the country.</a:t>
            </a:r>
          </a:p>
          <a:p>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normAutofit/>
          </a:bodyPr>
          <a:lstStyle/>
          <a:p>
            <a:r>
              <a:rPr lang="en-US" sz="3600" b="1" dirty="0" smtClean="0">
                <a:latin typeface="Times New Roman" panose="02020603050405020304" pitchFamily="18" charset="0"/>
                <a:cs typeface="Times New Roman" panose="02020603050405020304" pitchFamily="18" charset="0"/>
              </a:rPr>
              <a:t>Division of EPB</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72986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763000" cy="5638800"/>
          </a:xfrm>
        </p:spPr>
        <p:txBody>
          <a:bodyPr>
            <a:noAutofit/>
          </a:bodyPr>
          <a:lstStyle/>
          <a:p>
            <a:pPr lvl="0"/>
            <a:r>
              <a:rPr lang="en-US" sz="2800" dirty="0" smtClean="0">
                <a:latin typeface="Times New Roman" panose="02020603050405020304" pitchFamily="18" charset="0"/>
                <a:cs typeface="Times New Roman" panose="02020603050405020304" pitchFamily="18" charset="0"/>
              </a:rPr>
              <a:t>Coordinating export development efforts at different sectors and production levels;</a:t>
            </a:r>
          </a:p>
          <a:p>
            <a:pPr lvl="0"/>
            <a:r>
              <a:rPr lang="en-US" sz="2800" dirty="0" smtClean="0">
                <a:latin typeface="Times New Roman" panose="02020603050405020304" pitchFamily="18" charset="0"/>
                <a:cs typeface="Times New Roman" panose="02020603050405020304" pitchFamily="18" charset="0"/>
              </a:rPr>
              <a:t> Formulating and adopting of policy and program for active promotion of exports;</a:t>
            </a:r>
          </a:p>
          <a:p>
            <a:pPr lvl="0"/>
            <a:r>
              <a:rPr lang="en-US" sz="2800" dirty="0" smtClean="0">
                <a:latin typeface="Times New Roman" panose="02020603050405020304" pitchFamily="18" charset="0"/>
                <a:cs typeface="Times New Roman" panose="02020603050405020304" pitchFamily="18" charset="0"/>
              </a:rPr>
              <a:t> Coordinating, monitoring and evaluating national export performance and analyzing export trends;</a:t>
            </a:r>
          </a:p>
          <a:p>
            <a:pPr lvl="0"/>
            <a:r>
              <a:rPr lang="en-US" sz="2800" dirty="0" smtClean="0">
                <a:latin typeface="Times New Roman" panose="02020603050405020304" pitchFamily="18" charset="0"/>
                <a:cs typeface="Times New Roman" panose="02020603050405020304" pitchFamily="18" charset="0"/>
              </a:rPr>
              <a:t> Carrying out promotional activities in product development &amp; expansion of supply side capacity ;</a:t>
            </a:r>
          </a:p>
          <a:p>
            <a:pPr lvl="0"/>
            <a:r>
              <a:rPr lang="en-US" sz="2800" dirty="0" smtClean="0">
                <a:latin typeface="Times New Roman" panose="02020603050405020304" pitchFamily="18" charset="0"/>
                <a:cs typeface="Times New Roman" panose="02020603050405020304" pitchFamily="18" charset="0"/>
              </a:rPr>
              <a:t>Collecting and disseminating trade information to the stakeholders; Organizing participation in international trade fairs abroad;</a:t>
            </a:r>
          </a:p>
          <a:p>
            <a:pPr lvl="0"/>
            <a:r>
              <a:rPr lang="en-US" sz="2800" dirty="0" smtClean="0">
                <a:latin typeface="Times New Roman" panose="02020603050405020304" pitchFamily="18" charset="0"/>
                <a:cs typeface="Times New Roman" panose="02020603050405020304" pitchFamily="18" charset="0"/>
              </a:rPr>
              <a:t>Imparting training for HRD ;</a:t>
            </a:r>
          </a:p>
          <a:p>
            <a:endParaRPr lang="en-US"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457200" y="274638"/>
            <a:ext cx="8229600" cy="944562"/>
          </a:xfrm>
        </p:spPr>
        <p:txBody>
          <a:bodyPr>
            <a:normAutofit/>
          </a:bodyPr>
          <a:lstStyle/>
          <a:p>
            <a:r>
              <a:rPr lang="en-US" sz="3600" b="1" dirty="0" smtClean="0">
                <a:latin typeface="Times New Roman" panose="02020603050405020304" pitchFamily="18" charset="0"/>
                <a:cs typeface="Times New Roman" panose="02020603050405020304" pitchFamily="18" charset="0"/>
              </a:rPr>
              <a:t>EPB’s duties and responsibilities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16341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aim is to help incoming &amp; outgoing ships to unload goods brought, in load goods export, at ease &amp; within minimum time. </a:t>
            </a:r>
          </a:p>
          <a:p>
            <a:r>
              <a:rPr lang="en-US" dirty="0" smtClean="0">
                <a:latin typeface="Times New Roman" panose="02020603050405020304" pitchFamily="18" charset="0"/>
                <a:cs typeface="Times New Roman" panose="02020603050405020304" pitchFamily="18" charset="0"/>
              </a:rPr>
              <a:t>To this end port authority needs to be alert all the time-day &amp; night &amp; arrange all possible facilities in one hand, prevent unlawful activities on other hand.</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normAutofit/>
          </a:bodyPr>
          <a:lstStyle/>
          <a:p>
            <a:r>
              <a:rPr lang="en-US" sz="3600" b="1" dirty="0" smtClean="0">
                <a:latin typeface="Times New Roman" panose="02020603050405020304" pitchFamily="18" charset="0"/>
                <a:cs typeface="Times New Roman" panose="02020603050405020304" pitchFamily="18" charset="0"/>
              </a:rPr>
              <a:t>Port Authority</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72161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result for images of facilitating agencies of Business"/>
          <p:cNvPicPr/>
          <p:nvPr/>
        </p:nvPicPr>
        <p:blipFill>
          <a:blip r:embed="rId2" cstate="print"/>
          <a:srcRect/>
          <a:stretch>
            <a:fillRect/>
          </a:stretch>
        </p:blipFill>
        <p:spPr bwMode="auto">
          <a:xfrm>
            <a:off x="1066800" y="990600"/>
            <a:ext cx="7239000" cy="4876799"/>
          </a:xfrm>
          <a:prstGeom prst="rect">
            <a:avLst/>
          </a:prstGeom>
          <a:noFill/>
          <a:ln w="9525">
            <a:noFill/>
            <a:miter lim="800000"/>
            <a:headEnd/>
            <a:tailEnd/>
          </a:ln>
        </p:spPr>
      </p:pic>
    </p:spTree>
    <p:extLst>
      <p:ext uri="{BB962C8B-B14F-4D97-AF65-F5344CB8AC3E}">
        <p14:creationId xmlns:p14="http://schemas.microsoft.com/office/powerpoint/2010/main" val="29627442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839200" cy="5638800"/>
          </a:xfrm>
        </p:spPr>
        <p:txBody>
          <a:bodyPr>
            <a:noAutofit/>
          </a:bodyPr>
          <a:lstStyle/>
          <a:p>
            <a:r>
              <a:rPr lang="en-US" dirty="0" smtClean="0">
                <a:latin typeface="Times New Roman" panose="02020603050405020304" pitchFamily="18" charset="0"/>
                <a:cs typeface="Times New Roman" panose="02020603050405020304" pitchFamily="18" charset="0"/>
              </a:rPr>
              <a:t>Sea port authority needs to undertake following activities to facilitate foreign trade of a country.</a:t>
            </a:r>
          </a:p>
          <a:p>
            <a:pPr lvl="0"/>
            <a:r>
              <a:rPr lang="en-US" dirty="0" smtClean="0">
                <a:latin typeface="Times New Roman" panose="02020603050405020304" pitchFamily="18" charset="0"/>
                <a:cs typeface="Times New Roman" panose="02020603050405020304" pitchFamily="18" charset="0"/>
              </a:rPr>
              <a:t>Ensure efficient jetty management.</a:t>
            </a:r>
          </a:p>
          <a:p>
            <a:pPr lvl="0"/>
            <a:r>
              <a:rPr lang="en-US" dirty="0" smtClean="0">
                <a:latin typeface="Times New Roman" panose="02020603050405020304" pitchFamily="18" charset="0"/>
                <a:cs typeface="Times New Roman" panose="02020603050405020304" pitchFamily="18" charset="0"/>
              </a:rPr>
              <a:t>Provide for easy incoming &amp; outgoing of ships.</a:t>
            </a:r>
          </a:p>
          <a:p>
            <a:pPr lvl="0"/>
            <a:r>
              <a:rPr lang="en-US" dirty="0" smtClean="0">
                <a:latin typeface="Times New Roman" panose="02020603050405020304" pitchFamily="18" charset="0"/>
                <a:cs typeface="Times New Roman" panose="02020603050405020304" pitchFamily="18" charset="0"/>
              </a:rPr>
              <a:t>Attempt to minimize time for loading &amp; unloading of goods in a ship.</a:t>
            </a:r>
          </a:p>
          <a:p>
            <a:pPr lvl="0"/>
            <a:r>
              <a:rPr lang="en-US" dirty="0" smtClean="0">
                <a:latin typeface="Times New Roman" panose="02020603050405020304" pitchFamily="18" charset="0"/>
                <a:cs typeface="Times New Roman" panose="02020603050405020304" pitchFamily="18" charset="0"/>
              </a:rPr>
              <a:t>Minimize breathing time</a:t>
            </a:r>
          </a:p>
        </p:txBody>
      </p:sp>
      <p:sp>
        <p:nvSpPr>
          <p:cNvPr id="2" name="Title 1"/>
          <p:cNvSpPr>
            <a:spLocks noGrp="1"/>
          </p:cNvSpPr>
          <p:nvPr>
            <p:ph type="title"/>
          </p:nvPr>
        </p:nvSpPr>
        <p:spPr>
          <a:xfrm>
            <a:off x="457200" y="152400"/>
            <a:ext cx="8229600" cy="792162"/>
          </a:xfrm>
        </p:spPr>
        <p:txBody>
          <a:bodyPr>
            <a:normAutofit/>
          </a:bodyPr>
          <a:lstStyle/>
          <a:p>
            <a:r>
              <a:rPr lang="en-US" sz="3600" b="1" dirty="0" smtClean="0">
                <a:latin typeface="Times New Roman" panose="02020603050405020304" pitchFamily="18" charset="0"/>
                <a:cs typeface="Times New Roman" panose="02020603050405020304" pitchFamily="18" charset="0"/>
              </a:rPr>
              <a:t>Function of sea port authority</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85113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839200" cy="5638800"/>
          </a:xfrm>
        </p:spPr>
        <p:txBody>
          <a:bodyPr>
            <a:noAutofit/>
          </a:bodyPr>
          <a:lstStyle/>
          <a:p>
            <a:pPr lvl="0"/>
            <a:r>
              <a:rPr lang="en-US" dirty="0" smtClean="0">
                <a:latin typeface="Times New Roman" panose="02020603050405020304" pitchFamily="18" charset="0"/>
                <a:cs typeface="Times New Roman" panose="02020603050405020304" pitchFamily="18" charset="0"/>
              </a:rPr>
              <a:t>Help to custom authority to conduct inspection &amp; when necessary.</a:t>
            </a:r>
          </a:p>
          <a:p>
            <a:pPr lvl="0"/>
            <a:r>
              <a:rPr lang="en-US" dirty="0" smtClean="0">
                <a:latin typeface="Times New Roman" panose="02020603050405020304" pitchFamily="18" charset="0"/>
                <a:cs typeface="Times New Roman" panose="02020603050405020304" pitchFamily="18" charset="0"/>
              </a:rPr>
              <a:t>Frame rules &amp; regulations to ensure efficient management &amp; ensure operation of relevant government acts in their proper implementation.</a:t>
            </a:r>
          </a:p>
          <a:p>
            <a:pPr lvl="0"/>
            <a:r>
              <a:rPr lang="en-US" dirty="0" smtClean="0">
                <a:latin typeface="Times New Roman" panose="02020603050405020304" pitchFamily="18" charset="0"/>
                <a:cs typeface="Times New Roman" panose="02020603050405020304" pitchFamily="18" charset="0"/>
              </a:rPr>
              <a:t>Arranging go down &amp; other space for goods imported &amp; exported.</a:t>
            </a:r>
          </a:p>
          <a:p>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457200" y="152400"/>
            <a:ext cx="8229600" cy="792162"/>
          </a:xfrm>
        </p:spPr>
        <p:txBody>
          <a:bodyPr>
            <a:normAutofit/>
          </a:bodyPr>
          <a:lstStyle/>
          <a:p>
            <a:r>
              <a:rPr lang="en-US" sz="3600" b="1" dirty="0" smtClean="0">
                <a:latin typeface="Times New Roman" panose="02020603050405020304" pitchFamily="18" charset="0"/>
                <a:cs typeface="Times New Roman" panose="02020603050405020304" pitchFamily="18" charset="0"/>
              </a:rPr>
              <a:t>Function of sea port authority</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776949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BEPZA</a:t>
            </a:r>
            <a:endParaRPr lang="en-US"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lum contrast="20000"/>
          </a:blip>
          <a:srcRect/>
          <a:stretch>
            <a:fillRect/>
          </a:stretch>
        </p:blipFill>
        <p:spPr bwMode="auto">
          <a:xfrm>
            <a:off x="2362200" y="990600"/>
            <a:ext cx="4800600" cy="5867400"/>
          </a:xfrm>
          <a:prstGeom prst="rect">
            <a:avLst/>
          </a:prstGeom>
          <a:noFill/>
        </p:spPr>
      </p:pic>
    </p:spTree>
    <p:extLst>
      <p:ext uri="{BB962C8B-B14F-4D97-AF65-F5344CB8AC3E}">
        <p14:creationId xmlns:p14="http://schemas.microsoft.com/office/powerpoint/2010/main" val="28892444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anose="02020603050405020304" pitchFamily="18" charset="0"/>
                <a:cs typeface="Times New Roman" panose="02020603050405020304" pitchFamily="18" charset="0"/>
              </a:rPr>
              <a:t>Thanks!</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Question?</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stretch>
            <a:fillRect/>
          </a:stretch>
        </p:blipFill>
        <p:spPr>
          <a:xfrm>
            <a:off x="1676400" y="3810000"/>
            <a:ext cx="2743200" cy="220980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2769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1265</Words>
  <Application>Microsoft Office PowerPoint</Application>
  <PresentationFormat>On-screen Show (4:3)</PresentationFormat>
  <Paragraphs>113</Paragraphs>
  <Slides>48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Times New Roman</vt:lpstr>
      <vt:lpstr>Office Theme</vt:lpstr>
      <vt:lpstr>Trade practices and facilitating agencies in Bangladesh</vt:lpstr>
      <vt:lpstr>Trade policy:  The regulations and policies that determine how a country conducts trade with other countries is called trade policy.   It includes use of tariffs and other trade barriers. Trade policy can involve various complex types of actions , such as the elimination of quantitative restrictions or the reduction of tariffs.  </vt:lpstr>
      <vt:lpstr>Objectives of trade policy  1. To appreciate trade with other nations 2. To protect domestic market prevailing in the country.  3. To increase the export of particular product 4. To prevent the imports of particular goods  to safe the domestic industries 5. To encourage the imports of capital goods for speeding up the economic development 6. To restrict the imports of goods which create unfavorable balance of payment.  7. To enter into trade agreements with foreign nations for stabilizing the foreign trade. </vt:lpstr>
      <vt:lpstr>Trade policy management in Bangladesh  Trade policy regime in Bangladesh has five aspects.  1. General institutional and legal framework 2. Formulation and administration of trade policy 3. Trade policy implications 4. Trade agreements and arrangements 5. Foreign investment regime.  </vt:lpstr>
      <vt:lpstr>General institutional and legal framework:  All laws related to trade passed through parliament. Different governmental ,  semi-governmental and non governmental organizations ( EPB, Ministry of commerce, Chamber houses) assist government to determine new laws, modify present laws.  </vt:lpstr>
      <vt:lpstr>Formulation and administration of trade policy  1. Ministry of commerce and ministry of finance are the key players for formulating and implementing trade and trade related policies. Bangladesh tariff commission, the export promotion bureau, the office of the chief of imports and exports assist the ministry for formulating trade policies.  2. Ministry of finance makes the final decisions regarding tariffs through the national board of revenue ( NRB).  </vt:lpstr>
      <vt:lpstr>3. A number of other ministries and agencies are involved in the process of formulating and implementing trade and trade related policies. Under the ministry of industries, BSTI work for determining Bangladesh standard, Department of patent designs and trademarks deals with patents.  As well as, privatization commission, the board of investment, BEPZA , PPP office also assists for policy formulation.   </vt:lpstr>
      <vt:lpstr>4. In the area of services, Bangladesh Bank play a key role in typical monetary and financial sector regulation. The securities and exchange commission exercises regulatory and supervisory functions over stock exchanges and merchant banks.   Other ministries , like ministry of post and telecommunications, the ministry of civil aviation and tourism, the ministry of shipping and the ministry of communication for road and rail transport also play the  vital roles.  </vt:lpstr>
      <vt:lpstr>5. Some policy consultative bodies like import advisory committee and the export promotion council, the national committee on export and the national council for industrial development effectively participate in policy formulation.  6. The private sector also participate in policy formulation through advisory bodies. BGMEA, BKMEA, the federation of Bangladesh chambers of commerce and industry are key role players. </vt:lpstr>
      <vt:lpstr>Main legislation relating to trade and trade related activities 1. Customs Act, 1969 2. Import and export (Control) Act 1950 3. Exporters and indenters (registration) order 1981 4. BSTI act 1986 5. Food safety ordinance 1994 6. Fish feed and animal feed act 2010 and fish hatchery act 2010 7. Animal slaughter and meat quality control act 2011 8. Public procurement act 2006 and public procurement regulations 2008 9. Competition law 2012 10. Bangladesh economic zones act 2010 11. National ICT act 2009 12. Foreign investment (promotion and protection) act 1980 13. Bangladesh export processing zones authority act 1980 14. Banking companies act 1991 15. Money laundering prevention act 2012 16. Securities and exchange commission rules 2006 17. Insurance act 1887 18. Telecommunication regulation act no 18, 2001 19. Merchant shipping ordinance, 1993.  20. Bangladesh tourism board act 2010. </vt:lpstr>
      <vt:lpstr>Trade agreement and arrangement:  Bangladesh successfully negotiated regional trade and economic agreements. Such as:  1. The south Asian free trade area ( SAFTA) 2. The Asia pacific trade agreement (APTA) 3. The bay of Bengal initiative for multi-sectoral , technical and economical cooperation (BIMSTEC).  4. Bangladesh is member of WTO.  5. Bangladesh has bilateral trade agreements with 43 countries, namely: Albania, Algeria, Hungary, India, Indonesia, Iran, Iraq, Kenya, South Korea, Kuwait, Libya, Malaysia, Mali, Morocco, Myanmar, Nepal, Pakistan, Poland, Romania, Senegal, Sri Lanka, Sudan, etc. </vt:lpstr>
      <vt:lpstr>Industrial policy (2022):   To achieve the balance development through economical , social and environmental protection government developed the industrial policy 2022. In this policy the government emphasize small and medium sized industry development. Beside this, large scale industry and selected service sectors also given importance.  </vt:lpstr>
      <vt:lpstr>The goal of industrial policy 2022:   1. Improve the socio-economical condition of the people by achieving industrial growth through sustainable and environmental industrialization. .  2. Increase the national contribution of industrial sector 40% within 2027 by skill manpower, productivity and employment to achieve the vision of 2041 of the government.  3. Increase the capability of both government and private sector to achieve the long term growth of industrialization by adapting technological changes in 4th industrial revolution.  4. Collect sustainable and develop technology and develop the existing technology for building strong base for light engineering industry.   </vt:lpstr>
      <vt:lpstr>Objectives of industrial policy:  1. Create more entrepreneurs by protecting , developing and enhancing local industries, give more motivation for developing new innovative technology by research and give them patent.    2. Create the favorable industrial environment for developing small, medium and cottage industries as main stream industrial development. </vt:lpstr>
      <vt:lpstr>3. Establishment of export oriented and  diversified industries by inspiring development of backward linkage industries.  4. Create the environment for high technological heavy industries by developing forward and backward industries for light and heavy industries.   5. Accelerate local and foreign investment by the more development of investment environment.   6. Assist and encourage for sustainable (environmental protective) industrialization.  </vt:lpstr>
      <vt:lpstr> 7. Specialized industrialization through proper utilization of area based agricultural, forestry, animal, natural and sea resources.   8. Increasing the opportunities for women entrepreneurs.  9. Provide legal and infrastructural facilities for encouraging foreign investment side by side local investment.   </vt:lpstr>
      <vt:lpstr>10. Protect human health and interest developing and controlling the quality of industrial products.  11. Increase the productivity of industrial product and increase the ability for local and international commercialization.    12. To ensure the supply of skill manpower that incorporate with market demand and changing technology under 4th industrial revaluation, provide assistance and coordinate education and training programs of public and private sector.    </vt:lpstr>
      <vt:lpstr>Competition Act:   In Bangladesh, the Competition Act was enacted in 2012 with the subsequent establishment of the Bangladesh Competition Commission (BCC).  Competition law, also known as anti-trust law, is the set of legislations which promote and maintain market competition by regulating anti-competitive behavior and arrangements among the companies in a particular economy.  Evaly case   </vt:lpstr>
      <vt:lpstr>Competition law aims to control mainly three types of situations in an economy:  1. Anticompetitive agreements and natural monopoly: Where two or more firms agree among themselves to fix prices, limit production, divide markets geographically, or rig bids when tendering for government contracts. 2. Abuses of dominance or exclusionary behavior: Where one firm is so powerful that it can act without thinking about its competitors. Abuses of dominance or exclusionary behavior can include predatory pricing, i.e. pricing below cost to drive competitors out of a market and then raising prices once they are gone. 3. Merger-control regulation: Where firms that want to merge are reviewed to ensure that their deal is not likely to reduce competition significantly, which may lead to abusive behavior. </vt:lpstr>
      <vt:lpstr>Facilitating Agencies of Business </vt:lpstr>
      <vt:lpstr>PowerPoint Presentation</vt:lpstr>
      <vt:lpstr>Required services to establish a Business  A. Stimulative support B. Endorsive support C. Protective support</vt:lpstr>
      <vt:lpstr>Stimulative support: </vt:lpstr>
      <vt:lpstr>Endorsive support:  </vt:lpstr>
      <vt:lpstr>Protective support: </vt:lpstr>
      <vt:lpstr>Support services of government institutions:</vt:lpstr>
      <vt:lpstr>Government provides institutional and non institutional facilities for business development, such as:   A. Industrial and investment policy – Now national industrial policy 2022 is working.  B. Government encouragement to establish industries. Government emphasize balance industrial development. Giving facilities on the basis of area:    a. Developed area    b. Least develop area    c. Under-develop area</vt:lpstr>
      <vt:lpstr>C. Revenue privileges to  encourage business:  i. Tax holiday ii. Opportunity for determining higher rate for depreciation – 80% in first year and 20% in the next year iii. Investment allowance – 20% of actual cost of machinery and plant will be given. 25% for least developed area.  iv. Loss transfer v. Tax free area vi. Exemption from dual tax  </vt:lpstr>
      <vt:lpstr>D. Financing of business        Government ensure the local and foreign currency loan through different institutions.   E. Institutions assisting industrialization:  i. Investment corporation of Bangladesh ii. Commercial Banks iii. Controller of import and export iv. Bangladesh handloom products export corporation v. Bangladesh industrial technical assistance corporation vi. Bangladesh standard and testing institute vii. Bangladesh council for scientific and industrial research (BCSIR). </vt:lpstr>
      <vt:lpstr>Clearing and Forwarding (C&amp;F) Agency </vt:lpstr>
      <vt:lpstr>PowerPoint Presentation</vt:lpstr>
      <vt:lpstr>Facilities Provided by C&amp;F Agents</vt:lpstr>
      <vt:lpstr>Customs and Excise</vt:lpstr>
      <vt:lpstr>Custom Authority</vt:lpstr>
      <vt:lpstr>Objectives</vt:lpstr>
      <vt:lpstr>Customs</vt:lpstr>
      <vt:lpstr>Chamber of commerce and Industries</vt:lpstr>
      <vt:lpstr>Chamber models</vt:lpstr>
      <vt:lpstr>Importance of Chamber of Commerce in the development of industry and commerce of the Country </vt:lpstr>
      <vt:lpstr>Export Promotion Bureau (EPB)</vt:lpstr>
      <vt:lpstr>Division of EPB</vt:lpstr>
      <vt:lpstr>EPB’s duties and responsibilities</vt:lpstr>
      <vt:lpstr>Port Authority</vt:lpstr>
      <vt:lpstr>PowerPoint Presentation</vt:lpstr>
      <vt:lpstr>Function of sea port authority</vt:lpstr>
      <vt:lpstr>Function of sea port authority</vt:lpstr>
      <vt:lpstr>BEPZA</vt:lpstr>
      <vt:lpstr>Thanks!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 practices in Bangladesh </dc:title>
  <dc:creator>MD.HARISUR RAHMAN</dc:creator>
  <cp:lastModifiedBy>Ramisa Nafisa CU</cp:lastModifiedBy>
  <cp:revision>57</cp:revision>
  <dcterms:created xsi:type="dcterms:W3CDTF">2006-08-16T00:00:00Z</dcterms:created>
  <dcterms:modified xsi:type="dcterms:W3CDTF">2023-04-01T05:19:53Z</dcterms:modified>
</cp:coreProperties>
</file>