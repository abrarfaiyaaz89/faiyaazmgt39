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2"/>
  </p:notesMasterIdLst>
  <p:sldIdLst>
    <p:sldId id="256" r:id="rId2"/>
    <p:sldId id="279" r:id="rId3"/>
    <p:sldId id="258" r:id="rId4"/>
    <p:sldId id="260" r:id="rId5"/>
    <p:sldId id="261" r:id="rId6"/>
    <p:sldId id="262" r:id="rId7"/>
    <p:sldId id="287" r:id="rId8"/>
    <p:sldId id="263" r:id="rId9"/>
    <p:sldId id="277" r:id="rId10"/>
    <p:sldId id="265" r:id="rId11"/>
    <p:sldId id="266" r:id="rId12"/>
    <p:sldId id="267" r:id="rId13"/>
    <p:sldId id="288" r:id="rId14"/>
    <p:sldId id="268" r:id="rId15"/>
    <p:sldId id="26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70" r:id="rId24"/>
    <p:sldId id="271" r:id="rId25"/>
    <p:sldId id="272" r:id="rId26"/>
    <p:sldId id="273" r:id="rId27"/>
    <p:sldId id="274" r:id="rId28"/>
    <p:sldId id="275" r:id="rId29"/>
    <p:sldId id="278" r:id="rId30"/>
    <p:sldId id="276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603A4-B467-4622-B541-E88EF599A17A}" type="datetimeFigureOut">
              <a:rPr lang="en-US" smtClean="0"/>
              <a:pPr/>
              <a:t>4/5/2022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8AEB4-4998-4C1C-AC3E-C087D09478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63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32849-8CA1-4C72-8E75-EF032A00187E}" type="datetime1">
              <a:rPr lang="en-US" smtClean="0"/>
              <a:pPr/>
              <a:t>4/5/2022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Zia                                                            Finance, CU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6F00E-2407-404B-B81D-3873426285D7}" type="datetime1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Zia                                                            Finance, 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AA73D-FDB5-4D70-9C8F-FF1ACB9A7E52}" type="datetime1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Zia                                                            Finance, 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D25DB-C75B-43F5-AA84-88EC86795FFC}" type="datetime1">
              <a:rPr lang="en-US" smtClean="0"/>
              <a:pPr/>
              <a:t>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Zia                                                            Finance, CU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9E3D9-784B-44B7-AA96-99DC69378E06}" type="datetime1">
              <a:rPr lang="en-US" smtClean="0"/>
              <a:pPr/>
              <a:t>4/5/2022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Zia                                                            Finance, CU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D6B53-4331-4DB3-8711-0D993E9C0AE9}" type="datetime1">
              <a:rPr lang="en-US" smtClean="0"/>
              <a:pPr/>
              <a:t>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Zia                                                            Finance, CU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A170B-60DC-41E2-BF3A-8C5D233546CF}" type="datetime1">
              <a:rPr lang="en-US" smtClean="0"/>
              <a:pPr/>
              <a:t>4/5/2022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Zia                                                            Finance, CU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1B62D-2D16-40B2-9383-C613E84FE497}" type="datetime1">
              <a:rPr lang="en-US" smtClean="0"/>
              <a:pPr/>
              <a:t>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Zia                                                            Finance, CU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1C58B-37C6-481B-B178-AE8BD720E2A5}" type="datetime1">
              <a:rPr lang="en-US" smtClean="0"/>
              <a:pPr/>
              <a:t>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Zia                                                            Finance, CU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66E99-57E7-4A6E-B67F-246CE4001BD7}" type="datetime1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Zia                                                            Finance, 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EB755-48ED-443A-99B9-71DB380B2B49}" type="datetime1">
              <a:rPr lang="en-US" smtClean="0"/>
              <a:pPr/>
              <a:t>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Zia                                                            Finance, CU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1E73A68-8C5E-4A09-B950-C9D226F3C86D}" type="datetime1">
              <a:rPr lang="en-US" smtClean="0"/>
              <a:pPr/>
              <a:t>4/5/2022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 smtClean="0"/>
              <a:t>Zia                                                            Finance, CU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03</a:t>
            </a:r>
            <a:br>
              <a:rPr lang="en-US" dirty="0" smtClean="0"/>
            </a:br>
            <a:r>
              <a:rPr lang="en-US" dirty="0" smtClean="0"/>
              <a:t>Introduction to Business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Business Ownership</a:t>
            </a:r>
            <a:endParaRPr lang="en-US" dirty="0"/>
          </a:p>
        </p:txBody>
      </p:sp>
      <p:pic>
        <p:nvPicPr>
          <p:cNvPr id="21506" name="Picture 2" descr="Image result for images of business ownershi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47924" y="3368675"/>
            <a:ext cx="2857500" cy="28194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508" name="Picture 4" descr="Related imag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0" y="228600"/>
            <a:ext cx="2260600" cy="1371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510" name="Picture 6" descr="Image result for images of business ownership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67275" y="3603251"/>
            <a:ext cx="2305049" cy="25146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512" name="Picture 8" descr="Image result for images of business ownership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095460" y="3836522"/>
            <a:ext cx="2133600" cy="2209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8101" y="3250470"/>
            <a:ext cx="3124200" cy="338190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Learning 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After studying this lesson, students will be able to know:</a:t>
            </a:r>
          </a:p>
          <a:p>
            <a:pPr lvl="0"/>
            <a:r>
              <a:rPr lang="en-US" dirty="0" smtClean="0"/>
              <a:t>Different forms of Business Ownership and identify the distinguishing characteristics of each form. </a:t>
            </a:r>
          </a:p>
          <a:p>
            <a:pPr lvl="0"/>
            <a:r>
              <a:rPr lang="en-US" dirty="0" smtClean="0"/>
              <a:t>Describe the major advantages and disadvantages of each form of Business and factors to be considered in selecting specific forms.</a:t>
            </a:r>
          </a:p>
          <a:p>
            <a:pPr lvl="0"/>
            <a:r>
              <a:rPr lang="en-US" dirty="0" smtClean="0"/>
              <a:t>Steps to develop business organization that must be conducted.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Meaning of business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Business organization is an act of grouping activities into effective co-operation for specific objective. 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It is primarily concerned with the creation and distribution of utilities for earning profit.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There are several ways that a business can be organized to define its structure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a business organization</a:t>
            </a:r>
            <a:b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3276600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Collection of different elements and allocate duties</a:t>
            </a:r>
          </a:p>
          <a:p>
            <a:pPr lvl="0"/>
            <a:r>
              <a:rPr lang="en-US" dirty="0" smtClean="0"/>
              <a:t>Coordinate the factors of production</a:t>
            </a:r>
          </a:p>
          <a:p>
            <a:pPr lvl="0"/>
            <a:r>
              <a:rPr lang="en-US" dirty="0" smtClean="0"/>
              <a:t>It contains organizations’ nature</a:t>
            </a:r>
          </a:p>
          <a:p>
            <a:pPr lvl="0"/>
            <a:r>
              <a:rPr lang="en-US" dirty="0" smtClean="0"/>
              <a:t>Widen scope</a:t>
            </a:r>
          </a:p>
          <a:p>
            <a:pPr lvl="0"/>
            <a:r>
              <a:rPr lang="en-US" dirty="0" smtClean="0"/>
              <a:t>It depends on business methods.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Nature of Business Organizations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 smtClean="0"/>
              <a:t>Individual or Micro Business Organization: </a:t>
            </a:r>
            <a:r>
              <a:rPr lang="en-US" dirty="0" smtClean="0"/>
              <a:t>It includes all sole </a:t>
            </a:r>
            <a:r>
              <a:rPr lang="en-US" dirty="0" err="1" smtClean="0"/>
              <a:t>tradership</a:t>
            </a:r>
            <a:r>
              <a:rPr lang="en-US" dirty="0" smtClean="0"/>
              <a:t> and direct service related business because their appeal and scope of operations are very limited.</a:t>
            </a:r>
          </a:p>
          <a:p>
            <a:pPr lvl="0">
              <a:buNone/>
            </a:pPr>
            <a:endParaRPr lang="en-US" dirty="0" smtClean="0"/>
          </a:p>
          <a:p>
            <a:pPr lvl="0"/>
            <a:r>
              <a:rPr lang="en-US" b="1" dirty="0" smtClean="0"/>
              <a:t>Universal or Macro Business Organization: On the other hand Partnersh</a:t>
            </a:r>
            <a:r>
              <a:rPr lang="en-US" dirty="0" smtClean="0"/>
              <a:t>ip, Joint Stock Limited Company, State owned enterprises and Cooperative Business are universal in nature. They derive from legal aspect and collectively managed.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Forms and structures of Business ownership</a:t>
            </a:r>
            <a:endParaRPr lang="en-US" dirty="0"/>
          </a:p>
        </p:txBody>
      </p:sp>
      <p:pic>
        <p:nvPicPr>
          <p:cNvPr id="4" name="Picture 3" descr="Image result for images of business organisations"/>
          <p:cNvPicPr/>
          <p:nvPr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457200" y="1828800"/>
            <a:ext cx="8305800" cy="457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 result for images of types of business"/>
          <p:cNvPicPr/>
          <p:nvPr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914400" y="990600"/>
            <a:ext cx="7239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25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 smtClean="0"/>
              <a:t>Different forms of business ownership</a:t>
            </a:r>
            <a:br>
              <a:rPr lang="en-US" sz="4000" b="1" dirty="0" smtClean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 smtClean="0"/>
              <a:t>Sole Proprietorship</a:t>
            </a:r>
          </a:p>
          <a:p>
            <a:pPr lvl="0"/>
            <a:r>
              <a:rPr lang="en-US" dirty="0" smtClean="0"/>
              <a:t>Partnership</a:t>
            </a:r>
          </a:p>
          <a:p>
            <a:pPr lvl="0"/>
            <a:r>
              <a:rPr lang="en-US" dirty="0" smtClean="0"/>
              <a:t>Company</a:t>
            </a:r>
          </a:p>
          <a:p>
            <a:pPr lvl="0"/>
            <a:r>
              <a:rPr lang="en-US" dirty="0" smtClean="0"/>
              <a:t>Cooperative</a:t>
            </a:r>
          </a:p>
          <a:p>
            <a:pPr lvl="0"/>
            <a:r>
              <a:rPr lang="en-US" dirty="0" smtClean="0"/>
              <a:t>State Enterprise</a:t>
            </a:r>
          </a:p>
          <a:p>
            <a:pPr lvl="0"/>
            <a:r>
              <a:rPr lang="en-US" dirty="0" smtClean="0"/>
              <a:t>Joint Venture</a:t>
            </a:r>
          </a:p>
          <a:p>
            <a:pPr lvl="0"/>
            <a:r>
              <a:rPr lang="en-US" dirty="0" smtClean="0"/>
              <a:t>Business Combination</a:t>
            </a:r>
          </a:p>
          <a:p>
            <a:pPr lvl="0"/>
            <a:r>
              <a:rPr lang="en-US" dirty="0" smtClean="0"/>
              <a:t>Global business</a:t>
            </a:r>
          </a:p>
          <a:p>
            <a:pPr lvl="0"/>
            <a:r>
              <a:rPr lang="en-US" dirty="0" smtClean="0"/>
              <a:t>Franchise </a:t>
            </a:r>
          </a:p>
          <a:p>
            <a:pPr lvl="0"/>
            <a:r>
              <a:rPr lang="en-US" dirty="0" smtClean="0"/>
              <a:t>Trust</a:t>
            </a:r>
          </a:p>
          <a:p>
            <a:pPr lvl="0"/>
            <a:r>
              <a:rPr lang="en-US" dirty="0" smtClean="0"/>
              <a:t>Licensing</a:t>
            </a:r>
          </a:p>
        </p:txBody>
      </p:sp>
      <p:pic>
        <p:nvPicPr>
          <p:cNvPr id="14338" name="Picture 2" descr="Image result for images of business ownershi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1000" y="2057400"/>
            <a:ext cx="4724400" cy="3810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Image result for images of business ownershi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447800"/>
            <a:ext cx="7924800" cy="4648200"/>
          </a:xfrm>
          <a:prstGeom prst="rect">
            <a:avLst/>
          </a:prstGeom>
          <a:noFill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Different forms of business </a:t>
            </a:r>
            <a:r>
              <a:rPr lang="en-US" sz="4000" dirty="0" smtClean="0"/>
              <a:t>ownership</a:t>
            </a:r>
            <a:br>
              <a:rPr lang="en-US" sz="4000" dirty="0" smtClean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Sole Proprietorship</a:t>
            </a:r>
            <a:r>
              <a:rPr lang="en-US" dirty="0" smtClean="0"/>
              <a:t>: A sole trader ship business is profit owned and operated by an individual acting as the sole owner. </a:t>
            </a:r>
          </a:p>
          <a:p>
            <a:r>
              <a:rPr lang="en-US" dirty="0" smtClean="0"/>
              <a:t>It can be formed anywhere with an optimum capital. It’s easy in those firm where prompt action, nondurable product i.e.; agriculture, secrecy can be maintained. </a:t>
            </a:r>
          </a:p>
          <a:p>
            <a:r>
              <a:rPr lang="en-US" dirty="0" smtClean="0"/>
              <a:t>For small firm sole trader ship is suitable. Example: Parlor, Saloon, Grocery shop etc.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Different forms of business </a:t>
            </a:r>
            <a:r>
              <a:rPr lang="en-US" sz="4000" dirty="0" smtClean="0"/>
              <a:t>ownership</a:t>
            </a:r>
            <a:br>
              <a:rPr lang="en-US" sz="4000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Partnership Business Organization</a:t>
            </a:r>
            <a:r>
              <a:rPr lang="en-US" dirty="0" smtClean="0"/>
              <a:t>: </a:t>
            </a:r>
          </a:p>
          <a:p>
            <a:r>
              <a:rPr lang="en-US" dirty="0" smtClean="0"/>
              <a:t>A general partnership is an association of two or more persons to carry on a business for profit as co-owners and is characterized by a community of interest in a particular business and a sharing of profits. </a:t>
            </a:r>
          </a:p>
          <a:p>
            <a:r>
              <a:rPr lang="en-US" dirty="0" smtClean="0"/>
              <a:t>Partnership business is suitable where larger capital, a number of employees, efficient innovative entrepreneurs required than sole trader ship. </a:t>
            </a:r>
          </a:p>
          <a:p>
            <a:r>
              <a:rPr lang="en-US" dirty="0" smtClean="0"/>
              <a:t>Partnership is suitable for export import business, wholesale, super mall (retailer).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Different forms of business </a:t>
            </a:r>
            <a:r>
              <a:rPr lang="en-US" sz="4000" dirty="0" smtClean="0"/>
              <a:t>ownership</a:t>
            </a:r>
            <a:br>
              <a:rPr lang="en-US" sz="4000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Company Organization: </a:t>
            </a:r>
          </a:p>
          <a:p>
            <a:endParaRPr lang="en-US" b="1" dirty="0" smtClean="0"/>
          </a:p>
          <a:p>
            <a:r>
              <a:rPr lang="en-US" dirty="0" smtClean="0"/>
              <a:t>Company required more capital, more risk, a number of director than partnership business. </a:t>
            </a:r>
          </a:p>
          <a:p>
            <a:r>
              <a:rPr lang="en-US" dirty="0" smtClean="0"/>
              <a:t>A company formed and registered under company act or purchase an existing company to earn profit. </a:t>
            </a:r>
          </a:p>
          <a:p>
            <a:r>
              <a:rPr lang="en-US" dirty="0" smtClean="0"/>
              <a:t>Company is suitable for mass production, set up an industry, factory &amp; distribution business.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925" y="331801"/>
            <a:ext cx="8229600" cy="667512"/>
          </a:xfrm>
        </p:spPr>
        <p:txBody>
          <a:bodyPr>
            <a:noAutofit/>
          </a:bodyPr>
          <a:lstStyle/>
          <a:p>
            <a:r>
              <a:rPr lang="en-US" sz="3600" dirty="0" smtClean="0"/>
              <a:t>Private vs. Public limited company</a:t>
            </a:r>
            <a:endParaRPr lang="en-US" sz="36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5794012"/>
              </p:ext>
            </p:extLst>
          </p:nvPr>
        </p:nvGraphicFramePr>
        <p:xfrm>
          <a:off x="425355" y="1371596"/>
          <a:ext cx="8229600" cy="5443673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67181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Features</a:t>
                      </a:r>
                      <a:endParaRPr lang="en-US" sz="4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Public Limited Company</a:t>
                      </a:r>
                      <a:endParaRPr lang="en-US" sz="4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Private Limited Company</a:t>
                      </a:r>
                      <a:endParaRPr lang="en-US" sz="4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6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Minimum members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7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6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Minimum directors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3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76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Maximum members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Unlimited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200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6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Minimum capital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5,00,000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1,00,000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6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Invitation to public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Yes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No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44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Issue of prospectus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Yes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No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68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Quorum at AGM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5 members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2 members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56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Certificate for commencement of business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Yes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No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44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Term used at the end of name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Limited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Private limited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68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Managerial remuneration</a:t>
                      </a:r>
                      <a:endParaRPr lang="en-US" sz="4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No restriction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Can not exceed more than 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11%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of net profits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447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Statutory meeting (mandatory)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Yes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No</a:t>
                      </a:r>
                      <a:endParaRPr lang="en-US" sz="4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423" cap="flat" cmpd="sng" algn="ctr">
                      <a:solidFill>
                        <a:srgbClr val="BBBBB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-31845" y="-3753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300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Different forms of business </a:t>
            </a:r>
            <a:r>
              <a:rPr lang="en-US" sz="4000" dirty="0" smtClean="0"/>
              <a:t>ownership</a:t>
            </a:r>
            <a:br>
              <a:rPr lang="en-US" sz="4000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Cooperative Business</a:t>
            </a:r>
            <a:r>
              <a:rPr lang="en-US" dirty="0" smtClean="0"/>
              <a:t>: </a:t>
            </a:r>
          </a:p>
          <a:p>
            <a:r>
              <a:rPr lang="en-US" dirty="0" smtClean="0"/>
              <a:t>Cooperative is an association of individual to secure a common economic goal by honest means.</a:t>
            </a:r>
          </a:p>
          <a:p>
            <a:r>
              <a:rPr lang="en-US" dirty="0" smtClean="0"/>
              <a:t>Concentration of wealth in few hands, exploitation of workers by giant enterprises and their owners etc. gave augment to sense of cooperative. </a:t>
            </a:r>
          </a:p>
          <a:p>
            <a:r>
              <a:rPr lang="en-US" dirty="0" smtClean="0"/>
              <a:t>“Unity is strength” that is mutual assistance among poor of weaker class- this imprison gave rise to the growth &amp; development of cooperative society.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5344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Different forms of business </a:t>
            </a:r>
            <a:r>
              <a:rPr lang="en-US" sz="3600" dirty="0" smtClean="0"/>
              <a:t>ownership</a:t>
            </a:r>
            <a:br>
              <a:rPr lang="en-US" sz="3600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572000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State Enterprise</a:t>
            </a:r>
            <a:r>
              <a:rPr lang="en-US" dirty="0" smtClean="0"/>
              <a:t>: </a:t>
            </a:r>
          </a:p>
          <a:p>
            <a:r>
              <a:rPr lang="en-US" dirty="0" smtClean="0"/>
              <a:t>State enterprise is the operation of commercial or industrial undertaking by the state.</a:t>
            </a:r>
          </a:p>
          <a:p>
            <a:r>
              <a:rPr lang="en-US" dirty="0" smtClean="0"/>
              <a:t>A number of factors like, some sensitive products and services, reduction ethnic &amp; regional disparity, the desire of political party in power of control economic, reduction of rural urban imbalances, providing more basic services as </a:t>
            </a:r>
            <a:r>
              <a:rPr lang="en-US" dirty="0" smtClean="0">
                <a:solidFill>
                  <a:srgbClr val="FF0000"/>
                </a:solidFill>
              </a:rPr>
              <a:t>water, power, communication </a:t>
            </a:r>
            <a:r>
              <a:rPr lang="en-US" dirty="0" smtClean="0"/>
              <a:t>etc. are seen as socio-economic factors that give rise to establishment, of state enterprise. </a:t>
            </a:r>
          </a:p>
          <a:p>
            <a:r>
              <a:rPr lang="en-US" dirty="0" smtClean="0"/>
              <a:t>For instance, weapon, utility services, etc.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382000" cy="1466088"/>
          </a:xfrm>
        </p:spPr>
        <p:txBody>
          <a:bodyPr>
            <a:noAutofit/>
          </a:bodyPr>
          <a:lstStyle/>
          <a:p>
            <a:r>
              <a:rPr lang="en-US" sz="4000" dirty="0"/>
              <a:t>Different forms of business </a:t>
            </a:r>
            <a:r>
              <a:rPr lang="en-US" sz="4000" dirty="0" smtClean="0"/>
              <a:t>ownership</a:t>
            </a:r>
            <a:br>
              <a:rPr lang="en-US" sz="4000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900" b="1" dirty="0" smtClean="0">
                <a:latin typeface="Times New Roman" pitchFamily="18" charset="0"/>
                <a:cs typeface="Times New Roman" pitchFamily="18" charset="0"/>
              </a:rPr>
              <a:t>Joint venture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 joint venture is a business agreement in which parties agree to develop for a finite time, a new entity and new assets by contributing equity. 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They exercise control over the enterprise and consequently share revenues, expenses, and assets. </a:t>
            </a:r>
          </a:p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Soudi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-Bangladesh textile mills ltd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Apex corporation ltd.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Different forms of business </a:t>
            </a:r>
            <a:r>
              <a:rPr lang="en-US" sz="3600" dirty="0" smtClean="0"/>
              <a:t>ownership</a:t>
            </a:r>
            <a:br>
              <a:rPr lang="en-US" sz="3600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300" b="1" dirty="0"/>
              <a:t>Combination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Combination refers to the mergers and acquisitions of many smaller companies into much larger ones. 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 consolidation of two corporations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In Bangladesh, BSRS and BSB formed new business organization named Bangladesh development bank (BDB).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Merger between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Robi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Axiata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Airtel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Bangladesh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Different forms of business </a:t>
            </a:r>
            <a:r>
              <a:rPr lang="en-US" sz="4000" dirty="0" smtClean="0"/>
              <a:t>ownership</a:t>
            </a:r>
            <a:br>
              <a:rPr lang="en-US" sz="4000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Global business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It refers to all those business activities which involve cross border transactions of goods, services, resources between two or more nations.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Different forms of business </a:t>
            </a:r>
            <a:r>
              <a:rPr lang="en-US" sz="4000" dirty="0" smtClean="0"/>
              <a:t>ownership</a:t>
            </a:r>
            <a:br>
              <a:rPr lang="en-US" sz="4000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Franchise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 franchise is a right granted to an individual or group to market of company’s goods or services within a certain territory or location. 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McDonald, Subway, Pizza hat. </a:t>
            </a:r>
          </a:p>
          <a:p>
            <a:pPr>
              <a:buNone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Different forms of business </a:t>
            </a:r>
            <a:r>
              <a:rPr lang="en-US" sz="4000" dirty="0" smtClean="0"/>
              <a:t>ownership</a:t>
            </a:r>
            <a:br>
              <a:rPr lang="en-US" sz="4000" dirty="0" smtClean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4700" b="1" dirty="0"/>
              <a:t>Trust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 trust is an obligation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occupied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to the ownership of property, and arising out of a confidence reposed in and accepted by the owner, or declared and accepted by him , for the benefit of another , or the owner. </a:t>
            </a:r>
          </a:p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WBB trust (work for a better Bangladesh) 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Islamic trust Bangladesh limited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Trust marine services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Asian global sourcing ltd.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Different forms of business </a:t>
            </a:r>
            <a:r>
              <a:rPr lang="en-US" sz="4000" dirty="0" smtClean="0"/>
              <a:t>ownership</a:t>
            </a:r>
            <a:br>
              <a:rPr lang="en-US" sz="4000" dirty="0" smtClean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/>
              <a:t>Licensing</a:t>
            </a:r>
          </a:p>
          <a:p>
            <a:r>
              <a:rPr lang="en-US" dirty="0" smtClean="0"/>
              <a:t>A company sells licenses to other companies to use intellectual property (IP) , brand, design, or business programs. </a:t>
            </a:r>
          </a:p>
          <a:p>
            <a:r>
              <a:rPr lang="en-US" dirty="0" smtClean="0"/>
              <a:t>The licensing company may exercise control over how its IP is used but does not control the business operations of the licensee.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591312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Merits and demerits of each form of ownership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42999"/>
          <a:ext cx="8382000" cy="5494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278"/>
                <a:gridCol w="1862667"/>
                <a:gridCol w="2405944"/>
                <a:gridCol w="2427111"/>
                <a:gridCol w="1143000"/>
              </a:tblGrid>
              <a:tr h="678873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SL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Business type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Key advantages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Key disadvantages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Liability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78873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Sole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proprietorship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Simple to set up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Limited growth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969818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Partnership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Relatively simple creation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No limited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liability, must have general partner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High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969818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Public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limited company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Legal formality, indefinite life time, superior entity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Few owners cannot directly control management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Limited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78873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Private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limited company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Well established law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Shareholders limitations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Limited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78873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State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enterprise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Set rules and regulations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Blending social and profit objectives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Limited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78873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Cooperative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Secure credit at cheap rate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Conflict</a:t>
                      </a:r>
                      <a:r>
                        <a:rPr lang="en-US" sz="20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among members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limited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9200"/>
            <a:ext cx="8229600" cy="1981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Factors influencing to Choice a Form of Business Organization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 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 smtClean="0"/>
              <a:t>The nature of business: </a:t>
            </a:r>
          </a:p>
          <a:p>
            <a:pPr lvl="0"/>
            <a:r>
              <a:rPr lang="en-US" dirty="0" smtClean="0"/>
              <a:t>Businesses providing direct services like tailors, restaurants and professional services like doctors, lawyers are generally organized as proprietary concerns.</a:t>
            </a:r>
          </a:p>
          <a:p>
            <a:pPr lvl="0"/>
            <a:r>
              <a:rPr lang="en-US" dirty="0" smtClean="0"/>
              <a:t>While, businesses requiring pooling of skills and funds like accounting firms are better organized as partnerships. </a:t>
            </a:r>
          </a:p>
          <a:p>
            <a:pPr lvl="0"/>
            <a:r>
              <a:rPr lang="en-US" dirty="0" smtClean="0"/>
              <a:t>Manufacturing organizations of large size are more commonly set up as private and public companies.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819912"/>
          </a:xfrm>
        </p:spPr>
        <p:txBody>
          <a:bodyPr/>
          <a:lstStyle/>
          <a:p>
            <a:r>
              <a:rPr lang="en-US" dirty="0" smtClean="0"/>
              <a:t>Continued…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3820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Size of operations: </a:t>
            </a:r>
          </a:p>
          <a:p>
            <a:r>
              <a:rPr lang="en-US" dirty="0" smtClean="0"/>
              <a:t>The volume of business (large, medium, small) and size of the market area (local, national, international) served is the key factors. </a:t>
            </a:r>
          </a:p>
          <a:p>
            <a:r>
              <a:rPr lang="en-US" dirty="0" smtClean="0"/>
              <a:t>Large scale enterprises catering to national and international markets can be organized more successfully as private or public companies. </a:t>
            </a:r>
          </a:p>
          <a:p>
            <a:r>
              <a:rPr lang="en-US" dirty="0" smtClean="0"/>
              <a:t>Small and medium scale firms are generally set up as partnerships and sole-proprietorship. </a:t>
            </a:r>
          </a:p>
          <a:p>
            <a:r>
              <a:rPr lang="en-US" dirty="0" smtClean="0"/>
              <a:t>Similarly, where the area of operations is wide spread (national or international), company ownership is appropriate. </a:t>
            </a:r>
          </a:p>
          <a:p>
            <a:r>
              <a:rPr lang="en-US" dirty="0" smtClean="0"/>
              <a:t>But if the area of operations is confined to a particular locality, partnership or proprietorship will be a more suitable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smtClean="0"/>
              <a:t>The level of control:</a:t>
            </a:r>
            <a:r>
              <a:rPr lang="en-US" dirty="0" smtClean="0"/>
              <a:t>  </a:t>
            </a:r>
          </a:p>
          <a:p>
            <a:pPr lvl="0"/>
            <a:r>
              <a:rPr lang="en-US" dirty="0" smtClean="0"/>
              <a:t>A person, who desires direct control of business, prefers proprietorship, because a company involves separation of ownership and management.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smtClean="0"/>
              <a:t>Amount of capital: </a:t>
            </a:r>
          </a:p>
          <a:p>
            <a:pPr lvl="0"/>
            <a:r>
              <a:rPr lang="en-US" dirty="0" smtClean="0"/>
              <a:t>It is key factor of business and required for the establishment and operation of a business. </a:t>
            </a:r>
          </a:p>
          <a:p>
            <a:pPr lvl="0"/>
            <a:r>
              <a:rPr lang="en-US" dirty="0" smtClean="0"/>
              <a:t>A partnership may be converted into a company when it grows beyond the capacity and resources of a few persons.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smtClean="0"/>
              <a:t>The volume of risks: Risks</a:t>
            </a:r>
            <a:r>
              <a:rPr lang="en-US" dirty="0" smtClean="0"/>
              <a:t> and liabilities as well as the mentality of the owners to bear risk, is also an important consideration. </a:t>
            </a:r>
          </a:p>
          <a:p>
            <a:pPr lvl="0"/>
            <a:r>
              <a:rPr lang="en-US" b="1" dirty="0" smtClean="0"/>
              <a:t>Comparative tax liability: </a:t>
            </a:r>
            <a:r>
              <a:rPr lang="en-US" dirty="0" smtClean="0"/>
              <a:t>Comparative tax liability, assessment and returns of Business.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have several ways that a business can be organized to define its structure. The main types of business organizations in the Bangladesh are sole proprietorship, corporations, partnerships and limited-liability companies, Cooperative, and state owned enterprises. </a:t>
            </a:r>
          </a:p>
          <a:p>
            <a:r>
              <a:rPr lang="en-US" dirty="0" smtClean="0"/>
              <a:t>But someone must be ambitious to build a form of business!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Image result for images of business ownershi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295400"/>
            <a:ext cx="6572250" cy="43434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705950"/>
            <a:ext cx="7162800" cy="3429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905540" y="4511675"/>
            <a:ext cx="7772400" cy="1676400"/>
          </a:xfrm>
        </p:spPr>
        <p:txBody>
          <a:bodyPr/>
          <a:lstStyle/>
          <a:p>
            <a:pPr algn="ctr"/>
            <a:r>
              <a:rPr lang="en-US" dirty="0" smtClean="0"/>
              <a:t>Question?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-37214"/>
            <a:ext cx="4267200" cy="347737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243</TotalTime>
  <Words>1489</Words>
  <Application>Microsoft Office PowerPoint</Application>
  <PresentationFormat>On-screen Show (4:3)</PresentationFormat>
  <Paragraphs>219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Calibri</vt:lpstr>
      <vt:lpstr>Constantia</vt:lpstr>
      <vt:lpstr>Times New Roman</vt:lpstr>
      <vt:lpstr>Verdana</vt:lpstr>
      <vt:lpstr>Wingdings 2</vt:lpstr>
      <vt:lpstr>Flow</vt:lpstr>
      <vt:lpstr>Chapter 03 Introduction to Business</vt:lpstr>
      <vt:lpstr>Learning Goals</vt:lpstr>
      <vt:lpstr>Meaning of business organization</vt:lpstr>
      <vt:lpstr>Features of a business organization </vt:lpstr>
      <vt:lpstr>Nature of Business Organizations</vt:lpstr>
      <vt:lpstr>Forms and structures of Business ownership</vt:lpstr>
      <vt:lpstr>PowerPoint Presentation</vt:lpstr>
      <vt:lpstr>Different forms of business ownership </vt:lpstr>
      <vt:lpstr>PowerPoint Presentation</vt:lpstr>
      <vt:lpstr>Different forms of business ownership </vt:lpstr>
      <vt:lpstr>Different forms of business ownership </vt:lpstr>
      <vt:lpstr>Different forms of business ownership </vt:lpstr>
      <vt:lpstr>Private vs. Public limited company</vt:lpstr>
      <vt:lpstr>Different forms of business ownership </vt:lpstr>
      <vt:lpstr>Different forms of business ownership </vt:lpstr>
      <vt:lpstr>Different forms of business ownership </vt:lpstr>
      <vt:lpstr>Different forms of business ownership </vt:lpstr>
      <vt:lpstr>Different forms of business ownership </vt:lpstr>
      <vt:lpstr>Different forms of business ownership </vt:lpstr>
      <vt:lpstr>Different forms of business ownership </vt:lpstr>
      <vt:lpstr>Different forms of business ownership </vt:lpstr>
      <vt:lpstr>Merits and demerits of each form of ownership</vt:lpstr>
      <vt:lpstr>Factors influencing to Choice a Form of Business Organization    </vt:lpstr>
      <vt:lpstr>Continued…</vt:lpstr>
      <vt:lpstr>Continued…</vt:lpstr>
      <vt:lpstr>Continued…</vt:lpstr>
      <vt:lpstr>Continued…</vt:lpstr>
      <vt:lpstr>Conclusion</vt:lpstr>
      <vt:lpstr>PowerPoint Presentation</vt:lpstr>
      <vt:lpstr>Question?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03</dc:title>
  <dc:creator>Zia</dc:creator>
  <cp:lastModifiedBy>Ramisa Nafisa CU</cp:lastModifiedBy>
  <cp:revision>43</cp:revision>
  <dcterms:created xsi:type="dcterms:W3CDTF">2006-08-16T00:00:00Z</dcterms:created>
  <dcterms:modified xsi:type="dcterms:W3CDTF">2022-04-05T17:32:42Z</dcterms:modified>
</cp:coreProperties>
</file>