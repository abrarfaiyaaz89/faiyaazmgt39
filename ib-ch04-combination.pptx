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0" r:id="rId5"/>
    <p:sldId id="261" r:id="rId6"/>
    <p:sldId id="262" r:id="rId7"/>
    <p:sldId id="263" r:id="rId8"/>
    <p:sldId id="264" r:id="rId9"/>
    <p:sldId id="300" r:id="rId10"/>
    <p:sldId id="265" r:id="rId11"/>
    <p:sldId id="266" r:id="rId12"/>
    <p:sldId id="267" r:id="rId13"/>
    <p:sldId id="268" r:id="rId14"/>
    <p:sldId id="269" r:id="rId15"/>
    <p:sldId id="270" r:id="rId16"/>
    <p:sldId id="271" r:id="rId17"/>
    <p:sldId id="302" r:id="rId18"/>
    <p:sldId id="273" r:id="rId19"/>
    <p:sldId id="283" r:id="rId20"/>
    <p:sldId id="280" r:id="rId21"/>
    <p:sldId id="275" r:id="rId22"/>
    <p:sldId id="276" r:id="rId23"/>
    <p:sldId id="277" r:id="rId24"/>
    <p:sldId id="278" r:id="rId25"/>
    <p:sldId id="281" r:id="rId26"/>
    <p:sldId id="284" r:id="rId27"/>
    <p:sldId id="285" r:id="rId28"/>
    <p:sldId id="286" r:id="rId29"/>
    <p:sldId id="303" r:id="rId30"/>
    <p:sldId id="287" r:id="rId31"/>
    <p:sldId id="288" r:id="rId32"/>
    <p:sldId id="289" r:id="rId33"/>
    <p:sldId id="290" r:id="rId34"/>
    <p:sldId id="304" r:id="rId35"/>
    <p:sldId id="291" r:id="rId36"/>
    <p:sldId id="293" r:id="rId37"/>
    <p:sldId id="294" r:id="rId38"/>
    <p:sldId id="295" r:id="rId39"/>
    <p:sldId id="298" r:id="rId40"/>
    <p:sldId id="299" r:id="rId41"/>
    <p:sldId id="301" r:id="rId4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1" d="100"/>
          <a:sy n="61" d="100"/>
        </p:scale>
        <p:origin x="1440"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E05B2B7-F1DD-496E-98CA-B29A682B2C33}" type="doc">
      <dgm:prSet loTypeId="urn:microsoft.com/office/officeart/2005/8/layout/equation2" loCatId="process" qsTypeId="urn:microsoft.com/office/officeart/2005/8/quickstyle/simple4" qsCatId="simple" csTypeId="urn:microsoft.com/office/officeart/2005/8/colors/colorful3" csCatId="colorful" phldr="1"/>
      <dgm:spPr/>
    </dgm:pt>
    <dgm:pt modelId="{D2A3E514-08EC-4EFB-890B-85756D83CAC0}">
      <dgm:prSet phldrT="[Text]" custT="1"/>
      <dgm:spPr>
        <a:solidFill>
          <a:schemeClr val="accent3">
            <a:lumMod val="75000"/>
          </a:schemeClr>
        </a:solidFill>
        <a:ln>
          <a:solidFill>
            <a:schemeClr val="tx1"/>
          </a:solidFill>
        </a:ln>
      </dgm:spPr>
      <dgm:t>
        <a:bodyPr/>
        <a:lstStyle/>
        <a:p>
          <a:pPr algn="ctr"/>
          <a:r>
            <a:rPr lang="en-US" sz="1400"/>
            <a:t>AA company</a:t>
          </a:r>
        </a:p>
      </dgm:t>
    </dgm:pt>
    <dgm:pt modelId="{502BBE26-1B7D-4380-8A33-F6671E3DBB94}" type="parTrans" cxnId="{A6CDC700-5416-49AD-9A4C-78CD1934B381}">
      <dgm:prSet/>
      <dgm:spPr/>
      <dgm:t>
        <a:bodyPr/>
        <a:lstStyle/>
        <a:p>
          <a:pPr algn="ctr"/>
          <a:endParaRPr lang="en-US"/>
        </a:p>
      </dgm:t>
    </dgm:pt>
    <dgm:pt modelId="{81CDEF95-A775-41C9-964C-53E0B840F5D9}" type="sibTrans" cxnId="{A6CDC700-5416-49AD-9A4C-78CD1934B381}">
      <dgm:prSet/>
      <dgm:spPr>
        <a:ln>
          <a:solidFill>
            <a:schemeClr val="tx1"/>
          </a:solidFill>
        </a:ln>
      </dgm:spPr>
      <dgm:t>
        <a:bodyPr/>
        <a:lstStyle/>
        <a:p>
          <a:pPr algn="ctr"/>
          <a:endParaRPr lang="en-US"/>
        </a:p>
      </dgm:t>
    </dgm:pt>
    <dgm:pt modelId="{75488B90-B3DA-4B71-AC16-0E3BA45BD7C4}">
      <dgm:prSet phldrT="[Text]" custT="1"/>
      <dgm:spPr>
        <a:solidFill>
          <a:srgbClr val="00B050"/>
        </a:solidFill>
        <a:ln>
          <a:solidFill>
            <a:schemeClr val="tx1"/>
          </a:solidFill>
        </a:ln>
      </dgm:spPr>
      <dgm:t>
        <a:bodyPr/>
        <a:lstStyle/>
        <a:p>
          <a:pPr algn="ctr"/>
          <a:r>
            <a:rPr lang="en-US" sz="1400"/>
            <a:t>BB company</a:t>
          </a:r>
        </a:p>
      </dgm:t>
    </dgm:pt>
    <dgm:pt modelId="{F991F165-DE87-4FE0-BF3E-9395ABBA5739}" type="parTrans" cxnId="{83D75942-5EEE-4882-B357-FB8F7FF7674E}">
      <dgm:prSet/>
      <dgm:spPr/>
      <dgm:t>
        <a:bodyPr/>
        <a:lstStyle/>
        <a:p>
          <a:pPr algn="ctr"/>
          <a:endParaRPr lang="en-US"/>
        </a:p>
      </dgm:t>
    </dgm:pt>
    <dgm:pt modelId="{655D2596-6A71-4219-8947-21F04D5438CA}" type="sibTrans" cxnId="{83D75942-5EEE-4882-B357-FB8F7FF7674E}">
      <dgm:prSet/>
      <dgm:spPr>
        <a:solidFill>
          <a:schemeClr val="accent3">
            <a:lumMod val="50000"/>
          </a:schemeClr>
        </a:solidFill>
        <a:ln>
          <a:solidFill>
            <a:schemeClr val="tx1"/>
          </a:solidFill>
        </a:ln>
      </dgm:spPr>
      <dgm:t>
        <a:bodyPr/>
        <a:lstStyle/>
        <a:p>
          <a:pPr algn="ctr"/>
          <a:endParaRPr lang="en-US"/>
        </a:p>
      </dgm:t>
    </dgm:pt>
    <dgm:pt modelId="{EBAFC14A-3BD1-419B-A17A-D3F2EF186BC8}">
      <dgm:prSet phldrT="[Text]" custT="1"/>
      <dgm:spPr>
        <a:solidFill>
          <a:schemeClr val="accent3">
            <a:lumMod val="50000"/>
          </a:schemeClr>
        </a:solidFill>
        <a:ln>
          <a:solidFill>
            <a:schemeClr val="tx1"/>
          </a:solidFill>
        </a:ln>
      </dgm:spPr>
      <dgm:t>
        <a:bodyPr/>
        <a:lstStyle/>
        <a:p>
          <a:pPr algn="ctr"/>
          <a:r>
            <a:rPr lang="en-US" sz="1600"/>
            <a:t>CC  company</a:t>
          </a:r>
        </a:p>
      </dgm:t>
    </dgm:pt>
    <dgm:pt modelId="{B97927E2-0F43-465F-ABF2-F03082AE86BC}" type="parTrans" cxnId="{A6C01393-7FA7-44AE-80D7-C6B634F2ED97}">
      <dgm:prSet/>
      <dgm:spPr/>
      <dgm:t>
        <a:bodyPr/>
        <a:lstStyle/>
        <a:p>
          <a:pPr algn="ctr"/>
          <a:endParaRPr lang="en-US"/>
        </a:p>
      </dgm:t>
    </dgm:pt>
    <dgm:pt modelId="{FB2CE9E3-47AF-4711-B0B1-D2AB268258A3}" type="sibTrans" cxnId="{A6C01393-7FA7-44AE-80D7-C6B634F2ED97}">
      <dgm:prSet/>
      <dgm:spPr/>
      <dgm:t>
        <a:bodyPr/>
        <a:lstStyle/>
        <a:p>
          <a:pPr algn="ctr"/>
          <a:endParaRPr lang="en-US"/>
        </a:p>
      </dgm:t>
    </dgm:pt>
    <dgm:pt modelId="{6480BC3E-A7E5-4C68-AC7A-C69AC1D08EBF}" type="pres">
      <dgm:prSet presAssocID="{9E05B2B7-F1DD-496E-98CA-B29A682B2C33}" presName="Name0" presStyleCnt="0">
        <dgm:presLayoutVars>
          <dgm:dir/>
          <dgm:resizeHandles val="exact"/>
        </dgm:presLayoutVars>
      </dgm:prSet>
      <dgm:spPr/>
    </dgm:pt>
    <dgm:pt modelId="{907DC448-EA5B-4C90-89E4-CA6FB3231B50}" type="pres">
      <dgm:prSet presAssocID="{9E05B2B7-F1DD-496E-98CA-B29A682B2C33}" presName="vNodes" presStyleCnt="0"/>
      <dgm:spPr/>
    </dgm:pt>
    <dgm:pt modelId="{BEEC8B1A-58C8-4256-8A30-6CE6BFFC0B96}" type="pres">
      <dgm:prSet presAssocID="{D2A3E514-08EC-4EFB-890B-85756D83CAC0}" presName="node" presStyleLbl="node1" presStyleIdx="0" presStyleCnt="3" custScaleX="78916" custScaleY="21743" custLinFactNeighborX="-23" custLinFactNeighborY="61552">
        <dgm:presLayoutVars>
          <dgm:bulletEnabled val="1"/>
        </dgm:presLayoutVars>
      </dgm:prSet>
      <dgm:spPr/>
    </dgm:pt>
    <dgm:pt modelId="{8C3DA6B2-8E7A-473E-8ED0-69C1F287E35C}" type="pres">
      <dgm:prSet presAssocID="{81CDEF95-A775-41C9-964C-53E0B840F5D9}" presName="spacerT" presStyleCnt="0"/>
      <dgm:spPr/>
    </dgm:pt>
    <dgm:pt modelId="{E67CC5C7-FCD0-49CB-942D-8418ECA31D7D}" type="pres">
      <dgm:prSet presAssocID="{81CDEF95-A775-41C9-964C-53E0B840F5D9}" presName="sibTrans" presStyleLbl="sibTrans2D1" presStyleIdx="0" presStyleCnt="2" custScaleX="29227" custScaleY="14303"/>
      <dgm:spPr/>
    </dgm:pt>
    <dgm:pt modelId="{420DDDAE-6C45-40CA-A6C8-05E73779CF19}" type="pres">
      <dgm:prSet presAssocID="{81CDEF95-A775-41C9-964C-53E0B840F5D9}" presName="spacerB" presStyleCnt="0"/>
      <dgm:spPr/>
    </dgm:pt>
    <dgm:pt modelId="{ABC763D1-DFC7-4B31-81EA-9603BD0D148E}" type="pres">
      <dgm:prSet presAssocID="{75488B90-B3DA-4B71-AC16-0E3BA45BD7C4}" presName="node" presStyleLbl="node1" presStyleIdx="1" presStyleCnt="3" custScaleX="78916" custScaleY="21743" custLinFactNeighborX="-23" custLinFactNeighborY="-65948">
        <dgm:presLayoutVars>
          <dgm:bulletEnabled val="1"/>
        </dgm:presLayoutVars>
      </dgm:prSet>
      <dgm:spPr/>
    </dgm:pt>
    <dgm:pt modelId="{3FBA6219-CFB4-4DCF-9DFB-898DF1EB5E68}" type="pres">
      <dgm:prSet presAssocID="{9E05B2B7-F1DD-496E-98CA-B29A682B2C33}" presName="sibTransLast" presStyleLbl="sibTrans2D1" presStyleIdx="1" presStyleCnt="2" custScaleX="80517" custScaleY="28609"/>
      <dgm:spPr/>
    </dgm:pt>
    <dgm:pt modelId="{664EBC71-DEE4-4DCD-ACC6-B454D79E2E3A}" type="pres">
      <dgm:prSet presAssocID="{9E05B2B7-F1DD-496E-98CA-B29A682B2C33}" presName="connectorText" presStyleLbl="sibTrans2D1" presStyleIdx="1" presStyleCnt="2"/>
      <dgm:spPr/>
    </dgm:pt>
    <dgm:pt modelId="{4DD02B10-D9A9-43F6-936A-81DD57A8CC8B}" type="pres">
      <dgm:prSet presAssocID="{9E05B2B7-F1DD-496E-98CA-B29A682B2C33}" presName="lastNode" presStyleLbl="node1" presStyleIdx="2" presStyleCnt="3" custScaleX="39215" custScaleY="23574">
        <dgm:presLayoutVars>
          <dgm:bulletEnabled val="1"/>
        </dgm:presLayoutVars>
      </dgm:prSet>
      <dgm:spPr/>
    </dgm:pt>
  </dgm:ptLst>
  <dgm:cxnLst>
    <dgm:cxn modelId="{A6CDC700-5416-49AD-9A4C-78CD1934B381}" srcId="{9E05B2B7-F1DD-496E-98CA-B29A682B2C33}" destId="{D2A3E514-08EC-4EFB-890B-85756D83CAC0}" srcOrd="0" destOrd="0" parTransId="{502BBE26-1B7D-4380-8A33-F6671E3DBB94}" sibTransId="{81CDEF95-A775-41C9-964C-53E0B840F5D9}"/>
    <dgm:cxn modelId="{2E067005-4B37-42E7-89DE-3017321D35D8}" type="presOf" srcId="{655D2596-6A71-4219-8947-21F04D5438CA}" destId="{3FBA6219-CFB4-4DCF-9DFB-898DF1EB5E68}" srcOrd="0" destOrd="0" presId="urn:microsoft.com/office/officeart/2005/8/layout/equation2"/>
    <dgm:cxn modelId="{1E04FB17-16EE-40F3-B308-4C40375DE620}" type="presOf" srcId="{75488B90-B3DA-4B71-AC16-0E3BA45BD7C4}" destId="{ABC763D1-DFC7-4B31-81EA-9603BD0D148E}" srcOrd="0" destOrd="0" presId="urn:microsoft.com/office/officeart/2005/8/layout/equation2"/>
    <dgm:cxn modelId="{83D75942-5EEE-4882-B357-FB8F7FF7674E}" srcId="{9E05B2B7-F1DD-496E-98CA-B29A682B2C33}" destId="{75488B90-B3DA-4B71-AC16-0E3BA45BD7C4}" srcOrd="1" destOrd="0" parTransId="{F991F165-DE87-4FE0-BF3E-9395ABBA5739}" sibTransId="{655D2596-6A71-4219-8947-21F04D5438CA}"/>
    <dgm:cxn modelId="{75E12467-0FA7-42E9-8D26-5D93F0FDE487}" type="presOf" srcId="{9E05B2B7-F1DD-496E-98CA-B29A682B2C33}" destId="{6480BC3E-A7E5-4C68-AC7A-C69AC1D08EBF}" srcOrd="0" destOrd="0" presId="urn:microsoft.com/office/officeart/2005/8/layout/equation2"/>
    <dgm:cxn modelId="{EC96E38D-4894-46BE-B1F8-ABF78F7FE73E}" type="presOf" srcId="{D2A3E514-08EC-4EFB-890B-85756D83CAC0}" destId="{BEEC8B1A-58C8-4256-8A30-6CE6BFFC0B96}" srcOrd="0" destOrd="0" presId="urn:microsoft.com/office/officeart/2005/8/layout/equation2"/>
    <dgm:cxn modelId="{6B499192-AC85-416D-9992-1F88DED73BAD}" type="presOf" srcId="{EBAFC14A-3BD1-419B-A17A-D3F2EF186BC8}" destId="{4DD02B10-D9A9-43F6-936A-81DD57A8CC8B}" srcOrd="0" destOrd="0" presId="urn:microsoft.com/office/officeart/2005/8/layout/equation2"/>
    <dgm:cxn modelId="{A6C01393-7FA7-44AE-80D7-C6B634F2ED97}" srcId="{9E05B2B7-F1DD-496E-98CA-B29A682B2C33}" destId="{EBAFC14A-3BD1-419B-A17A-D3F2EF186BC8}" srcOrd="2" destOrd="0" parTransId="{B97927E2-0F43-465F-ABF2-F03082AE86BC}" sibTransId="{FB2CE9E3-47AF-4711-B0B1-D2AB268258A3}"/>
    <dgm:cxn modelId="{96F94B94-EA70-4BE7-BF5B-BBD325344E2A}" type="presOf" srcId="{655D2596-6A71-4219-8947-21F04D5438CA}" destId="{664EBC71-DEE4-4DCD-ACC6-B454D79E2E3A}" srcOrd="1" destOrd="0" presId="urn:microsoft.com/office/officeart/2005/8/layout/equation2"/>
    <dgm:cxn modelId="{844947D7-CF6F-46D3-AE6F-85DD7B70F513}" type="presOf" srcId="{81CDEF95-A775-41C9-964C-53E0B840F5D9}" destId="{E67CC5C7-FCD0-49CB-942D-8418ECA31D7D}" srcOrd="0" destOrd="0" presId="urn:microsoft.com/office/officeart/2005/8/layout/equation2"/>
    <dgm:cxn modelId="{26818037-43A6-4EDB-88A1-314846D6920B}" type="presParOf" srcId="{6480BC3E-A7E5-4C68-AC7A-C69AC1D08EBF}" destId="{907DC448-EA5B-4C90-89E4-CA6FB3231B50}" srcOrd="0" destOrd="0" presId="urn:microsoft.com/office/officeart/2005/8/layout/equation2"/>
    <dgm:cxn modelId="{D239C2B3-4EBE-41F7-8898-87C7497A56A0}" type="presParOf" srcId="{907DC448-EA5B-4C90-89E4-CA6FB3231B50}" destId="{BEEC8B1A-58C8-4256-8A30-6CE6BFFC0B96}" srcOrd="0" destOrd="0" presId="urn:microsoft.com/office/officeart/2005/8/layout/equation2"/>
    <dgm:cxn modelId="{D91EDDA0-36E6-4D44-928D-8CDA799AAC5A}" type="presParOf" srcId="{907DC448-EA5B-4C90-89E4-CA6FB3231B50}" destId="{8C3DA6B2-8E7A-473E-8ED0-69C1F287E35C}" srcOrd="1" destOrd="0" presId="urn:microsoft.com/office/officeart/2005/8/layout/equation2"/>
    <dgm:cxn modelId="{FEAFFE5B-D75A-4514-9901-7F021081E6EA}" type="presParOf" srcId="{907DC448-EA5B-4C90-89E4-CA6FB3231B50}" destId="{E67CC5C7-FCD0-49CB-942D-8418ECA31D7D}" srcOrd="2" destOrd="0" presId="urn:microsoft.com/office/officeart/2005/8/layout/equation2"/>
    <dgm:cxn modelId="{834DE06E-6AC6-4D21-B107-EE8E7559FA0C}" type="presParOf" srcId="{907DC448-EA5B-4C90-89E4-CA6FB3231B50}" destId="{420DDDAE-6C45-40CA-A6C8-05E73779CF19}" srcOrd="3" destOrd="0" presId="urn:microsoft.com/office/officeart/2005/8/layout/equation2"/>
    <dgm:cxn modelId="{72332A32-1FC7-47D7-836E-B991EA22EDBC}" type="presParOf" srcId="{907DC448-EA5B-4C90-89E4-CA6FB3231B50}" destId="{ABC763D1-DFC7-4B31-81EA-9603BD0D148E}" srcOrd="4" destOrd="0" presId="urn:microsoft.com/office/officeart/2005/8/layout/equation2"/>
    <dgm:cxn modelId="{1364520A-FA82-4066-BD0A-D0D44AD805DB}" type="presParOf" srcId="{6480BC3E-A7E5-4C68-AC7A-C69AC1D08EBF}" destId="{3FBA6219-CFB4-4DCF-9DFB-898DF1EB5E68}" srcOrd="1" destOrd="0" presId="urn:microsoft.com/office/officeart/2005/8/layout/equation2"/>
    <dgm:cxn modelId="{938CB9E6-3A0B-477F-80C9-06AF66A4BB2F}" type="presParOf" srcId="{3FBA6219-CFB4-4DCF-9DFB-898DF1EB5E68}" destId="{664EBC71-DEE4-4DCD-ACC6-B454D79E2E3A}" srcOrd="0" destOrd="0" presId="urn:microsoft.com/office/officeart/2005/8/layout/equation2"/>
    <dgm:cxn modelId="{7FFC7915-1A13-49F9-BC36-9F0B0052DA7C}" type="presParOf" srcId="{6480BC3E-A7E5-4C68-AC7A-C69AC1D08EBF}" destId="{4DD02B10-D9A9-43F6-936A-81DD57A8CC8B}" srcOrd="2" destOrd="0" presId="urn:microsoft.com/office/officeart/2005/8/layout/equati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8C1DD6B-BAC4-4430-AA39-9352932D61EA}" type="doc">
      <dgm:prSet loTypeId="urn:microsoft.com/office/officeart/2005/8/layout/hierarchy6" loCatId="hierarchy" qsTypeId="urn:microsoft.com/office/officeart/2005/8/quickstyle/simple4" qsCatId="simple" csTypeId="urn:microsoft.com/office/officeart/2005/8/colors/colorful3" csCatId="colorful" phldr="1"/>
      <dgm:spPr/>
      <dgm:t>
        <a:bodyPr/>
        <a:lstStyle/>
        <a:p>
          <a:endParaRPr lang="en-US"/>
        </a:p>
      </dgm:t>
    </dgm:pt>
    <dgm:pt modelId="{D6108549-CA41-4128-BB32-EB3BF4B234C1}">
      <dgm:prSet phldrT="[Text]" custT="1"/>
      <dgm:spPr>
        <a:solidFill>
          <a:schemeClr val="accent2">
            <a:lumMod val="75000"/>
          </a:schemeClr>
        </a:solidFill>
        <a:ln w="12700">
          <a:solidFill>
            <a:schemeClr val="tx1"/>
          </a:solidFill>
        </a:ln>
      </dgm:spPr>
      <dgm:t>
        <a:bodyPr/>
        <a:lstStyle/>
        <a:p>
          <a:r>
            <a:rPr lang="en-US" sz="1200" b="1"/>
            <a:t>Types of  Takeover </a:t>
          </a:r>
        </a:p>
      </dgm:t>
    </dgm:pt>
    <dgm:pt modelId="{4DFD26DC-DAD6-453A-B575-95F4762B3A5B}" type="parTrans" cxnId="{A4BBB3A8-CDF8-4215-B5C3-273E0D60FE8B}">
      <dgm:prSet/>
      <dgm:spPr/>
      <dgm:t>
        <a:bodyPr/>
        <a:lstStyle/>
        <a:p>
          <a:endParaRPr lang="en-US"/>
        </a:p>
      </dgm:t>
    </dgm:pt>
    <dgm:pt modelId="{96284CE9-5CEC-4812-8D61-17A2FB3550D0}" type="sibTrans" cxnId="{A4BBB3A8-CDF8-4215-B5C3-273E0D60FE8B}">
      <dgm:prSet/>
      <dgm:spPr/>
      <dgm:t>
        <a:bodyPr/>
        <a:lstStyle/>
        <a:p>
          <a:endParaRPr lang="en-US"/>
        </a:p>
      </dgm:t>
    </dgm:pt>
    <dgm:pt modelId="{FC9BB8BC-AF47-415C-BB66-E1457894F430}">
      <dgm:prSet phldrT="[Text]" custT="1"/>
      <dgm:spPr>
        <a:solidFill>
          <a:srgbClr val="0070C0"/>
        </a:solidFill>
        <a:ln w="12700">
          <a:solidFill>
            <a:schemeClr val="tx1"/>
          </a:solidFill>
        </a:ln>
      </dgm:spPr>
      <dgm:t>
        <a:bodyPr/>
        <a:lstStyle/>
        <a:p>
          <a:r>
            <a:rPr lang="en-US" sz="1200" b="1"/>
            <a:t>Legal Context</a:t>
          </a:r>
        </a:p>
      </dgm:t>
    </dgm:pt>
    <dgm:pt modelId="{5D39C647-FBD6-43EC-882C-C0DA2E0A14F6}" type="parTrans" cxnId="{264D00C3-5698-4D2E-A7ED-71E14580729F}">
      <dgm:prSet/>
      <dgm:spPr/>
      <dgm:t>
        <a:bodyPr/>
        <a:lstStyle/>
        <a:p>
          <a:endParaRPr lang="en-US"/>
        </a:p>
      </dgm:t>
    </dgm:pt>
    <dgm:pt modelId="{503097EE-528C-4DDF-B617-713BE6DC1E7E}" type="sibTrans" cxnId="{264D00C3-5698-4D2E-A7ED-71E14580729F}">
      <dgm:prSet/>
      <dgm:spPr/>
      <dgm:t>
        <a:bodyPr/>
        <a:lstStyle/>
        <a:p>
          <a:endParaRPr lang="en-US"/>
        </a:p>
      </dgm:t>
    </dgm:pt>
    <dgm:pt modelId="{36452B87-038C-4CA4-8512-952381F0DE52}">
      <dgm:prSet phldrT="[Text]" custT="1"/>
      <dgm:spPr>
        <a:solidFill>
          <a:schemeClr val="accent3">
            <a:lumMod val="75000"/>
          </a:schemeClr>
        </a:solidFill>
        <a:ln w="12700">
          <a:solidFill>
            <a:schemeClr val="tx1"/>
          </a:solidFill>
        </a:ln>
      </dgm:spPr>
      <dgm:t>
        <a:bodyPr/>
        <a:lstStyle/>
        <a:p>
          <a:r>
            <a:rPr lang="en-US" sz="1200" b="1"/>
            <a:t>Friendly Takeover</a:t>
          </a:r>
        </a:p>
      </dgm:t>
    </dgm:pt>
    <dgm:pt modelId="{72880559-C9D5-494F-8020-FBBB6657DCA1}" type="parTrans" cxnId="{9C77E834-3510-4E6B-94AA-C852DD7DA918}">
      <dgm:prSet/>
      <dgm:spPr/>
      <dgm:t>
        <a:bodyPr/>
        <a:lstStyle/>
        <a:p>
          <a:endParaRPr lang="en-US"/>
        </a:p>
      </dgm:t>
    </dgm:pt>
    <dgm:pt modelId="{1702F31A-DE13-4DAD-BD5A-CD98015DD2E8}" type="sibTrans" cxnId="{9C77E834-3510-4E6B-94AA-C852DD7DA918}">
      <dgm:prSet/>
      <dgm:spPr/>
      <dgm:t>
        <a:bodyPr/>
        <a:lstStyle/>
        <a:p>
          <a:endParaRPr lang="en-US"/>
        </a:p>
      </dgm:t>
    </dgm:pt>
    <dgm:pt modelId="{34B882F7-8F61-4DFA-9F7B-0428DAAE5F14}">
      <dgm:prSet phldrT="[Text]" custT="1"/>
      <dgm:spPr>
        <a:solidFill>
          <a:schemeClr val="accent3">
            <a:lumMod val="75000"/>
          </a:schemeClr>
        </a:solidFill>
        <a:ln w="12700">
          <a:solidFill>
            <a:schemeClr val="tx1"/>
          </a:solidFill>
        </a:ln>
      </dgm:spPr>
      <dgm:t>
        <a:bodyPr/>
        <a:lstStyle/>
        <a:p>
          <a:r>
            <a:rPr lang="en-US" sz="1200" b="1"/>
            <a:t>Hostile Takeover</a:t>
          </a:r>
        </a:p>
      </dgm:t>
    </dgm:pt>
    <dgm:pt modelId="{6AE06373-B880-47C1-8D3D-E08FE0547287}" type="parTrans" cxnId="{C38A4F40-0289-4F85-900A-C455615F217A}">
      <dgm:prSet/>
      <dgm:spPr/>
      <dgm:t>
        <a:bodyPr/>
        <a:lstStyle/>
        <a:p>
          <a:endParaRPr lang="en-US"/>
        </a:p>
      </dgm:t>
    </dgm:pt>
    <dgm:pt modelId="{3E23FED4-BE52-417B-B71F-22B5001CF8D3}" type="sibTrans" cxnId="{C38A4F40-0289-4F85-900A-C455615F217A}">
      <dgm:prSet/>
      <dgm:spPr/>
      <dgm:t>
        <a:bodyPr/>
        <a:lstStyle/>
        <a:p>
          <a:endParaRPr lang="en-US"/>
        </a:p>
      </dgm:t>
    </dgm:pt>
    <dgm:pt modelId="{58A8D34B-8273-4F6D-9E2D-FAD64D7EDB3A}">
      <dgm:prSet phldrT="[Text]" custT="1"/>
      <dgm:spPr>
        <a:solidFill>
          <a:srgbClr val="0070C0"/>
        </a:solidFill>
        <a:ln w="12700">
          <a:solidFill>
            <a:schemeClr val="tx1"/>
          </a:solidFill>
        </a:ln>
      </dgm:spPr>
      <dgm:t>
        <a:bodyPr/>
        <a:lstStyle/>
        <a:p>
          <a:r>
            <a:rPr lang="en-US" sz="1200" b="1"/>
            <a:t>Business  Context</a:t>
          </a:r>
        </a:p>
      </dgm:t>
    </dgm:pt>
    <dgm:pt modelId="{4DF77844-EC39-4F90-980C-C6F098280CE1}" type="parTrans" cxnId="{F87C677B-AF80-4B09-BCC0-763CE909C038}">
      <dgm:prSet/>
      <dgm:spPr/>
      <dgm:t>
        <a:bodyPr/>
        <a:lstStyle/>
        <a:p>
          <a:endParaRPr lang="en-US"/>
        </a:p>
      </dgm:t>
    </dgm:pt>
    <dgm:pt modelId="{12BAD5EA-F122-4A5B-99EE-A1B8986232C0}" type="sibTrans" cxnId="{F87C677B-AF80-4B09-BCC0-763CE909C038}">
      <dgm:prSet/>
      <dgm:spPr/>
      <dgm:t>
        <a:bodyPr/>
        <a:lstStyle/>
        <a:p>
          <a:endParaRPr lang="en-US"/>
        </a:p>
      </dgm:t>
    </dgm:pt>
    <dgm:pt modelId="{2FF13CC0-D2D2-4207-A672-B5A93FF25DB2}">
      <dgm:prSet phldrT="[Text]" custT="1"/>
      <dgm:spPr>
        <a:solidFill>
          <a:srgbClr val="7030A0"/>
        </a:solidFill>
        <a:ln w="12700">
          <a:solidFill>
            <a:schemeClr val="tx1"/>
          </a:solidFill>
        </a:ln>
      </dgm:spPr>
      <dgm:t>
        <a:bodyPr/>
        <a:lstStyle/>
        <a:p>
          <a:r>
            <a:rPr lang="en-US" sz="1200" b="1"/>
            <a:t>Horizontal Takeover</a:t>
          </a:r>
        </a:p>
      </dgm:t>
    </dgm:pt>
    <dgm:pt modelId="{C29A0E42-5688-47BF-82F8-149F3747A6B7}" type="parTrans" cxnId="{F5199C2E-29BA-4055-AD3C-03B32E529029}">
      <dgm:prSet/>
      <dgm:spPr/>
      <dgm:t>
        <a:bodyPr/>
        <a:lstStyle/>
        <a:p>
          <a:endParaRPr lang="en-US"/>
        </a:p>
      </dgm:t>
    </dgm:pt>
    <dgm:pt modelId="{1D86C2FA-D632-4B8B-8ABF-ABE4CAA84BE1}" type="sibTrans" cxnId="{F5199C2E-29BA-4055-AD3C-03B32E529029}">
      <dgm:prSet/>
      <dgm:spPr/>
      <dgm:t>
        <a:bodyPr/>
        <a:lstStyle/>
        <a:p>
          <a:endParaRPr lang="en-US"/>
        </a:p>
      </dgm:t>
    </dgm:pt>
    <dgm:pt modelId="{B6553131-05C4-4650-B3FE-0389B089009D}">
      <dgm:prSet phldrT="[Text]" custT="1"/>
      <dgm:spPr>
        <a:solidFill>
          <a:srgbClr val="7030A0"/>
        </a:solidFill>
        <a:ln w="12700">
          <a:solidFill>
            <a:schemeClr val="tx1"/>
          </a:solidFill>
        </a:ln>
      </dgm:spPr>
      <dgm:t>
        <a:bodyPr/>
        <a:lstStyle/>
        <a:p>
          <a:r>
            <a:rPr lang="en-US" sz="1200" b="1"/>
            <a:t>Vertical Takeover</a:t>
          </a:r>
        </a:p>
      </dgm:t>
    </dgm:pt>
    <dgm:pt modelId="{CB7508B9-4383-4744-82E7-60CC2BD8C81F}" type="parTrans" cxnId="{E2EB96DD-4C54-4F91-8B19-B54B4C9B8EA5}">
      <dgm:prSet/>
      <dgm:spPr/>
      <dgm:t>
        <a:bodyPr/>
        <a:lstStyle/>
        <a:p>
          <a:endParaRPr lang="en-US"/>
        </a:p>
      </dgm:t>
    </dgm:pt>
    <dgm:pt modelId="{DFAA5869-53F3-4F3E-A3FE-059EF0BAA5FD}" type="sibTrans" cxnId="{E2EB96DD-4C54-4F91-8B19-B54B4C9B8EA5}">
      <dgm:prSet/>
      <dgm:spPr/>
      <dgm:t>
        <a:bodyPr/>
        <a:lstStyle/>
        <a:p>
          <a:endParaRPr lang="en-US"/>
        </a:p>
      </dgm:t>
    </dgm:pt>
    <dgm:pt modelId="{D6157EC0-9A3D-4CE3-8701-ED863054910F}">
      <dgm:prSet phldrT="[Text]" custT="1"/>
      <dgm:spPr>
        <a:solidFill>
          <a:srgbClr val="7030A0"/>
        </a:solidFill>
        <a:ln w="12700">
          <a:solidFill>
            <a:schemeClr val="tx1"/>
          </a:solidFill>
        </a:ln>
      </dgm:spPr>
      <dgm:t>
        <a:bodyPr/>
        <a:lstStyle/>
        <a:p>
          <a:r>
            <a:rPr lang="en-US" sz="1100" b="1"/>
            <a:t>Conglomerate Takeover</a:t>
          </a:r>
        </a:p>
      </dgm:t>
    </dgm:pt>
    <dgm:pt modelId="{324A9197-C41E-46D9-843B-ABECCBB00FCF}" type="parTrans" cxnId="{45A9E6A7-4129-4AC0-AC82-BB7D83455D05}">
      <dgm:prSet/>
      <dgm:spPr/>
      <dgm:t>
        <a:bodyPr/>
        <a:lstStyle/>
        <a:p>
          <a:endParaRPr lang="en-US"/>
        </a:p>
      </dgm:t>
    </dgm:pt>
    <dgm:pt modelId="{6EC38261-64AE-4FDD-9D9E-3FA66CE46B5E}" type="sibTrans" cxnId="{45A9E6A7-4129-4AC0-AC82-BB7D83455D05}">
      <dgm:prSet/>
      <dgm:spPr/>
      <dgm:t>
        <a:bodyPr/>
        <a:lstStyle/>
        <a:p>
          <a:endParaRPr lang="en-US"/>
        </a:p>
      </dgm:t>
    </dgm:pt>
    <dgm:pt modelId="{7AA3FB9F-5246-4D64-BA87-4841080515CF}" type="pres">
      <dgm:prSet presAssocID="{78C1DD6B-BAC4-4430-AA39-9352932D61EA}" presName="mainComposite" presStyleCnt="0">
        <dgm:presLayoutVars>
          <dgm:chPref val="1"/>
          <dgm:dir/>
          <dgm:animOne val="branch"/>
          <dgm:animLvl val="lvl"/>
          <dgm:resizeHandles val="exact"/>
        </dgm:presLayoutVars>
      </dgm:prSet>
      <dgm:spPr/>
    </dgm:pt>
    <dgm:pt modelId="{13A879CD-35ED-46D2-81F4-E42489683D0D}" type="pres">
      <dgm:prSet presAssocID="{78C1DD6B-BAC4-4430-AA39-9352932D61EA}" presName="hierFlow" presStyleCnt="0"/>
      <dgm:spPr/>
    </dgm:pt>
    <dgm:pt modelId="{4CFE90DA-DD3D-4ACC-B1E5-FA5582EEEA8A}" type="pres">
      <dgm:prSet presAssocID="{78C1DD6B-BAC4-4430-AA39-9352932D61EA}" presName="hierChild1" presStyleCnt="0">
        <dgm:presLayoutVars>
          <dgm:chPref val="1"/>
          <dgm:animOne val="branch"/>
          <dgm:animLvl val="lvl"/>
        </dgm:presLayoutVars>
      </dgm:prSet>
      <dgm:spPr/>
    </dgm:pt>
    <dgm:pt modelId="{DB6FB5AB-D28B-43E1-8289-D6119DA033BC}" type="pres">
      <dgm:prSet presAssocID="{D6108549-CA41-4128-BB32-EB3BF4B234C1}" presName="Name14" presStyleCnt="0"/>
      <dgm:spPr/>
    </dgm:pt>
    <dgm:pt modelId="{83DB4701-3616-4DCA-8DA5-08C72E5D848D}" type="pres">
      <dgm:prSet presAssocID="{D6108549-CA41-4128-BB32-EB3BF4B234C1}" presName="level1Shape" presStyleLbl="node0" presStyleIdx="0" presStyleCnt="1">
        <dgm:presLayoutVars>
          <dgm:chPref val="3"/>
        </dgm:presLayoutVars>
      </dgm:prSet>
      <dgm:spPr/>
    </dgm:pt>
    <dgm:pt modelId="{A230D07A-9B46-41EA-94F1-06C3A40F61E6}" type="pres">
      <dgm:prSet presAssocID="{D6108549-CA41-4128-BB32-EB3BF4B234C1}" presName="hierChild2" presStyleCnt="0"/>
      <dgm:spPr/>
    </dgm:pt>
    <dgm:pt modelId="{60DFE300-2DC4-4DC5-B242-563686631821}" type="pres">
      <dgm:prSet presAssocID="{5D39C647-FBD6-43EC-882C-C0DA2E0A14F6}" presName="Name19" presStyleLbl="parChTrans1D2" presStyleIdx="0" presStyleCnt="2"/>
      <dgm:spPr/>
    </dgm:pt>
    <dgm:pt modelId="{62758BB3-91EE-48AD-BFC7-A094942DE933}" type="pres">
      <dgm:prSet presAssocID="{FC9BB8BC-AF47-415C-BB66-E1457894F430}" presName="Name21" presStyleCnt="0"/>
      <dgm:spPr/>
    </dgm:pt>
    <dgm:pt modelId="{EB8E5DF8-3728-4B54-9D11-9AB381EBD62E}" type="pres">
      <dgm:prSet presAssocID="{FC9BB8BC-AF47-415C-BB66-E1457894F430}" presName="level2Shape" presStyleLbl="node2" presStyleIdx="0" presStyleCnt="2"/>
      <dgm:spPr/>
    </dgm:pt>
    <dgm:pt modelId="{85CB5867-0792-4CE1-9420-7CEAABEAF475}" type="pres">
      <dgm:prSet presAssocID="{FC9BB8BC-AF47-415C-BB66-E1457894F430}" presName="hierChild3" presStyleCnt="0"/>
      <dgm:spPr/>
    </dgm:pt>
    <dgm:pt modelId="{AF06A283-C9CC-479E-BEA6-BC505BE404A2}" type="pres">
      <dgm:prSet presAssocID="{72880559-C9D5-494F-8020-FBBB6657DCA1}" presName="Name19" presStyleLbl="parChTrans1D3" presStyleIdx="0" presStyleCnt="5"/>
      <dgm:spPr/>
    </dgm:pt>
    <dgm:pt modelId="{AF0A0EB2-6BC5-4FE1-B49E-32114831C27A}" type="pres">
      <dgm:prSet presAssocID="{36452B87-038C-4CA4-8512-952381F0DE52}" presName="Name21" presStyleCnt="0"/>
      <dgm:spPr/>
    </dgm:pt>
    <dgm:pt modelId="{372E4C0B-21FD-4214-B6B9-6CF3010E9B75}" type="pres">
      <dgm:prSet presAssocID="{36452B87-038C-4CA4-8512-952381F0DE52}" presName="level2Shape" presStyleLbl="node3" presStyleIdx="0" presStyleCnt="5"/>
      <dgm:spPr/>
    </dgm:pt>
    <dgm:pt modelId="{0C68BD78-DA19-44A6-8F10-58D2495EC971}" type="pres">
      <dgm:prSet presAssocID="{36452B87-038C-4CA4-8512-952381F0DE52}" presName="hierChild3" presStyleCnt="0"/>
      <dgm:spPr/>
    </dgm:pt>
    <dgm:pt modelId="{960382E0-7F07-46D4-8FEA-F383E1294AFE}" type="pres">
      <dgm:prSet presAssocID="{6AE06373-B880-47C1-8D3D-E08FE0547287}" presName="Name19" presStyleLbl="parChTrans1D3" presStyleIdx="1" presStyleCnt="5"/>
      <dgm:spPr/>
    </dgm:pt>
    <dgm:pt modelId="{8B2B9780-37B8-4C2D-8A42-930A22BF548A}" type="pres">
      <dgm:prSet presAssocID="{34B882F7-8F61-4DFA-9F7B-0428DAAE5F14}" presName="Name21" presStyleCnt="0"/>
      <dgm:spPr/>
    </dgm:pt>
    <dgm:pt modelId="{AF49893E-92DA-497F-9029-0819144DEE14}" type="pres">
      <dgm:prSet presAssocID="{34B882F7-8F61-4DFA-9F7B-0428DAAE5F14}" presName="level2Shape" presStyleLbl="node3" presStyleIdx="1" presStyleCnt="5"/>
      <dgm:spPr/>
    </dgm:pt>
    <dgm:pt modelId="{6C869448-201F-4AE4-967D-2B7B1B37FC92}" type="pres">
      <dgm:prSet presAssocID="{34B882F7-8F61-4DFA-9F7B-0428DAAE5F14}" presName="hierChild3" presStyleCnt="0"/>
      <dgm:spPr/>
    </dgm:pt>
    <dgm:pt modelId="{29F7C487-B008-419E-8629-DDD46BF851CB}" type="pres">
      <dgm:prSet presAssocID="{4DF77844-EC39-4F90-980C-C6F098280CE1}" presName="Name19" presStyleLbl="parChTrans1D2" presStyleIdx="1" presStyleCnt="2"/>
      <dgm:spPr/>
    </dgm:pt>
    <dgm:pt modelId="{228740AB-D37A-4E18-9C4B-1FB1D6237011}" type="pres">
      <dgm:prSet presAssocID="{58A8D34B-8273-4F6D-9E2D-FAD64D7EDB3A}" presName="Name21" presStyleCnt="0"/>
      <dgm:spPr/>
    </dgm:pt>
    <dgm:pt modelId="{B0D7AB50-9ED4-4109-9B2A-CD4236F9F682}" type="pres">
      <dgm:prSet presAssocID="{58A8D34B-8273-4F6D-9E2D-FAD64D7EDB3A}" presName="level2Shape" presStyleLbl="node2" presStyleIdx="1" presStyleCnt="2"/>
      <dgm:spPr/>
    </dgm:pt>
    <dgm:pt modelId="{D5AEEF36-CC44-4AD4-8687-BA39CAA5D63E}" type="pres">
      <dgm:prSet presAssocID="{58A8D34B-8273-4F6D-9E2D-FAD64D7EDB3A}" presName="hierChild3" presStyleCnt="0"/>
      <dgm:spPr/>
    </dgm:pt>
    <dgm:pt modelId="{34CB3DBE-3717-475A-9D41-635F162D7D34}" type="pres">
      <dgm:prSet presAssocID="{C29A0E42-5688-47BF-82F8-149F3747A6B7}" presName="Name19" presStyleLbl="parChTrans1D3" presStyleIdx="2" presStyleCnt="5"/>
      <dgm:spPr/>
    </dgm:pt>
    <dgm:pt modelId="{719284BC-2305-4064-A8E5-6014B00A81FB}" type="pres">
      <dgm:prSet presAssocID="{2FF13CC0-D2D2-4207-A672-B5A93FF25DB2}" presName="Name21" presStyleCnt="0"/>
      <dgm:spPr/>
    </dgm:pt>
    <dgm:pt modelId="{29A4E313-6DC1-4DAA-8025-3C18BAFD007F}" type="pres">
      <dgm:prSet presAssocID="{2FF13CC0-D2D2-4207-A672-B5A93FF25DB2}" presName="level2Shape" presStyleLbl="node3" presStyleIdx="2" presStyleCnt="5"/>
      <dgm:spPr/>
    </dgm:pt>
    <dgm:pt modelId="{E69D986B-4B8A-426F-9247-35A6C3563CA7}" type="pres">
      <dgm:prSet presAssocID="{2FF13CC0-D2D2-4207-A672-B5A93FF25DB2}" presName="hierChild3" presStyleCnt="0"/>
      <dgm:spPr/>
    </dgm:pt>
    <dgm:pt modelId="{C2B30365-C5C0-4533-8386-43C1568E5AC2}" type="pres">
      <dgm:prSet presAssocID="{CB7508B9-4383-4744-82E7-60CC2BD8C81F}" presName="Name19" presStyleLbl="parChTrans1D3" presStyleIdx="3" presStyleCnt="5"/>
      <dgm:spPr/>
    </dgm:pt>
    <dgm:pt modelId="{E852558B-8604-467B-8C5B-B3814A8B8CA5}" type="pres">
      <dgm:prSet presAssocID="{B6553131-05C4-4650-B3FE-0389B089009D}" presName="Name21" presStyleCnt="0"/>
      <dgm:spPr/>
    </dgm:pt>
    <dgm:pt modelId="{21BD12DF-C28D-43EB-8924-C8103EAB6CCF}" type="pres">
      <dgm:prSet presAssocID="{B6553131-05C4-4650-B3FE-0389B089009D}" presName="level2Shape" presStyleLbl="node3" presStyleIdx="3" presStyleCnt="5"/>
      <dgm:spPr/>
    </dgm:pt>
    <dgm:pt modelId="{31459701-05E7-4CFF-A1B9-F5F074B2A2B1}" type="pres">
      <dgm:prSet presAssocID="{B6553131-05C4-4650-B3FE-0389B089009D}" presName="hierChild3" presStyleCnt="0"/>
      <dgm:spPr/>
    </dgm:pt>
    <dgm:pt modelId="{3DD75F3F-AF71-42C1-BF2A-AF9A9778FB7A}" type="pres">
      <dgm:prSet presAssocID="{324A9197-C41E-46D9-843B-ABECCBB00FCF}" presName="Name19" presStyleLbl="parChTrans1D3" presStyleIdx="4" presStyleCnt="5"/>
      <dgm:spPr/>
    </dgm:pt>
    <dgm:pt modelId="{856FEF11-CEA6-4002-89B1-C2C640DB421E}" type="pres">
      <dgm:prSet presAssocID="{D6157EC0-9A3D-4CE3-8701-ED863054910F}" presName="Name21" presStyleCnt="0"/>
      <dgm:spPr/>
    </dgm:pt>
    <dgm:pt modelId="{72B89312-A2D6-43B8-ABF7-DF7F3DF1D303}" type="pres">
      <dgm:prSet presAssocID="{D6157EC0-9A3D-4CE3-8701-ED863054910F}" presName="level2Shape" presStyleLbl="node3" presStyleIdx="4" presStyleCnt="5" custScaleX="101189"/>
      <dgm:spPr/>
    </dgm:pt>
    <dgm:pt modelId="{16E8F9AB-38A2-44B3-AF2E-160B8169E126}" type="pres">
      <dgm:prSet presAssocID="{D6157EC0-9A3D-4CE3-8701-ED863054910F}" presName="hierChild3" presStyleCnt="0"/>
      <dgm:spPr/>
    </dgm:pt>
    <dgm:pt modelId="{98AC3B55-4D99-41C5-8648-9E7E817B80D6}" type="pres">
      <dgm:prSet presAssocID="{78C1DD6B-BAC4-4430-AA39-9352932D61EA}" presName="bgShapesFlow" presStyleCnt="0"/>
      <dgm:spPr/>
    </dgm:pt>
  </dgm:ptLst>
  <dgm:cxnLst>
    <dgm:cxn modelId="{914F2F09-449E-4B34-B4C8-16681E5A1E37}" type="presOf" srcId="{324A9197-C41E-46D9-843B-ABECCBB00FCF}" destId="{3DD75F3F-AF71-42C1-BF2A-AF9A9778FB7A}" srcOrd="0" destOrd="0" presId="urn:microsoft.com/office/officeart/2005/8/layout/hierarchy6"/>
    <dgm:cxn modelId="{2254F21E-3865-4A97-A40B-449A56EEB7C4}" type="presOf" srcId="{78C1DD6B-BAC4-4430-AA39-9352932D61EA}" destId="{7AA3FB9F-5246-4D64-BA87-4841080515CF}" srcOrd="0" destOrd="0" presId="urn:microsoft.com/office/officeart/2005/8/layout/hierarchy6"/>
    <dgm:cxn modelId="{F5199C2E-29BA-4055-AD3C-03B32E529029}" srcId="{58A8D34B-8273-4F6D-9E2D-FAD64D7EDB3A}" destId="{2FF13CC0-D2D2-4207-A672-B5A93FF25DB2}" srcOrd="0" destOrd="0" parTransId="{C29A0E42-5688-47BF-82F8-149F3747A6B7}" sibTransId="{1D86C2FA-D632-4B8B-8ABF-ABE4CAA84BE1}"/>
    <dgm:cxn modelId="{9C77E834-3510-4E6B-94AA-C852DD7DA918}" srcId="{FC9BB8BC-AF47-415C-BB66-E1457894F430}" destId="{36452B87-038C-4CA4-8512-952381F0DE52}" srcOrd="0" destOrd="0" parTransId="{72880559-C9D5-494F-8020-FBBB6657DCA1}" sibTransId="{1702F31A-DE13-4DAD-BD5A-CD98015DD2E8}"/>
    <dgm:cxn modelId="{68285737-FC86-4459-90DD-BA9441296B55}" type="presOf" srcId="{B6553131-05C4-4650-B3FE-0389B089009D}" destId="{21BD12DF-C28D-43EB-8924-C8103EAB6CCF}" srcOrd="0" destOrd="0" presId="urn:microsoft.com/office/officeart/2005/8/layout/hierarchy6"/>
    <dgm:cxn modelId="{318F4B39-6D6E-460C-AC19-B761F097F738}" type="presOf" srcId="{5D39C647-FBD6-43EC-882C-C0DA2E0A14F6}" destId="{60DFE300-2DC4-4DC5-B242-563686631821}" srcOrd="0" destOrd="0" presId="urn:microsoft.com/office/officeart/2005/8/layout/hierarchy6"/>
    <dgm:cxn modelId="{A7D23E3D-BAAF-4F7D-822F-30BED4F72B53}" type="presOf" srcId="{6AE06373-B880-47C1-8D3D-E08FE0547287}" destId="{960382E0-7F07-46D4-8FEA-F383E1294AFE}" srcOrd="0" destOrd="0" presId="urn:microsoft.com/office/officeart/2005/8/layout/hierarchy6"/>
    <dgm:cxn modelId="{C38A4F40-0289-4F85-900A-C455615F217A}" srcId="{FC9BB8BC-AF47-415C-BB66-E1457894F430}" destId="{34B882F7-8F61-4DFA-9F7B-0428DAAE5F14}" srcOrd="1" destOrd="0" parTransId="{6AE06373-B880-47C1-8D3D-E08FE0547287}" sibTransId="{3E23FED4-BE52-417B-B71F-22B5001CF8D3}"/>
    <dgm:cxn modelId="{E76DE258-7704-46F5-9A0B-49118F9C9177}" type="presOf" srcId="{72880559-C9D5-494F-8020-FBBB6657DCA1}" destId="{AF06A283-C9CC-479E-BEA6-BC505BE404A2}" srcOrd="0" destOrd="0" presId="urn:microsoft.com/office/officeart/2005/8/layout/hierarchy6"/>
    <dgm:cxn modelId="{F87C677B-AF80-4B09-BCC0-763CE909C038}" srcId="{D6108549-CA41-4128-BB32-EB3BF4B234C1}" destId="{58A8D34B-8273-4F6D-9E2D-FAD64D7EDB3A}" srcOrd="1" destOrd="0" parTransId="{4DF77844-EC39-4F90-980C-C6F098280CE1}" sibTransId="{12BAD5EA-F122-4A5B-99EE-A1B8986232C0}"/>
    <dgm:cxn modelId="{C6C0AE7D-377A-48CC-9A37-170635B27407}" type="presOf" srcId="{34B882F7-8F61-4DFA-9F7B-0428DAAE5F14}" destId="{AF49893E-92DA-497F-9029-0819144DEE14}" srcOrd="0" destOrd="0" presId="urn:microsoft.com/office/officeart/2005/8/layout/hierarchy6"/>
    <dgm:cxn modelId="{90656588-4A18-4475-A52B-BB1E8888711C}" type="presOf" srcId="{FC9BB8BC-AF47-415C-BB66-E1457894F430}" destId="{EB8E5DF8-3728-4B54-9D11-9AB381EBD62E}" srcOrd="0" destOrd="0" presId="urn:microsoft.com/office/officeart/2005/8/layout/hierarchy6"/>
    <dgm:cxn modelId="{AD254395-0AA7-4408-81AF-DC776116D462}" type="presOf" srcId="{D6157EC0-9A3D-4CE3-8701-ED863054910F}" destId="{72B89312-A2D6-43B8-ABF7-DF7F3DF1D303}" srcOrd="0" destOrd="0" presId="urn:microsoft.com/office/officeart/2005/8/layout/hierarchy6"/>
    <dgm:cxn modelId="{CFDBCF9F-0D06-4B3A-BD4C-6B18A9F38E7D}" type="presOf" srcId="{CB7508B9-4383-4744-82E7-60CC2BD8C81F}" destId="{C2B30365-C5C0-4533-8386-43C1568E5AC2}" srcOrd="0" destOrd="0" presId="urn:microsoft.com/office/officeart/2005/8/layout/hierarchy6"/>
    <dgm:cxn modelId="{57ED05A5-A8B4-4815-B155-0EC942515743}" type="presOf" srcId="{4DF77844-EC39-4F90-980C-C6F098280CE1}" destId="{29F7C487-B008-419E-8629-DDD46BF851CB}" srcOrd="0" destOrd="0" presId="urn:microsoft.com/office/officeart/2005/8/layout/hierarchy6"/>
    <dgm:cxn modelId="{45A9E6A7-4129-4AC0-AC82-BB7D83455D05}" srcId="{58A8D34B-8273-4F6D-9E2D-FAD64D7EDB3A}" destId="{D6157EC0-9A3D-4CE3-8701-ED863054910F}" srcOrd="2" destOrd="0" parTransId="{324A9197-C41E-46D9-843B-ABECCBB00FCF}" sibTransId="{6EC38261-64AE-4FDD-9D9E-3FA66CE46B5E}"/>
    <dgm:cxn modelId="{A4BBB3A8-CDF8-4215-B5C3-273E0D60FE8B}" srcId="{78C1DD6B-BAC4-4430-AA39-9352932D61EA}" destId="{D6108549-CA41-4128-BB32-EB3BF4B234C1}" srcOrd="0" destOrd="0" parTransId="{4DFD26DC-DAD6-453A-B575-95F4762B3A5B}" sibTransId="{96284CE9-5CEC-4812-8D61-17A2FB3550D0}"/>
    <dgm:cxn modelId="{D1AE7EAB-B251-4E2B-A50B-3667CC44D9B0}" type="presOf" srcId="{58A8D34B-8273-4F6D-9E2D-FAD64D7EDB3A}" destId="{B0D7AB50-9ED4-4109-9B2A-CD4236F9F682}" srcOrd="0" destOrd="0" presId="urn:microsoft.com/office/officeart/2005/8/layout/hierarchy6"/>
    <dgm:cxn modelId="{F84879AC-427A-4F48-AFA9-6A4A6DE7A708}" type="presOf" srcId="{D6108549-CA41-4128-BB32-EB3BF4B234C1}" destId="{83DB4701-3616-4DCA-8DA5-08C72E5D848D}" srcOrd="0" destOrd="0" presId="urn:microsoft.com/office/officeart/2005/8/layout/hierarchy6"/>
    <dgm:cxn modelId="{8A9BF8AF-3211-4B86-AF54-AFC948A8B20E}" type="presOf" srcId="{C29A0E42-5688-47BF-82F8-149F3747A6B7}" destId="{34CB3DBE-3717-475A-9D41-635F162D7D34}" srcOrd="0" destOrd="0" presId="urn:microsoft.com/office/officeart/2005/8/layout/hierarchy6"/>
    <dgm:cxn modelId="{3701F7B2-1390-4132-9C75-CA612B9AD545}" type="presOf" srcId="{2FF13CC0-D2D2-4207-A672-B5A93FF25DB2}" destId="{29A4E313-6DC1-4DAA-8025-3C18BAFD007F}" srcOrd="0" destOrd="0" presId="urn:microsoft.com/office/officeart/2005/8/layout/hierarchy6"/>
    <dgm:cxn modelId="{264D00C3-5698-4D2E-A7ED-71E14580729F}" srcId="{D6108549-CA41-4128-BB32-EB3BF4B234C1}" destId="{FC9BB8BC-AF47-415C-BB66-E1457894F430}" srcOrd="0" destOrd="0" parTransId="{5D39C647-FBD6-43EC-882C-C0DA2E0A14F6}" sibTransId="{503097EE-528C-4DDF-B617-713BE6DC1E7E}"/>
    <dgm:cxn modelId="{EA03C3CA-9D53-4039-94FD-173990061F9E}" type="presOf" srcId="{36452B87-038C-4CA4-8512-952381F0DE52}" destId="{372E4C0B-21FD-4214-B6B9-6CF3010E9B75}" srcOrd="0" destOrd="0" presId="urn:microsoft.com/office/officeart/2005/8/layout/hierarchy6"/>
    <dgm:cxn modelId="{E2EB96DD-4C54-4F91-8B19-B54B4C9B8EA5}" srcId="{58A8D34B-8273-4F6D-9E2D-FAD64D7EDB3A}" destId="{B6553131-05C4-4650-B3FE-0389B089009D}" srcOrd="1" destOrd="0" parTransId="{CB7508B9-4383-4744-82E7-60CC2BD8C81F}" sibTransId="{DFAA5869-53F3-4F3E-A3FE-059EF0BAA5FD}"/>
    <dgm:cxn modelId="{12804738-1BA5-4228-AEF1-F5C6D49EFCE0}" type="presParOf" srcId="{7AA3FB9F-5246-4D64-BA87-4841080515CF}" destId="{13A879CD-35ED-46D2-81F4-E42489683D0D}" srcOrd="0" destOrd="0" presId="urn:microsoft.com/office/officeart/2005/8/layout/hierarchy6"/>
    <dgm:cxn modelId="{0DE52678-973D-4A04-B84C-583C9BA6907A}" type="presParOf" srcId="{13A879CD-35ED-46D2-81F4-E42489683D0D}" destId="{4CFE90DA-DD3D-4ACC-B1E5-FA5582EEEA8A}" srcOrd="0" destOrd="0" presId="urn:microsoft.com/office/officeart/2005/8/layout/hierarchy6"/>
    <dgm:cxn modelId="{408926F1-A401-4250-BAC7-B7D393950908}" type="presParOf" srcId="{4CFE90DA-DD3D-4ACC-B1E5-FA5582EEEA8A}" destId="{DB6FB5AB-D28B-43E1-8289-D6119DA033BC}" srcOrd="0" destOrd="0" presId="urn:microsoft.com/office/officeart/2005/8/layout/hierarchy6"/>
    <dgm:cxn modelId="{57222877-E9B7-48BC-BEBE-54A8025DA0A5}" type="presParOf" srcId="{DB6FB5AB-D28B-43E1-8289-D6119DA033BC}" destId="{83DB4701-3616-4DCA-8DA5-08C72E5D848D}" srcOrd="0" destOrd="0" presId="urn:microsoft.com/office/officeart/2005/8/layout/hierarchy6"/>
    <dgm:cxn modelId="{43E4FDBB-D2F3-4243-866A-A2751017E70F}" type="presParOf" srcId="{DB6FB5AB-D28B-43E1-8289-D6119DA033BC}" destId="{A230D07A-9B46-41EA-94F1-06C3A40F61E6}" srcOrd="1" destOrd="0" presId="urn:microsoft.com/office/officeart/2005/8/layout/hierarchy6"/>
    <dgm:cxn modelId="{704C4909-AF53-4307-BC10-299E84B9E6B9}" type="presParOf" srcId="{A230D07A-9B46-41EA-94F1-06C3A40F61E6}" destId="{60DFE300-2DC4-4DC5-B242-563686631821}" srcOrd="0" destOrd="0" presId="urn:microsoft.com/office/officeart/2005/8/layout/hierarchy6"/>
    <dgm:cxn modelId="{6821A219-D0F8-46E4-9A7B-FB4278BBE6A1}" type="presParOf" srcId="{A230D07A-9B46-41EA-94F1-06C3A40F61E6}" destId="{62758BB3-91EE-48AD-BFC7-A094942DE933}" srcOrd="1" destOrd="0" presId="urn:microsoft.com/office/officeart/2005/8/layout/hierarchy6"/>
    <dgm:cxn modelId="{78631CD3-320C-4686-AA2F-9774E54A7D25}" type="presParOf" srcId="{62758BB3-91EE-48AD-BFC7-A094942DE933}" destId="{EB8E5DF8-3728-4B54-9D11-9AB381EBD62E}" srcOrd="0" destOrd="0" presId="urn:microsoft.com/office/officeart/2005/8/layout/hierarchy6"/>
    <dgm:cxn modelId="{D2F60E60-CA08-4ACB-AD77-EC7389FC63CA}" type="presParOf" srcId="{62758BB3-91EE-48AD-BFC7-A094942DE933}" destId="{85CB5867-0792-4CE1-9420-7CEAABEAF475}" srcOrd="1" destOrd="0" presId="urn:microsoft.com/office/officeart/2005/8/layout/hierarchy6"/>
    <dgm:cxn modelId="{B4886123-AEE5-4397-8DE9-E6662921D4B8}" type="presParOf" srcId="{85CB5867-0792-4CE1-9420-7CEAABEAF475}" destId="{AF06A283-C9CC-479E-BEA6-BC505BE404A2}" srcOrd="0" destOrd="0" presId="urn:microsoft.com/office/officeart/2005/8/layout/hierarchy6"/>
    <dgm:cxn modelId="{F0961832-9CFA-46FB-AE0F-BCD561010ED1}" type="presParOf" srcId="{85CB5867-0792-4CE1-9420-7CEAABEAF475}" destId="{AF0A0EB2-6BC5-4FE1-B49E-32114831C27A}" srcOrd="1" destOrd="0" presId="urn:microsoft.com/office/officeart/2005/8/layout/hierarchy6"/>
    <dgm:cxn modelId="{5ED61240-8A0C-44D1-BBC5-25FFDD4ED42D}" type="presParOf" srcId="{AF0A0EB2-6BC5-4FE1-B49E-32114831C27A}" destId="{372E4C0B-21FD-4214-B6B9-6CF3010E9B75}" srcOrd="0" destOrd="0" presId="urn:microsoft.com/office/officeart/2005/8/layout/hierarchy6"/>
    <dgm:cxn modelId="{2B35593B-DD70-43AE-9769-0B9686C5B07E}" type="presParOf" srcId="{AF0A0EB2-6BC5-4FE1-B49E-32114831C27A}" destId="{0C68BD78-DA19-44A6-8F10-58D2495EC971}" srcOrd="1" destOrd="0" presId="urn:microsoft.com/office/officeart/2005/8/layout/hierarchy6"/>
    <dgm:cxn modelId="{6DB5C4DB-6085-4158-A1F2-D44E8116DCFB}" type="presParOf" srcId="{85CB5867-0792-4CE1-9420-7CEAABEAF475}" destId="{960382E0-7F07-46D4-8FEA-F383E1294AFE}" srcOrd="2" destOrd="0" presId="urn:microsoft.com/office/officeart/2005/8/layout/hierarchy6"/>
    <dgm:cxn modelId="{1A790AF3-8DE7-4A25-8927-2F24C2C26253}" type="presParOf" srcId="{85CB5867-0792-4CE1-9420-7CEAABEAF475}" destId="{8B2B9780-37B8-4C2D-8A42-930A22BF548A}" srcOrd="3" destOrd="0" presId="urn:microsoft.com/office/officeart/2005/8/layout/hierarchy6"/>
    <dgm:cxn modelId="{49F336A7-878C-4C5E-97C9-2D4D1594A509}" type="presParOf" srcId="{8B2B9780-37B8-4C2D-8A42-930A22BF548A}" destId="{AF49893E-92DA-497F-9029-0819144DEE14}" srcOrd="0" destOrd="0" presId="urn:microsoft.com/office/officeart/2005/8/layout/hierarchy6"/>
    <dgm:cxn modelId="{171368B2-C079-43EC-A645-5248A6AA2739}" type="presParOf" srcId="{8B2B9780-37B8-4C2D-8A42-930A22BF548A}" destId="{6C869448-201F-4AE4-967D-2B7B1B37FC92}" srcOrd="1" destOrd="0" presId="urn:microsoft.com/office/officeart/2005/8/layout/hierarchy6"/>
    <dgm:cxn modelId="{31E3AD8C-4377-4301-B08F-1A07DFA5DDC9}" type="presParOf" srcId="{A230D07A-9B46-41EA-94F1-06C3A40F61E6}" destId="{29F7C487-B008-419E-8629-DDD46BF851CB}" srcOrd="2" destOrd="0" presId="urn:microsoft.com/office/officeart/2005/8/layout/hierarchy6"/>
    <dgm:cxn modelId="{8473DFC7-E69A-4009-8E32-9B91836EECDE}" type="presParOf" srcId="{A230D07A-9B46-41EA-94F1-06C3A40F61E6}" destId="{228740AB-D37A-4E18-9C4B-1FB1D6237011}" srcOrd="3" destOrd="0" presId="urn:microsoft.com/office/officeart/2005/8/layout/hierarchy6"/>
    <dgm:cxn modelId="{DF68B09F-C431-4F63-81B6-C40FF0306367}" type="presParOf" srcId="{228740AB-D37A-4E18-9C4B-1FB1D6237011}" destId="{B0D7AB50-9ED4-4109-9B2A-CD4236F9F682}" srcOrd="0" destOrd="0" presId="urn:microsoft.com/office/officeart/2005/8/layout/hierarchy6"/>
    <dgm:cxn modelId="{37EFE357-E57E-4010-AE84-BCDDB366FBF4}" type="presParOf" srcId="{228740AB-D37A-4E18-9C4B-1FB1D6237011}" destId="{D5AEEF36-CC44-4AD4-8687-BA39CAA5D63E}" srcOrd="1" destOrd="0" presId="urn:microsoft.com/office/officeart/2005/8/layout/hierarchy6"/>
    <dgm:cxn modelId="{90C1DF70-D0DE-4CDE-A705-C8DD8E0337BF}" type="presParOf" srcId="{D5AEEF36-CC44-4AD4-8687-BA39CAA5D63E}" destId="{34CB3DBE-3717-475A-9D41-635F162D7D34}" srcOrd="0" destOrd="0" presId="urn:microsoft.com/office/officeart/2005/8/layout/hierarchy6"/>
    <dgm:cxn modelId="{C4028780-443A-46E4-B4F3-945E7A8A3016}" type="presParOf" srcId="{D5AEEF36-CC44-4AD4-8687-BA39CAA5D63E}" destId="{719284BC-2305-4064-A8E5-6014B00A81FB}" srcOrd="1" destOrd="0" presId="urn:microsoft.com/office/officeart/2005/8/layout/hierarchy6"/>
    <dgm:cxn modelId="{63B37630-5DF8-4CFA-8C0E-0720CB05492C}" type="presParOf" srcId="{719284BC-2305-4064-A8E5-6014B00A81FB}" destId="{29A4E313-6DC1-4DAA-8025-3C18BAFD007F}" srcOrd="0" destOrd="0" presId="urn:microsoft.com/office/officeart/2005/8/layout/hierarchy6"/>
    <dgm:cxn modelId="{D5B04491-FFB8-4E93-AC1C-E9BD0E8A1740}" type="presParOf" srcId="{719284BC-2305-4064-A8E5-6014B00A81FB}" destId="{E69D986B-4B8A-426F-9247-35A6C3563CA7}" srcOrd="1" destOrd="0" presId="urn:microsoft.com/office/officeart/2005/8/layout/hierarchy6"/>
    <dgm:cxn modelId="{7713C231-3F1C-4944-AE72-751509846A82}" type="presParOf" srcId="{D5AEEF36-CC44-4AD4-8687-BA39CAA5D63E}" destId="{C2B30365-C5C0-4533-8386-43C1568E5AC2}" srcOrd="2" destOrd="0" presId="urn:microsoft.com/office/officeart/2005/8/layout/hierarchy6"/>
    <dgm:cxn modelId="{92469725-DC8E-4F52-A58D-682D9817C9DE}" type="presParOf" srcId="{D5AEEF36-CC44-4AD4-8687-BA39CAA5D63E}" destId="{E852558B-8604-467B-8C5B-B3814A8B8CA5}" srcOrd="3" destOrd="0" presId="urn:microsoft.com/office/officeart/2005/8/layout/hierarchy6"/>
    <dgm:cxn modelId="{CFB3E37A-A259-4893-A45C-46291251FE3D}" type="presParOf" srcId="{E852558B-8604-467B-8C5B-B3814A8B8CA5}" destId="{21BD12DF-C28D-43EB-8924-C8103EAB6CCF}" srcOrd="0" destOrd="0" presId="urn:microsoft.com/office/officeart/2005/8/layout/hierarchy6"/>
    <dgm:cxn modelId="{8DF74F51-DECE-4B62-960B-EE278403CE2E}" type="presParOf" srcId="{E852558B-8604-467B-8C5B-B3814A8B8CA5}" destId="{31459701-05E7-4CFF-A1B9-F5F074B2A2B1}" srcOrd="1" destOrd="0" presId="urn:microsoft.com/office/officeart/2005/8/layout/hierarchy6"/>
    <dgm:cxn modelId="{D870A4F4-0FBE-46DB-95FC-AD15299E49FB}" type="presParOf" srcId="{D5AEEF36-CC44-4AD4-8687-BA39CAA5D63E}" destId="{3DD75F3F-AF71-42C1-BF2A-AF9A9778FB7A}" srcOrd="4" destOrd="0" presId="urn:microsoft.com/office/officeart/2005/8/layout/hierarchy6"/>
    <dgm:cxn modelId="{4DA49857-33F0-45DF-8285-C09A355EAB6E}" type="presParOf" srcId="{D5AEEF36-CC44-4AD4-8687-BA39CAA5D63E}" destId="{856FEF11-CEA6-4002-89B1-C2C640DB421E}" srcOrd="5" destOrd="0" presId="urn:microsoft.com/office/officeart/2005/8/layout/hierarchy6"/>
    <dgm:cxn modelId="{07E56063-89F9-4A43-AA2F-A685548AF34F}" type="presParOf" srcId="{856FEF11-CEA6-4002-89B1-C2C640DB421E}" destId="{72B89312-A2D6-43B8-ABF7-DF7F3DF1D303}" srcOrd="0" destOrd="0" presId="urn:microsoft.com/office/officeart/2005/8/layout/hierarchy6"/>
    <dgm:cxn modelId="{1B062E76-2F67-463C-89F4-540AD7F38945}" type="presParOf" srcId="{856FEF11-CEA6-4002-89B1-C2C640DB421E}" destId="{16E8F9AB-38A2-44B3-AF2E-160B8169E126}" srcOrd="1" destOrd="0" presId="urn:microsoft.com/office/officeart/2005/8/layout/hierarchy6"/>
    <dgm:cxn modelId="{0CD4731B-63C3-4442-9788-64402F880969}" type="presParOf" srcId="{7AA3FB9F-5246-4D64-BA87-4841080515CF}" destId="{98AC3B55-4D99-41C5-8648-9E7E817B80D6}" srcOrd="1" destOrd="0" presId="urn:microsoft.com/office/officeart/2005/8/layout/hierarchy6"/>
  </dgm:cxnLst>
  <dgm:bg>
    <a:solidFill>
      <a:schemeClr val="bg1"/>
    </a:solidFill>
  </dgm:bg>
  <dgm:whole>
    <a:ln w="28575">
      <a:noFill/>
    </a:ln>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EC8B1A-58C8-4256-8A30-6CE6BFFC0B96}">
      <dsp:nvSpPr>
        <dsp:cNvPr id="0" name=""/>
        <dsp:cNvSpPr/>
      </dsp:nvSpPr>
      <dsp:spPr>
        <a:xfrm>
          <a:off x="273" y="1391152"/>
          <a:ext cx="2434017" cy="670622"/>
        </a:xfrm>
        <a:prstGeom prst="ellipse">
          <a:avLst/>
        </a:prstGeom>
        <a:solidFill>
          <a:schemeClr val="accent3">
            <a:lumMod val="75000"/>
          </a:schemeClr>
        </a:solidFill>
        <a:ln>
          <a:solidFill>
            <a:schemeClr val="tx1"/>
          </a:solidFill>
        </a:ln>
        <a:effectLst>
          <a:outerShdw blurRad="508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AA company</a:t>
          </a:r>
        </a:p>
      </dsp:txBody>
      <dsp:txXfrm>
        <a:off x="356727" y="1489362"/>
        <a:ext cx="1721109" cy="474202"/>
      </dsp:txXfrm>
    </dsp:sp>
    <dsp:sp modelId="{E67CC5C7-FCD0-49CB-942D-8418ECA31D7D}">
      <dsp:nvSpPr>
        <dsp:cNvPr id="0" name=""/>
        <dsp:cNvSpPr/>
      </dsp:nvSpPr>
      <dsp:spPr>
        <a:xfrm>
          <a:off x="956570" y="2158066"/>
          <a:ext cx="522842" cy="255866"/>
        </a:xfrm>
        <a:prstGeom prst="mathPlus">
          <a:avLst/>
        </a:prstGeom>
        <a:gradFill rotWithShape="0">
          <a:gsLst>
            <a:gs pos="0">
              <a:schemeClr val="accent3">
                <a:hueOff val="0"/>
                <a:satOff val="0"/>
                <a:lumOff val="0"/>
                <a:alphaOff val="0"/>
                <a:tint val="43000"/>
                <a:satMod val="165000"/>
              </a:schemeClr>
            </a:gs>
            <a:gs pos="55000">
              <a:schemeClr val="accent3">
                <a:hueOff val="0"/>
                <a:satOff val="0"/>
                <a:lumOff val="0"/>
                <a:alphaOff val="0"/>
                <a:tint val="83000"/>
                <a:satMod val="155000"/>
              </a:schemeClr>
            </a:gs>
            <a:gs pos="100000">
              <a:schemeClr val="accent3">
                <a:hueOff val="0"/>
                <a:satOff val="0"/>
                <a:lumOff val="0"/>
                <a:alphaOff val="0"/>
                <a:shade val="85000"/>
              </a:schemeClr>
            </a:gs>
          </a:gsLst>
          <a:path path="circle">
            <a:fillToRect l="-40000" t="-90000" r="140000" b="190000"/>
          </a:path>
        </a:gradFill>
        <a:ln>
          <a:solidFill>
            <a:schemeClr val="tx1"/>
          </a:solidFill>
        </a:ln>
        <a:effectLst>
          <a:outerShdw blurRad="508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025873" y="2255909"/>
        <a:ext cx="384236" cy="60180"/>
      </dsp:txXfrm>
    </dsp:sp>
    <dsp:sp modelId="{ABC763D1-DFC7-4B31-81EA-9603BD0D148E}">
      <dsp:nvSpPr>
        <dsp:cNvPr id="0" name=""/>
        <dsp:cNvSpPr/>
      </dsp:nvSpPr>
      <dsp:spPr>
        <a:xfrm>
          <a:off x="273" y="2499215"/>
          <a:ext cx="2434017" cy="670622"/>
        </a:xfrm>
        <a:prstGeom prst="ellipse">
          <a:avLst/>
        </a:prstGeom>
        <a:solidFill>
          <a:srgbClr val="00B050"/>
        </a:solidFill>
        <a:ln>
          <a:solidFill>
            <a:schemeClr val="tx1"/>
          </a:solidFill>
        </a:ln>
        <a:effectLst>
          <a:outerShdw blurRad="508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BB company</a:t>
          </a:r>
        </a:p>
      </dsp:txBody>
      <dsp:txXfrm>
        <a:off x="356727" y="2597425"/>
        <a:ext cx="1721109" cy="474202"/>
      </dsp:txXfrm>
    </dsp:sp>
    <dsp:sp modelId="{3FBA6219-CFB4-4DCF-9DFB-898DF1EB5E68}">
      <dsp:nvSpPr>
        <dsp:cNvPr id="0" name=""/>
        <dsp:cNvSpPr/>
      </dsp:nvSpPr>
      <dsp:spPr>
        <a:xfrm rot="4424">
          <a:off x="2992698" y="2119163"/>
          <a:ext cx="790024" cy="328249"/>
        </a:xfrm>
        <a:prstGeom prst="rightArrow">
          <a:avLst>
            <a:gd name="adj1" fmla="val 60000"/>
            <a:gd name="adj2" fmla="val 50000"/>
          </a:avLst>
        </a:prstGeom>
        <a:solidFill>
          <a:schemeClr val="accent3">
            <a:lumMod val="50000"/>
          </a:schemeClr>
        </a:solidFill>
        <a:ln>
          <a:solidFill>
            <a:schemeClr val="tx1"/>
          </a:solidFill>
        </a:ln>
        <a:effectLst>
          <a:outerShdw blurRad="508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a:off x="2992698" y="2184750"/>
        <a:ext cx="691549" cy="196949"/>
      </dsp:txXfrm>
    </dsp:sp>
    <dsp:sp modelId="{4DD02B10-D9A9-43F6-936A-81DD57A8CC8B}">
      <dsp:nvSpPr>
        <dsp:cNvPr id="0" name=""/>
        <dsp:cNvSpPr/>
      </dsp:nvSpPr>
      <dsp:spPr>
        <a:xfrm>
          <a:off x="4285589" y="1558903"/>
          <a:ext cx="2419027" cy="1454192"/>
        </a:xfrm>
        <a:prstGeom prst="ellipse">
          <a:avLst/>
        </a:prstGeom>
        <a:solidFill>
          <a:schemeClr val="accent3">
            <a:lumMod val="50000"/>
          </a:schemeClr>
        </a:solidFill>
        <a:ln>
          <a:solidFill>
            <a:schemeClr val="tx1"/>
          </a:solidFill>
        </a:ln>
        <a:effectLst>
          <a:outerShdw blurRad="508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a:t>CC  company</a:t>
          </a:r>
        </a:p>
      </dsp:txBody>
      <dsp:txXfrm>
        <a:off x="4639847" y="1771864"/>
        <a:ext cx="1710511" cy="102827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DB4701-3616-4DCA-8DA5-08C72E5D848D}">
      <dsp:nvSpPr>
        <dsp:cNvPr id="0" name=""/>
        <dsp:cNvSpPr/>
      </dsp:nvSpPr>
      <dsp:spPr>
        <a:xfrm>
          <a:off x="3018523" y="723170"/>
          <a:ext cx="1324049" cy="882699"/>
        </a:xfrm>
        <a:prstGeom prst="roundRect">
          <a:avLst>
            <a:gd name="adj" fmla="val 10000"/>
          </a:avLst>
        </a:prstGeom>
        <a:solidFill>
          <a:schemeClr val="accent2">
            <a:lumMod val="75000"/>
          </a:schemeClr>
        </a:solidFill>
        <a:ln w="12700">
          <a:solidFill>
            <a:schemeClr val="tx1"/>
          </a:solidFill>
        </a:ln>
        <a:effectLst>
          <a:outerShdw blurRad="508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a:t>Types of  Takeover </a:t>
          </a:r>
        </a:p>
      </dsp:txBody>
      <dsp:txXfrm>
        <a:off x="3044376" y="749023"/>
        <a:ext cx="1272343" cy="830993"/>
      </dsp:txXfrm>
    </dsp:sp>
    <dsp:sp modelId="{60DFE300-2DC4-4DC5-B242-563686631821}">
      <dsp:nvSpPr>
        <dsp:cNvPr id="0" name=""/>
        <dsp:cNvSpPr/>
      </dsp:nvSpPr>
      <dsp:spPr>
        <a:xfrm>
          <a:off x="1525032" y="1605870"/>
          <a:ext cx="2155516" cy="353079"/>
        </a:xfrm>
        <a:custGeom>
          <a:avLst/>
          <a:gdLst/>
          <a:ahLst/>
          <a:cxnLst/>
          <a:rect l="0" t="0" r="0" b="0"/>
          <a:pathLst>
            <a:path>
              <a:moveTo>
                <a:pt x="2155516" y="0"/>
              </a:moveTo>
              <a:lnTo>
                <a:pt x="2155516" y="176539"/>
              </a:lnTo>
              <a:lnTo>
                <a:pt x="0" y="176539"/>
              </a:lnTo>
              <a:lnTo>
                <a:pt x="0" y="353079"/>
              </a:lnTo>
            </a:path>
          </a:pathLst>
        </a:custGeom>
        <a:noFill/>
        <a:ln w="9525" cap="flat" cmpd="sng" algn="ctr">
          <a:solidFill>
            <a:schemeClr val="accent4">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EB8E5DF8-3728-4B54-9D11-9AB381EBD62E}">
      <dsp:nvSpPr>
        <dsp:cNvPr id="0" name=""/>
        <dsp:cNvSpPr/>
      </dsp:nvSpPr>
      <dsp:spPr>
        <a:xfrm>
          <a:off x="863007" y="1958950"/>
          <a:ext cx="1324049" cy="882699"/>
        </a:xfrm>
        <a:prstGeom prst="roundRect">
          <a:avLst>
            <a:gd name="adj" fmla="val 10000"/>
          </a:avLst>
        </a:prstGeom>
        <a:solidFill>
          <a:srgbClr val="0070C0"/>
        </a:solidFill>
        <a:ln w="12700">
          <a:solidFill>
            <a:schemeClr val="tx1"/>
          </a:solidFill>
        </a:ln>
        <a:effectLst>
          <a:outerShdw blurRad="508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a:t>Legal Context</a:t>
          </a:r>
        </a:p>
      </dsp:txBody>
      <dsp:txXfrm>
        <a:off x="888860" y="1984803"/>
        <a:ext cx="1272343" cy="830993"/>
      </dsp:txXfrm>
    </dsp:sp>
    <dsp:sp modelId="{AF06A283-C9CC-479E-BEA6-BC505BE404A2}">
      <dsp:nvSpPr>
        <dsp:cNvPr id="0" name=""/>
        <dsp:cNvSpPr/>
      </dsp:nvSpPr>
      <dsp:spPr>
        <a:xfrm>
          <a:off x="664400" y="2841649"/>
          <a:ext cx="860632" cy="353079"/>
        </a:xfrm>
        <a:custGeom>
          <a:avLst/>
          <a:gdLst/>
          <a:ahLst/>
          <a:cxnLst/>
          <a:rect l="0" t="0" r="0" b="0"/>
          <a:pathLst>
            <a:path>
              <a:moveTo>
                <a:pt x="860632" y="0"/>
              </a:moveTo>
              <a:lnTo>
                <a:pt x="860632" y="176539"/>
              </a:lnTo>
              <a:lnTo>
                <a:pt x="0" y="176539"/>
              </a:lnTo>
              <a:lnTo>
                <a:pt x="0" y="353079"/>
              </a:lnTo>
            </a:path>
          </a:pathLst>
        </a:custGeom>
        <a:noFill/>
        <a:ln w="9525" cap="flat" cmpd="sng" algn="ctr">
          <a:solidFill>
            <a:schemeClr val="accent5">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372E4C0B-21FD-4214-B6B9-6CF3010E9B75}">
      <dsp:nvSpPr>
        <dsp:cNvPr id="0" name=""/>
        <dsp:cNvSpPr/>
      </dsp:nvSpPr>
      <dsp:spPr>
        <a:xfrm>
          <a:off x="2375" y="3194729"/>
          <a:ext cx="1324049" cy="882699"/>
        </a:xfrm>
        <a:prstGeom prst="roundRect">
          <a:avLst>
            <a:gd name="adj" fmla="val 10000"/>
          </a:avLst>
        </a:prstGeom>
        <a:solidFill>
          <a:schemeClr val="accent3">
            <a:lumMod val="75000"/>
          </a:schemeClr>
        </a:solidFill>
        <a:ln w="12700">
          <a:solidFill>
            <a:schemeClr val="tx1"/>
          </a:solidFill>
        </a:ln>
        <a:effectLst>
          <a:outerShdw blurRad="508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a:t>Friendly Takeover</a:t>
          </a:r>
        </a:p>
      </dsp:txBody>
      <dsp:txXfrm>
        <a:off x="28228" y="3220582"/>
        <a:ext cx="1272343" cy="830993"/>
      </dsp:txXfrm>
    </dsp:sp>
    <dsp:sp modelId="{960382E0-7F07-46D4-8FEA-F383E1294AFE}">
      <dsp:nvSpPr>
        <dsp:cNvPr id="0" name=""/>
        <dsp:cNvSpPr/>
      </dsp:nvSpPr>
      <dsp:spPr>
        <a:xfrm>
          <a:off x="1525032" y="2841649"/>
          <a:ext cx="860632" cy="353079"/>
        </a:xfrm>
        <a:custGeom>
          <a:avLst/>
          <a:gdLst/>
          <a:ahLst/>
          <a:cxnLst/>
          <a:rect l="0" t="0" r="0" b="0"/>
          <a:pathLst>
            <a:path>
              <a:moveTo>
                <a:pt x="0" y="0"/>
              </a:moveTo>
              <a:lnTo>
                <a:pt x="0" y="176539"/>
              </a:lnTo>
              <a:lnTo>
                <a:pt x="860632" y="176539"/>
              </a:lnTo>
              <a:lnTo>
                <a:pt x="860632" y="353079"/>
              </a:lnTo>
            </a:path>
          </a:pathLst>
        </a:custGeom>
        <a:noFill/>
        <a:ln w="9525" cap="flat" cmpd="sng" algn="ctr">
          <a:solidFill>
            <a:schemeClr val="accent5">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AF49893E-92DA-497F-9029-0819144DEE14}">
      <dsp:nvSpPr>
        <dsp:cNvPr id="0" name=""/>
        <dsp:cNvSpPr/>
      </dsp:nvSpPr>
      <dsp:spPr>
        <a:xfrm>
          <a:off x="1723639" y="3194729"/>
          <a:ext cx="1324049" cy="882699"/>
        </a:xfrm>
        <a:prstGeom prst="roundRect">
          <a:avLst>
            <a:gd name="adj" fmla="val 10000"/>
          </a:avLst>
        </a:prstGeom>
        <a:solidFill>
          <a:schemeClr val="accent3">
            <a:lumMod val="75000"/>
          </a:schemeClr>
        </a:solidFill>
        <a:ln w="12700">
          <a:solidFill>
            <a:schemeClr val="tx1"/>
          </a:solidFill>
        </a:ln>
        <a:effectLst>
          <a:outerShdw blurRad="508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a:t>Hostile Takeover</a:t>
          </a:r>
        </a:p>
      </dsp:txBody>
      <dsp:txXfrm>
        <a:off x="1749492" y="3220582"/>
        <a:ext cx="1272343" cy="830993"/>
      </dsp:txXfrm>
    </dsp:sp>
    <dsp:sp modelId="{29F7C487-B008-419E-8629-DDD46BF851CB}">
      <dsp:nvSpPr>
        <dsp:cNvPr id="0" name=""/>
        <dsp:cNvSpPr/>
      </dsp:nvSpPr>
      <dsp:spPr>
        <a:xfrm>
          <a:off x="3680548" y="1605870"/>
          <a:ext cx="2155516" cy="353079"/>
        </a:xfrm>
        <a:custGeom>
          <a:avLst/>
          <a:gdLst/>
          <a:ahLst/>
          <a:cxnLst/>
          <a:rect l="0" t="0" r="0" b="0"/>
          <a:pathLst>
            <a:path>
              <a:moveTo>
                <a:pt x="0" y="0"/>
              </a:moveTo>
              <a:lnTo>
                <a:pt x="0" y="176539"/>
              </a:lnTo>
              <a:lnTo>
                <a:pt x="2155516" y="176539"/>
              </a:lnTo>
              <a:lnTo>
                <a:pt x="2155516" y="353079"/>
              </a:lnTo>
            </a:path>
          </a:pathLst>
        </a:custGeom>
        <a:noFill/>
        <a:ln w="9525" cap="flat" cmpd="sng" algn="ctr">
          <a:solidFill>
            <a:schemeClr val="accent4">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B0D7AB50-9ED4-4109-9B2A-CD4236F9F682}">
      <dsp:nvSpPr>
        <dsp:cNvPr id="0" name=""/>
        <dsp:cNvSpPr/>
      </dsp:nvSpPr>
      <dsp:spPr>
        <a:xfrm>
          <a:off x="5174039" y="1958950"/>
          <a:ext cx="1324049" cy="882699"/>
        </a:xfrm>
        <a:prstGeom prst="roundRect">
          <a:avLst>
            <a:gd name="adj" fmla="val 10000"/>
          </a:avLst>
        </a:prstGeom>
        <a:solidFill>
          <a:srgbClr val="0070C0"/>
        </a:solidFill>
        <a:ln w="12700">
          <a:solidFill>
            <a:schemeClr val="tx1"/>
          </a:solidFill>
        </a:ln>
        <a:effectLst>
          <a:outerShdw blurRad="508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a:t>Business  Context</a:t>
          </a:r>
        </a:p>
      </dsp:txBody>
      <dsp:txXfrm>
        <a:off x="5199892" y="1984803"/>
        <a:ext cx="1272343" cy="830993"/>
      </dsp:txXfrm>
    </dsp:sp>
    <dsp:sp modelId="{34CB3DBE-3717-475A-9D41-635F162D7D34}">
      <dsp:nvSpPr>
        <dsp:cNvPr id="0" name=""/>
        <dsp:cNvSpPr/>
      </dsp:nvSpPr>
      <dsp:spPr>
        <a:xfrm>
          <a:off x="4106928" y="2841649"/>
          <a:ext cx="1729135" cy="353079"/>
        </a:xfrm>
        <a:custGeom>
          <a:avLst/>
          <a:gdLst/>
          <a:ahLst/>
          <a:cxnLst/>
          <a:rect l="0" t="0" r="0" b="0"/>
          <a:pathLst>
            <a:path>
              <a:moveTo>
                <a:pt x="1729135" y="0"/>
              </a:moveTo>
              <a:lnTo>
                <a:pt x="1729135" y="176539"/>
              </a:lnTo>
              <a:lnTo>
                <a:pt x="0" y="176539"/>
              </a:lnTo>
              <a:lnTo>
                <a:pt x="0" y="353079"/>
              </a:lnTo>
            </a:path>
          </a:pathLst>
        </a:custGeom>
        <a:noFill/>
        <a:ln w="9525" cap="flat" cmpd="sng" algn="ctr">
          <a:solidFill>
            <a:schemeClr val="accent5">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29A4E313-6DC1-4DAA-8025-3C18BAFD007F}">
      <dsp:nvSpPr>
        <dsp:cNvPr id="0" name=""/>
        <dsp:cNvSpPr/>
      </dsp:nvSpPr>
      <dsp:spPr>
        <a:xfrm>
          <a:off x="3444903" y="3194729"/>
          <a:ext cx="1324049" cy="882699"/>
        </a:xfrm>
        <a:prstGeom prst="roundRect">
          <a:avLst>
            <a:gd name="adj" fmla="val 10000"/>
          </a:avLst>
        </a:prstGeom>
        <a:solidFill>
          <a:srgbClr val="7030A0"/>
        </a:solidFill>
        <a:ln w="12700">
          <a:solidFill>
            <a:schemeClr val="tx1"/>
          </a:solidFill>
        </a:ln>
        <a:effectLst>
          <a:outerShdw blurRad="508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a:t>Horizontal Takeover</a:t>
          </a:r>
        </a:p>
      </dsp:txBody>
      <dsp:txXfrm>
        <a:off x="3470756" y="3220582"/>
        <a:ext cx="1272343" cy="830993"/>
      </dsp:txXfrm>
    </dsp:sp>
    <dsp:sp modelId="{C2B30365-C5C0-4533-8386-43C1568E5AC2}">
      <dsp:nvSpPr>
        <dsp:cNvPr id="0" name=""/>
        <dsp:cNvSpPr/>
      </dsp:nvSpPr>
      <dsp:spPr>
        <a:xfrm>
          <a:off x="5782472" y="2841649"/>
          <a:ext cx="91440" cy="353079"/>
        </a:xfrm>
        <a:custGeom>
          <a:avLst/>
          <a:gdLst/>
          <a:ahLst/>
          <a:cxnLst/>
          <a:rect l="0" t="0" r="0" b="0"/>
          <a:pathLst>
            <a:path>
              <a:moveTo>
                <a:pt x="53591" y="0"/>
              </a:moveTo>
              <a:lnTo>
                <a:pt x="53591" y="176539"/>
              </a:lnTo>
              <a:lnTo>
                <a:pt x="45720" y="176539"/>
              </a:lnTo>
              <a:lnTo>
                <a:pt x="45720" y="353079"/>
              </a:lnTo>
            </a:path>
          </a:pathLst>
        </a:custGeom>
        <a:noFill/>
        <a:ln w="9525" cap="flat" cmpd="sng" algn="ctr">
          <a:solidFill>
            <a:schemeClr val="accent5">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21BD12DF-C28D-43EB-8924-C8103EAB6CCF}">
      <dsp:nvSpPr>
        <dsp:cNvPr id="0" name=""/>
        <dsp:cNvSpPr/>
      </dsp:nvSpPr>
      <dsp:spPr>
        <a:xfrm>
          <a:off x="5166168" y="3194729"/>
          <a:ext cx="1324049" cy="882699"/>
        </a:xfrm>
        <a:prstGeom prst="roundRect">
          <a:avLst>
            <a:gd name="adj" fmla="val 10000"/>
          </a:avLst>
        </a:prstGeom>
        <a:solidFill>
          <a:srgbClr val="7030A0"/>
        </a:solidFill>
        <a:ln w="12700">
          <a:solidFill>
            <a:schemeClr val="tx1"/>
          </a:solidFill>
        </a:ln>
        <a:effectLst>
          <a:outerShdw blurRad="508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a:t>Vertical Takeover</a:t>
          </a:r>
        </a:p>
      </dsp:txBody>
      <dsp:txXfrm>
        <a:off x="5192021" y="3220582"/>
        <a:ext cx="1272343" cy="830993"/>
      </dsp:txXfrm>
    </dsp:sp>
    <dsp:sp modelId="{3DD75F3F-AF71-42C1-BF2A-AF9A9778FB7A}">
      <dsp:nvSpPr>
        <dsp:cNvPr id="0" name=""/>
        <dsp:cNvSpPr/>
      </dsp:nvSpPr>
      <dsp:spPr>
        <a:xfrm>
          <a:off x="5836064" y="2841649"/>
          <a:ext cx="1721264" cy="353079"/>
        </a:xfrm>
        <a:custGeom>
          <a:avLst/>
          <a:gdLst/>
          <a:ahLst/>
          <a:cxnLst/>
          <a:rect l="0" t="0" r="0" b="0"/>
          <a:pathLst>
            <a:path>
              <a:moveTo>
                <a:pt x="0" y="0"/>
              </a:moveTo>
              <a:lnTo>
                <a:pt x="0" y="176539"/>
              </a:lnTo>
              <a:lnTo>
                <a:pt x="1721264" y="176539"/>
              </a:lnTo>
              <a:lnTo>
                <a:pt x="1721264" y="353079"/>
              </a:lnTo>
            </a:path>
          </a:pathLst>
        </a:custGeom>
        <a:noFill/>
        <a:ln w="9525" cap="flat" cmpd="sng" algn="ctr">
          <a:solidFill>
            <a:schemeClr val="accent5">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2B89312-A2D6-43B8-ABF7-DF7F3DF1D303}">
      <dsp:nvSpPr>
        <dsp:cNvPr id="0" name=""/>
        <dsp:cNvSpPr/>
      </dsp:nvSpPr>
      <dsp:spPr>
        <a:xfrm>
          <a:off x="6887432" y="3194729"/>
          <a:ext cx="1339792" cy="882699"/>
        </a:xfrm>
        <a:prstGeom prst="roundRect">
          <a:avLst>
            <a:gd name="adj" fmla="val 10000"/>
          </a:avLst>
        </a:prstGeom>
        <a:solidFill>
          <a:srgbClr val="7030A0"/>
        </a:solidFill>
        <a:ln w="12700">
          <a:solidFill>
            <a:schemeClr val="tx1"/>
          </a:solidFill>
        </a:ln>
        <a:effectLst>
          <a:outerShdw blurRad="508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a:t>Conglomerate Takeover</a:t>
          </a:r>
        </a:p>
      </dsp:txBody>
      <dsp:txXfrm>
        <a:off x="6913285" y="3220582"/>
        <a:ext cx="1288086" cy="830993"/>
      </dsp:txXfrm>
    </dsp:sp>
  </dsp:spTree>
</dsp:drawing>
</file>

<file path=ppt/diagrams/layout1.xml><?xml version="1.0" encoding="utf-8"?>
<dgm:layoutDef xmlns:dgm="http://schemas.openxmlformats.org/drawingml/2006/diagram" xmlns:a="http://schemas.openxmlformats.org/drawingml/2006/main" uniqueId="urn:microsoft.com/office/officeart/2005/8/layout/equation2">
  <dgm:title val=""/>
  <dgm:desc val=""/>
  <dgm:catLst>
    <dgm:cat type="relationship" pri="18000"/>
    <dgm:cat type="process" pri="2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linDir" val="fromL"/>
          <dgm:param type="fallback" val="2D"/>
        </dgm:alg>
      </dgm:if>
      <dgm:else name="Name3">
        <dgm:alg type="lin">
          <dgm:param type="linDir" val="fromR"/>
          <dgm:param type="fallback" val="2D"/>
        </dgm:alg>
      </dgm:else>
    </dgm:choose>
    <dgm:shape xmlns:r="http://schemas.openxmlformats.org/officeDocument/2006/relationships" r:blip="">
      <dgm:adjLst/>
    </dgm:shape>
    <dgm:presOf/>
    <dgm:choose name="Name4">
      <dgm:if name="Name5" axis="ch" ptType="node" func="cnt" op="gte" val="3">
        <dgm:constrLst>
          <dgm:constr type="h" for="des" forName="node" refType="w" fact="0.5"/>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ch" forName="lastNode" op="equ" val="65"/>
          <dgm:constr type="primFontSz" for="des" forName="node" op="equ" val="65"/>
          <dgm:constr type="primFontSz" for="des" forName="sibTrans" val="55"/>
          <dgm:constr type="primFontSz" for="des" forName="sibTrans" refType="primFontSz" refFor="des" refForName="node" op="lte" fact="0.8"/>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if>
      <dgm:else name="Name6">
        <dgm:constrLst>
          <dgm:constr type="h" for="des" forName="node" refType="w"/>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des" forName="node" val="65"/>
          <dgm:constr type="primFontSz" for="ch" forName="lastNode" refType="primFontSz" refFor="des" refForName="node" op="equ"/>
          <dgm:constr type="primFontSz" for="des" forName="sibTrans" val="55"/>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else>
    </dgm:choose>
    <dgm:ruleLst/>
    <dgm:choose name="Name7">
      <dgm:if name="Name8" axis="ch" ptType="node" func="cnt" op="gte" val="1">
        <dgm:layoutNode name="vNodes">
          <dgm:alg type="lin">
            <dgm:param type="linDir" val="fromT"/>
            <dgm:param type="fallback" val="2D"/>
          </dgm:alg>
          <dgm:shape xmlns:r="http://schemas.openxmlformats.org/officeDocument/2006/relationships" r:blip="">
            <dgm:adjLst/>
          </dgm:shape>
          <dgm:presOf/>
          <dgm:constrLst/>
          <dgm:ruleLst/>
          <dgm:forEach name="Name9" axis="ch" ptType="node">
            <dgm:choose name="Name10">
              <dgm:if name="Name11" axis="self" func="revPos" op="neq" val="1">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choose name="Name12">
                  <dgm:if name="Name13" axis="self" ptType="node" func="revPos" op="gt" val="2">
                    <dgm:forEach name="sibTransForEach" axis="followSib" ptType="sibTrans" cnt="1">
                      <dgm:layoutNode name="spacerT">
                        <dgm:alg type="sp"/>
                        <dgm:shape xmlns:r="http://schemas.openxmlformats.org/officeDocument/2006/relationships" r:blip="">
                          <dgm:adjLst/>
                        </dgm:shape>
                        <dgm:presOf axis="self"/>
                        <dgm:constrLst/>
                        <dgm:ruleLst/>
                      </dgm:layoutNode>
                      <dgm:layoutNode name="sibTrans">
                        <dgm:alg type="tx"/>
                        <dgm:shape xmlns:r="http://schemas.openxmlformats.org/officeDocument/2006/relationships" type="mathPlus" r:blip="">
                          <dgm:adjLst/>
                        </dgm:shape>
                        <dgm:presOf axis="self"/>
                        <dgm:constrLst>
                          <dgm:constr type="h" refType="w"/>
                          <dgm:constr type="lMarg"/>
                          <dgm:constr type="rMarg"/>
                          <dgm:constr type="tMarg"/>
                          <dgm:constr type="bMarg"/>
                        </dgm:constrLst>
                        <dgm:ruleLst>
                          <dgm:rule type="primFontSz" val="5" fact="NaN" max="NaN"/>
                        </dgm:ruleLst>
                      </dgm:layoutNode>
                      <dgm:layoutNode name="spacerB">
                        <dgm:alg type="sp"/>
                        <dgm:shape xmlns:r="http://schemas.openxmlformats.org/officeDocument/2006/relationships" r:blip="">
                          <dgm:adjLst/>
                        </dgm:shape>
                        <dgm:presOf axis="self"/>
                        <dgm:constrLst/>
                        <dgm:ruleLst/>
                      </dgm:layoutNode>
                    </dgm:forEach>
                  </dgm:if>
                  <dgm:else name="Name14"/>
                </dgm:choose>
              </dgm:if>
              <dgm:else name="Name15"/>
            </dgm:choose>
          </dgm:forEach>
        </dgm:layoutNode>
        <dgm:choose name="Name16">
          <dgm:if name="Name17" axis="ch" ptType="node" func="cnt" op="gt" val="1">
            <dgm:layoutNode name="sibTransLast">
              <dgm:alg type="conn">
                <dgm:param type="begPts" val="auto"/>
                <dgm:param type="endPts" val="auto"/>
                <dgm:param type="srcNode" val="vNodes"/>
                <dgm:param type="dstNode" val="lastNode"/>
              </dgm:alg>
              <dgm:shape xmlns:r="http://schemas.openxmlformats.org/officeDocument/2006/relationships" type="conn" r:blip="">
                <dgm:adjLst/>
              </dgm:shape>
              <dgm:presOf axis="ch" ptType="sibTrans" st="-1" cnt="1"/>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ch desOrSelf" ptType="sibTrans sibTrans" st="-1 1" cnt="1 0"/>
                <dgm:constrLst>
                  <dgm:constr type="lMarg"/>
                  <dgm:constr type="rMarg"/>
                  <dgm:constr type="tMarg"/>
                  <dgm:constr type="bMarg"/>
                </dgm:constrLst>
                <dgm:ruleLst>
                  <dgm:rule type="primFontSz" val="5" fact="NaN" max="NaN"/>
                </dgm:ruleLst>
              </dgm:layoutNode>
            </dgm:layoutNode>
          </dgm:if>
          <dgm:else name="Name18"/>
        </dgm:choose>
        <dgm:layoutNode name="lastNode">
          <dgm:varLst>
            <dgm:bulletEnabled val="1"/>
          </dgm:varLst>
          <dgm:alg type="tx">
            <dgm:param type="txAnchorVertCh" val="mid"/>
          </dgm:alg>
          <dgm:shape xmlns:r="http://schemas.openxmlformats.org/officeDocument/2006/relationships" type="ellipse" r:blip="">
            <dgm:adjLst/>
          </dgm:shape>
          <dgm:presOf axis="ch desOrSelf" ptType="node node" st="-1 1" cnt="1 0"/>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19"/>
    </dgm:choose>
  </dgm:layoutNode>
</dgm:layoutDef>
</file>

<file path=ppt/diagrams/layout2.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3" name="Rectangle 22"/>
          <p:cNvSpPr/>
          <p:nvPr/>
        </p:nvSpPr>
        <p:spPr>
          <a:xfrm flipV="1">
            <a:off x="5410182" y="3810000"/>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4" name="Rectangle 23"/>
          <p:cNvSpPr/>
          <p:nvPr/>
        </p:nvSpPr>
        <p:spPr>
          <a:xfrm flipV="1">
            <a:off x="5410200" y="3897010"/>
            <a:ext cx="37338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5" name="Rectangle 24"/>
          <p:cNvSpPr/>
          <p:nvPr/>
        </p:nvSpPr>
        <p:spPr>
          <a:xfrm flipV="1">
            <a:off x="5410200" y="4115167"/>
            <a:ext cx="37338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6" name="Rectangle 25"/>
          <p:cNvSpPr/>
          <p:nvPr/>
        </p:nvSpPr>
        <p:spPr>
          <a:xfrm flipV="1">
            <a:off x="5410200" y="4164403"/>
            <a:ext cx="196596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Rectangle 26"/>
          <p:cNvSpPr/>
          <p:nvPr/>
        </p:nvSpPr>
        <p:spPr>
          <a:xfrm flipV="1">
            <a:off x="5410200" y="4199572"/>
            <a:ext cx="196596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0" name="Rounded Rectangle 29"/>
          <p:cNvSpPr/>
          <p:nvPr/>
        </p:nvSpPr>
        <p:spPr bwMode="white">
          <a:xfrm>
            <a:off x="5410200" y="3962400"/>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1" name="Rounded Rectangle 30"/>
          <p:cNvSpPr/>
          <p:nvPr/>
        </p:nvSpPr>
        <p:spPr bwMode="white">
          <a:xfrm>
            <a:off x="7376507" y="406098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Rectangle 6"/>
          <p:cNvSpPr/>
          <p:nvPr/>
        </p:nvSpPr>
        <p:spPr>
          <a:xfrm>
            <a:off x="1" y="3649662"/>
            <a:ext cx="9144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0" y="3675527"/>
            <a:ext cx="9144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flipV="1">
            <a:off x="6414051" y="3643090"/>
            <a:ext cx="2729950"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a:xfrm>
            <a:off x="0" y="0"/>
            <a:ext cx="9144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kumimoji="0" lang="en-US"/>
              <a:t>Click to edit Master title style</a:t>
            </a:r>
          </a:p>
        </p:txBody>
      </p:sp>
      <p:sp>
        <p:nvSpPr>
          <p:cNvPr id="9" name="Subtitle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705600" y="4206240"/>
            <a:ext cx="960120" cy="457200"/>
          </a:xfrm>
        </p:spPr>
        <p:txBody>
          <a:bodyPr/>
          <a:lstStyle/>
          <a:p>
            <a:fld id="{1D8BD707-D9CF-40AE-B4C6-C98DA3205C09}" type="datetimeFigureOut">
              <a:rPr lang="en-US" smtClean="0"/>
              <a:pPr/>
              <a:t>9/21/2025</a:t>
            </a:fld>
            <a:endParaRPr lang="en-US"/>
          </a:p>
        </p:txBody>
      </p:sp>
      <p:sp>
        <p:nvSpPr>
          <p:cNvPr id="17" name="Footer Placeholder 16"/>
          <p:cNvSpPr>
            <a:spLocks noGrp="1"/>
          </p:cNvSpPr>
          <p:nvPr>
            <p:ph type="ftr" sz="quarter" idx="11"/>
          </p:nvPr>
        </p:nvSpPr>
        <p:spPr>
          <a:xfrm>
            <a:off x="5410200" y="4205288"/>
            <a:ext cx="1295400" cy="457200"/>
          </a:xfrm>
        </p:spPr>
        <p:txBody>
          <a:bodyPr/>
          <a:lstStyle/>
          <a:p>
            <a:endParaRPr lang="en-US"/>
          </a:p>
        </p:txBody>
      </p:sp>
      <p:sp>
        <p:nvSpPr>
          <p:cNvPr id="29" name="Slide Number Placeholder 28"/>
          <p:cNvSpPr>
            <a:spLocks noGrp="1"/>
          </p:cNvSpPr>
          <p:nvPr>
            <p:ph type="sldNum" sz="quarter" idx="12"/>
          </p:nvPr>
        </p:nvSpPr>
        <p:spPr>
          <a:xfrm>
            <a:off x="8320088" y="1136"/>
            <a:ext cx="747712" cy="365760"/>
          </a:xfrm>
        </p:spPr>
        <p:txBody>
          <a:bodyPr/>
          <a:lstStyle>
            <a:lvl1pPr algn="r">
              <a:defRPr sz="1800">
                <a:solidFill>
                  <a:schemeClr val="bg1"/>
                </a:solidFill>
              </a:defRPr>
            </a:lvl1p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9/21/2025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en-US"/>
              <a:t>Click to edit Master title style</a:t>
            </a:r>
          </a:p>
        </p:txBody>
      </p:sp>
      <p:sp>
        <p:nvSpPr>
          <p:cNvPr id="3" name="Text Placeholder 2"/>
          <p:cNvSpPr>
            <a:spLocks noGrp="1"/>
          </p:cNvSpPr>
          <p:nvPr>
            <p:ph type="body" idx="1"/>
          </p:nvPr>
        </p:nvSpPr>
        <p:spPr>
          <a:xfrm>
            <a:off x="722313" y="3367088"/>
            <a:ext cx="77724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9/21/2025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1000" y="1143000"/>
            <a:ext cx="8382000" cy="1069848"/>
          </a:xfrm>
        </p:spPr>
        <p:txBody>
          <a:bodyPr anchor="ctr"/>
          <a:lstStyle>
            <a:lvl1pPr>
              <a:defRPr sz="4000" b="0" i="0" cap="none" baseline="0"/>
            </a:lvl1pPr>
          </a:lstStyle>
          <a:p>
            <a:r>
              <a:rPr kumimoji="0" lang="en-US"/>
              <a:t>Click to edit Master title style</a:t>
            </a:r>
          </a:p>
        </p:txBody>
      </p:sp>
      <p:sp>
        <p:nvSpPr>
          <p:cNvPr id="3" name="Text Placeholder 2"/>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721225"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718304" y="2708519"/>
            <a:ext cx="4041775"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6" name="Date Placeholder 25"/>
          <p:cNvSpPr>
            <a:spLocks noGrp="1"/>
          </p:cNvSpPr>
          <p:nvPr>
            <p:ph type="dt" sz="half" idx="10"/>
          </p:nvPr>
        </p:nvSpPr>
        <p:spPr/>
        <p:txBody>
          <a:bodyPr rtlCol="0"/>
          <a:lstStyle/>
          <a:p>
            <a:fld id="{1D8BD707-D9CF-40AE-B4C6-C98DA3205C09}" type="datetimeFigureOut">
              <a:rPr lang="en-US" smtClean="0"/>
              <a:pPr/>
              <a:t>9/21/2025</a:t>
            </a:fld>
            <a:endParaRPr lang="en-US"/>
          </a:p>
        </p:txBody>
      </p:sp>
      <p:sp>
        <p:nvSpPr>
          <p:cNvPr id="27" name="Slide Number Placeholder 26"/>
          <p:cNvSpPr>
            <a:spLocks noGrp="1"/>
          </p:cNvSpPr>
          <p:nvPr>
            <p:ph type="sldNum" sz="quarter" idx="11"/>
          </p:nvPr>
        </p:nvSpPr>
        <p:spPr/>
        <p:txBody>
          <a:bodyPr rtlCol="0"/>
          <a:lstStyle/>
          <a:p>
            <a:fld id="{B6F15528-21DE-4FAA-801E-634DDDAF4B2B}" type="slidenum">
              <a:rPr lang="en-US" smtClean="0"/>
              <a:pPr/>
              <a:t>‹#›</a:t>
            </a:fld>
            <a:endParaRPr lang="en-US"/>
          </a:p>
        </p:txBody>
      </p:sp>
      <p:sp>
        <p:nvSpPr>
          <p:cNvPr id="28" name="Footer Placeholder 27"/>
          <p:cNvSpPr>
            <a:spLocks noGrp="1"/>
          </p:cNvSpPr>
          <p:nvPr>
            <p:ph type="ftr" sz="quarter" idx="12"/>
          </p:nvPr>
        </p:nvSpPr>
        <p:spPr/>
        <p:txBody>
          <a:bodyPr rtlCol="0"/>
          <a:lstStyle/>
          <a:p>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1069848"/>
          </a:xfrm>
        </p:spPr>
        <p:txBody>
          <a:bodyPr anchor="ctr"/>
          <a:lstStyle>
            <a:lvl1pPr>
              <a:defRPr sz="4000">
                <a:solidFill>
                  <a:schemeClr val="tx2"/>
                </a:solidFill>
              </a:defRPr>
            </a:lvl1pPr>
          </a:lstStyle>
          <a:p>
            <a:r>
              <a:rPr kumimoji="0" lang="en-US"/>
              <a:t>Click to edit Master title style</a:t>
            </a:r>
          </a:p>
        </p:txBody>
      </p:sp>
      <p:sp>
        <p:nvSpPr>
          <p:cNvPr id="3" name="Date Placeholder 2"/>
          <p:cNvSpPr>
            <a:spLocks noGrp="1"/>
          </p:cNvSpPr>
          <p:nvPr>
            <p:ph type="dt" sz="half" idx="10"/>
          </p:nvPr>
        </p:nvSpPr>
        <p:spPr>
          <a:xfrm>
            <a:off x="6583680" y="612648"/>
            <a:ext cx="957264" cy="457200"/>
          </a:xfrm>
        </p:spPr>
        <p:txBody>
          <a:bodyPr/>
          <a:lstStyle/>
          <a:p>
            <a:fld id="{1D8BD707-D9CF-40AE-B4C6-C98DA3205C09}" type="datetimeFigureOut">
              <a:rPr lang="en-US" smtClean="0"/>
              <a:pPr/>
              <a:t>9/21/2025</a:t>
            </a:fld>
            <a:endParaRPr lang="en-US"/>
          </a:p>
        </p:txBody>
      </p:sp>
      <p:sp>
        <p:nvSpPr>
          <p:cNvPr id="4" name="Footer Placeholder 3"/>
          <p:cNvSpPr>
            <a:spLocks noGrp="1"/>
          </p:cNvSpPr>
          <p:nvPr>
            <p:ph type="ftr" sz="quarter" idx="11"/>
          </p:nvPr>
        </p:nvSpPr>
        <p:spPr>
          <a:xfrm>
            <a:off x="5257800" y="612648"/>
            <a:ext cx="1325880" cy="457200"/>
          </a:xfrm>
        </p:spPr>
        <p:txBody>
          <a:bodyPr/>
          <a:lstStyle/>
          <a:p>
            <a:endParaRPr lang="en-US"/>
          </a:p>
        </p:txBody>
      </p:sp>
      <p:sp>
        <p:nvSpPr>
          <p:cNvPr id="5" name="Slide Number Placeholder 4"/>
          <p:cNvSpPr>
            <a:spLocks noGrp="1"/>
          </p:cNvSpPr>
          <p:nvPr>
            <p:ph type="sldNum" sz="quarter" idx="12"/>
          </p:nvPr>
        </p:nvSpPr>
        <p:spPr>
          <a:xfrm>
            <a:off x="8174736" y="2272"/>
            <a:ext cx="762000" cy="365760"/>
          </a:xfrm>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496" y="1101970"/>
            <a:ext cx="3383280" cy="877824"/>
          </a:xfrm>
        </p:spPr>
        <p:txBody>
          <a:bodyPr anchor="b"/>
          <a:lstStyle>
            <a:lvl1pPr algn="l">
              <a:buNone/>
              <a:defRPr sz="1800" b="1"/>
            </a:lvl1pPr>
          </a:lstStyle>
          <a:p>
            <a:r>
              <a:rPr kumimoji="0" lang="en-US"/>
              <a:t>Click to edit Master title style</a:t>
            </a:r>
          </a:p>
        </p:txBody>
      </p:sp>
      <p:sp>
        <p:nvSpPr>
          <p:cNvPr id="3" name="Text Placeholder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9/21/2025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kumimoji="0" lang="en-US"/>
              <a:t>Click to edit Master title style</a:t>
            </a:r>
          </a:p>
        </p:txBody>
      </p:sp>
      <p:sp>
        <p:nvSpPr>
          <p:cNvPr id="3" name="Picture Placeholder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6088443" y="3274308"/>
            <a:ext cx="25908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9/21/2025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1143000"/>
            <a:ext cx="1905000" cy="5486400"/>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1143000"/>
            <a:ext cx="6248400" cy="548640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9/21/2025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1" y="366818"/>
            <a:ext cx="9144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Rectangle 28"/>
          <p:cNvSpPr/>
          <p:nvPr/>
        </p:nvSpPr>
        <p:spPr>
          <a:xfrm>
            <a:off x="0" y="-1"/>
            <a:ext cx="9144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0" name="Rectangle 29"/>
          <p:cNvSpPr/>
          <p:nvPr/>
        </p:nvSpPr>
        <p:spPr>
          <a:xfrm>
            <a:off x="0" y="308276"/>
            <a:ext cx="9144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1" name="Rectangle 30"/>
          <p:cNvSpPr/>
          <p:nvPr/>
        </p:nvSpPr>
        <p:spPr>
          <a:xfrm flipV="1">
            <a:off x="5410182" y="360246"/>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flipV="1">
            <a:off x="5410200" y="440112"/>
            <a:ext cx="37338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3" name="Rounded Rectangle 32"/>
          <p:cNvSpPr/>
          <p:nvPr/>
        </p:nvSpPr>
        <p:spPr bwMode="white">
          <a:xfrm>
            <a:off x="5407339" y="497504"/>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4" name="Rounded Rectangle 33"/>
          <p:cNvSpPr/>
          <p:nvPr/>
        </p:nvSpPr>
        <p:spPr bwMode="white">
          <a:xfrm>
            <a:off x="7373646" y="58894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5" name="Rectangle 34"/>
          <p:cNvSpPr/>
          <p:nvPr/>
        </p:nvSpPr>
        <p:spPr bwMode="invGray">
          <a:xfrm>
            <a:off x="9084966" y="-2001"/>
            <a:ext cx="5762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6" name="Rectangle 35"/>
          <p:cNvSpPr/>
          <p:nvPr/>
        </p:nvSpPr>
        <p:spPr bwMode="invGray">
          <a:xfrm>
            <a:off x="9044481" y="-2001"/>
            <a:ext cx="27432"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7" name="Rectangle 36"/>
          <p:cNvSpPr/>
          <p:nvPr/>
        </p:nvSpPr>
        <p:spPr bwMode="invGray">
          <a:xfrm>
            <a:off x="9025428" y="-2001"/>
            <a:ext cx="9144"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8" name="Rectangle 37"/>
          <p:cNvSpPr/>
          <p:nvPr/>
        </p:nvSpPr>
        <p:spPr bwMode="invGray">
          <a:xfrm>
            <a:off x="8975423" y="-2001"/>
            <a:ext cx="27432"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Rectangle 38"/>
          <p:cNvSpPr/>
          <p:nvPr/>
        </p:nvSpPr>
        <p:spPr bwMode="invGray">
          <a:xfrm>
            <a:off x="8915677" y="380"/>
            <a:ext cx="54864"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0" name="Rectangle 39"/>
          <p:cNvSpPr/>
          <p:nvPr/>
        </p:nvSpPr>
        <p:spPr bwMode="invGray">
          <a:xfrm>
            <a:off x="8873475" y="380"/>
            <a:ext cx="9144"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457200" y="1143000"/>
            <a:ext cx="8229600" cy="10668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457200" y="2249424"/>
            <a:ext cx="8229600" cy="432511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586536" y="612648"/>
            <a:ext cx="957264" cy="457200"/>
          </a:xfrm>
          <a:prstGeom prst="rect">
            <a:avLst/>
          </a:prstGeom>
        </p:spPr>
        <p:txBody>
          <a:bodyPr vert="horz"/>
          <a:lstStyle>
            <a:lvl1pPr algn="l" eaLnBrk="1" latinLnBrk="0" hangingPunct="1">
              <a:defRPr kumimoji="0" sz="800">
                <a:solidFill>
                  <a:schemeClr val="accent2"/>
                </a:solidFill>
              </a:defRPr>
            </a:lvl1pPr>
          </a:lstStyle>
          <a:p>
            <a:fld id="{1D8BD707-D9CF-40AE-B4C6-C98DA3205C09}" type="datetimeFigureOut">
              <a:rPr lang="en-US" smtClean="0"/>
              <a:pPr/>
              <a:t>9/21/2025</a:t>
            </a:fld>
            <a:endParaRPr lang="en-US"/>
          </a:p>
        </p:txBody>
      </p:sp>
      <p:sp>
        <p:nvSpPr>
          <p:cNvPr id="3" name="Footer Placeholder 2"/>
          <p:cNvSpPr>
            <a:spLocks noGrp="1"/>
          </p:cNvSpPr>
          <p:nvPr>
            <p:ph type="ftr" sz="quarter" idx="3"/>
          </p:nvPr>
        </p:nvSpPr>
        <p:spPr>
          <a:xfrm>
            <a:off x="5257800" y="612648"/>
            <a:ext cx="1325880" cy="457200"/>
          </a:xfrm>
          <a:prstGeom prst="rect">
            <a:avLst/>
          </a:prstGeom>
        </p:spPr>
        <p:txBody>
          <a:bodyPr vert="horz"/>
          <a:lstStyle>
            <a:lvl1pPr algn="r" eaLnBrk="1" latinLnBrk="0" hangingPunct="1">
              <a:defRPr kumimoji="0" sz="800">
                <a:solidFill>
                  <a:schemeClr val="accent2"/>
                </a:solidFill>
              </a:defRPr>
            </a:lvl1pPr>
          </a:lstStyle>
          <a:p>
            <a:endParaRPr lang="en-US"/>
          </a:p>
        </p:txBody>
      </p:sp>
      <p:sp>
        <p:nvSpPr>
          <p:cNvPr id="23" name="Slide Number Placeholder 22"/>
          <p:cNvSpPr>
            <a:spLocks noGrp="1"/>
          </p:cNvSpPr>
          <p:nvPr>
            <p:ph type="sldNum" sz="quarter" idx="4"/>
          </p:nvPr>
        </p:nvSpPr>
        <p:spPr>
          <a:xfrm>
            <a:off x="8174736" y="2272"/>
            <a:ext cx="762000" cy="365760"/>
          </a:xfrm>
          <a:prstGeom prst="rect">
            <a:avLst/>
          </a:prstGeom>
        </p:spPr>
        <p:txBody>
          <a:bodyPr vert="horz" anchor="b"/>
          <a:lstStyle>
            <a:lvl1pPr algn="r" eaLnBrk="1" latinLnBrk="0" hangingPunct="1">
              <a:defRPr kumimoji="0" sz="1800">
                <a:solidFill>
                  <a:srgbClr val="FFFFFF"/>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609600"/>
            <a:ext cx="7772400" cy="2590800"/>
          </a:xfrm>
        </p:spPr>
        <p:txBody>
          <a:bodyPr>
            <a:normAutofit/>
          </a:bodyPr>
          <a:lstStyle/>
          <a:p>
            <a:pPr algn="ctr"/>
            <a:r>
              <a:rPr lang="en-US" dirty="0"/>
              <a:t>Chapter 4</a:t>
            </a:r>
            <a:br>
              <a:rPr lang="en-US" dirty="0"/>
            </a:br>
            <a:br>
              <a:rPr lang="en-US" dirty="0"/>
            </a:br>
            <a:r>
              <a:rPr lang="en-US" dirty="0"/>
              <a:t>Business Combination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Learning Goals</a:t>
            </a:r>
            <a:endParaRPr lang="en-US" dirty="0"/>
          </a:p>
        </p:txBody>
      </p:sp>
      <p:sp>
        <p:nvSpPr>
          <p:cNvPr id="3" name="Content Placeholder 2"/>
          <p:cNvSpPr>
            <a:spLocks noGrp="1"/>
          </p:cNvSpPr>
          <p:nvPr>
            <p:ph idx="1"/>
          </p:nvPr>
        </p:nvSpPr>
        <p:spPr/>
        <p:txBody>
          <a:bodyPr>
            <a:normAutofit/>
          </a:bodyPr>
          <a:lstStyle/>
          <a:p>
            <a:pPr>
              <a:buNone/>
            </a:pPr>
            <a:r>
              <a:rPr lang="en-US" dirty="0"/>
              <a:t>	After studying this chapter, students will be able to understand:</a:t>
            </a:r>
          </a:p>
          <a:p>
            <a:pPr lvl="0"/>
            <a:r>
              <a:rPr lang="en-US" dirty="0"/>
              <a:t>The concept of business combination and its process</a:t>
            </a:r>
          </a:p>
          <a:p>
            <a:pPr lvl="0"/>
            <a:r>
              <a:rPr lang="en-US" dirty="0"/>
              <a:t>Merits and demerits of Business combination</a:t>
            </a:r>
          </a:p>
          <a:p>
            <a:pPr lvl="0"/>
            <a:r>
              <a:rPr lang="en-US" dirty="0"/>
              <a:t>Various types of Business Combination and influencing Factors</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Chapter Contents</a:t>
            </a:r>
            <a:endParaRPr lang="en-US" dirty="0"/>
          </a:p>
        </p:txBody>
      </p:sp>
      <p:sp>
        <p:nvSpPr>
          <p:cNvPr id="3" name="Content Placeholder 2"/>
          <p:cNvSpPr>
            <a:spLocks noGrp="1"/>
          </p:cNvSpPr>
          <p:nvPr>
            <p:ph idx="1"/>
          </p:nvPr>
        </p:nvSpPr>
        <p:spPr/>
        <p:txBody>
          <a:bodyPr>
            <a:normAutofit fontScale="92500" lnSpcReduction="10000"/>
          </a:bodyPr>
          <a:lstStyle/>
          <a:p>
            <a:r>
              <a:rPr lang="en-US" dirty="0"/>
              <a:t>Definition of BC</a:t>
            </a:r>
          </a:p>
          <a:p>
            <a:r>
              <a:rPr lang="en-US" dirty="0"/>
              <a:t>Emergence</a:t>
            </a:r>
          </a:p>
          <a:p>
            <a:r>
              <a:rPr lang="en-US" dirty="0"/>
              <a:t>Causes</a:t>
            </a:r>
          </a:p>
          <a:p>
            <a:r>
              <a:rPr lang="en-US" dirty="0"/>
              <a:t>Advantages of BC</a:t>
            </a:r>
          </a:p>
          <a:p>
            <a:r>
              <a:rPr lang="en-US" dirty="0"/>
              <a:t>Disadvantages of BC</a:t>
            </a:r>
          </a:p>
          <a:p>
            <a:r>
              <a:rPr lang="en-US" dirty="0"/>
              <a:t>Techniques of BC</a:t>
            </a:r>
          </a:p>
          <a:p>
            <a:r>
              <a:rPr lang="en-US" dirty="0"/>
              <a:t>Factors influences</a:t>
            </a:r>
          </a:p>
          <a:p>
            <a:r>
              <a:rPr lang="en-US" dirty="0"/>
              <a:t>Process of BC</a:t>
            </a:r>
          </a:p>
          <a:p>
            <a:r>
              <a:rPr lang="en-US" dirty="0"/>
              <a:t>Advantages  and Disadvantages of different types of BC</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229600" cy="1066800"/>
          </a:xfrm>
        </p:spPr>
        <p:txBody>
          <a:bodyPr>
            <a:normAutofit fontScale="90000"/>
          </a:bodyPr>
          <a:lstStyle/>
          <a:p>
            <a:r>
              <a:rPr lang="en-US" b="1" dirty="0"/>
              <a:t>Definition of Business Combination</a:t>
            </a:r>
            <a:endParaRPr lang="en-US" dirty="0"/>
          </a:p>
        </p:txBody>
      </p:sp>
      <p:sp>
        <p:nvSpPr>
          <p:cNvPr id="3" name="Content Placeholder 2"/>
          <p:cNvSpPr>
            <a:spLocks noGrp="1"/>
          </p:cNvSpPr>
          <p:nvPr>
            <p:ph idx="1"/>
          </p:nvPr>
        </p:nvSpPr>
        <p:spPr>
          <a:xfrm>
            <a:off x="457200" y="1905000"/>
            <a:ext cx="8229600" cy="4669536"/>
          </a:xfrm>
        </p:spPr>
        <p:txBody>
          <a:bodyPr/>
          <a:lstStyle/>
          <a:p>
            <a:r>
              <a:rPr lang="en-US" dirty="0"/>
              <a:t>Business combination is a blending of two or more existing undertaking into one undertaking, the shareholders of each blending company becoming substantially the shareholders in the company which is to carry on the blended undertaking. </a:t>
            </a:r>
          </a:p>
          <a:p>
            <a:r>
              <a:rPr lang="en-US" dirty="0"/>
              <a:t>Similar two or more business can form a group of business to face the uncertainty to achieve goals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14400"/>
            <a:ext cx="8229600" cy="1066800"/>
          </a:xfrm>
        </p:spPr>
        <p:txBody>
          <a:bodyPr>
            <a:normAutofit fontScale="90000"/>
          </a:bodyPr>
          <a:lstStyle/>
          <a:p>
            <a:r>
              <a:rPr lang="en-US" b="1" dirty="0"/>
              <a:t>Emergence of Various techniques of business combinations</a:t>
            </a:r>
            <a:endParaRPr lang="en-US" dirty="0"/>
          </a:p>
        </p:txBody>
      </p:sp>
      <p:sp>
        <p:nvSpPr>
          <p:cNvPr id="3" name="Content Placeholder 2"/>
          <p:cNvSpPr>
            <a:spLocks noGrp="1"/>
          </p:cNvSpPr>
          <p:nvPr>
            <p:ph idx="1"/>
          </p:nvPr>
        </p:nvSpPr>
        <p:spPr>
          <a:xfrm>
            <a:off x="457200" y="2133600"/>
            <a:ext cx="8229600" cy="4440936"/>
          </a:xfrm>
        </p:spPr>
        <p:txBody>
          <a:bodyPr>
            <a:normAutofit/>
          </a:bodyPr>
          <a:lstStyle/>
          <a:p>
            <a:r>
              <a:rPr lang="en-US" b="1" dirty="0"/>
              <a:t>From 1897 – 1904: </a:t>
            </a:r>
            <a:r>
              <a:rPr lang="en-US" dirty="0"/>
              <a:t>During this period merger &amp; acquisition took place between the firms like electricity, railways, etc. </a:t>
            </a:r>
          </a:p>
          <a:p>
            <a:r>
              <a:rPr lang="en-US" dirty="0"/>
              <a:t>Most of the mergers during this period were horizontal in nature and occurred between the steel, metal and construction industries.</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14400"/>
            <a:ext cx="8229600" cy="914400"/>
          </a:xfrm>
        </p:spPr>
        <p:txBody>
          <a:bodyPr>
            <a:normAutofit/>
          </a:bodyPr>
          <a:lstStyle/>
          <a:p>
            <a:r>
              <a:rPr lang="en-US" b="1" dirty="0"/>
              <a:t>From 1903 – 1905</a:t>
            </a:r>
            <a:endParaRPr lang="en-US" dirty="0"/>
          </a:p>
        </p:txBody>
      </p:sp>
      <p:sp>
        <p:nvSpPr>
          <p:cNvPr id="3" name="Content Placeholder 2"/>
          <p:cNvSpPr>
            <a:spLocks noGrp="1"/>
          </p:cNvSpPr>
          <p:nvPr>
            <p:ph idx="1"/>
          </p:nvPr>
        </p:nvSpPr>
        <p:spPr>
          <a:xfrm>
            <a:off x="457200" y="1905000"/>
            <a:ext cx="8229600" cy="4669536"/>
          </a:xfrm>
        </p:spPr>
        <p:txBody>
          <a:bodyPr>
            <a:normAutofit/>
          </a:bodyPr>
          <a:lstStyle/>
          <a:p>
            <a:r>
              <a:rPr lang="en-US" dirty="0"/>
              <a:t>Most of the mergers &amp; acquisition which took place during the first phase were considered as </a:t>
            </a:r>
            <a:r>
              <a:rPr lang="en-US" dirty="0">
                <a:solidFill>
                  <a:srgbClr val="FF0000"/>
                </a:solidFill>
              </a:rPr>
              <a:t>unsuccessful</a:t>
            </a:r>
            <a:r>
              <a:rPr lang="en-US" dirty="0"/>
              <a:t> for not being efficient enough to attain the required competence. </a:t>
            </a:r>
          </a:p>
          <a:p>
            <a:r>
              <a:rPr lang="en-US" dirty="0"/>
              <a:t>The crash was stimulated by the </a:t>
            </a:r>
            <a:r>
              <a:rPr lang="en-US" dirty="0">
                <a:solidFill>
                  <a:srgbClr val="FF0000"/>
                </a:solidFill>
              </a:rPr>
              <a:t>decelerating</a:t>
            </a:r>
            <a:r>
              <a:rPr lang="en-US" dirty="0"/>
              <a:t> of the world's financial system in 1903, which was followed by a </a:t>
            </a:r>
            <a:r>
              <a:rPr lang="en-US" dirty="0">
                <a:solidFill>
                  <a:srgbClr val="FF0000"/>
                </a:solidFill>
              </a:rPr>
              <a:t>stock market collapse </a:t>
            </a:r>
            <a:r>
              <a:rPr lang="en-US" dirty="0"/>
              <a:t>in 1904.</a:t>
            </a:r>
          </a:p>
          <a:p>
            <a:r>
              <a:rPr lang="en-US" dirty="0"/>
              <a:t>During this phase the </a:t>
            </a:r>
            <a:r>
              <a:rPr lang="en-US" dirty="0">
                <a:solidFill>
                  <a:srgbClr val="FF0000"/>
                </a:solidFill>
              </a:rPr>
              <a:t>authorized</a:t>
            </a:r>
            <a:r>
              <a:rPr lang="en-US" dirty="0"/>
              <a:t> structure was not encouraging either.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229600" cy="990600"/>
          </a:xfrm>
        </p:spPr>
        <p:txBody>
          <a:bodyPr>
            <a:normAutofit/>
          </a:bodyPr>
          <a:lstStyle/>
          <a:p>
            <a:r>
              <a:rPr lang="en-US" b="1" dirty="0"/>
              <a:t>From 1916 – 1940</a:t>
            </a:r>
            <a:endParaRPr lang="en-US" dirty="0"/>
          </a:p>
        </p:txBody>
      </p:sp>
      <p:sp>
        <p:nvSpPr>
          <p:cNvPr id="3" name="Content Placeholder 2"/>
          <p:cNvSpPr>
            <a:spLocks noGrp="1"/>
          </p:cNvSpPr>
          <p:nvPr>
            <p:ph idx="1"/>
          </p:nvPr>
        </p:nvSpPr>
        <p:spPr>
          <a:xfrm>
            <a:off x="457200" y="1905000"/>
            <a:ext cx="8229600" cy="4669536"/>
          </a:xfrm>
        </p:spPr>
        <p:txBody>
          <a:bodyPr>
            <a:normAutofit/>
          </a:bodyPr>
          <a:lstStyle/>
          <a:p>
            <a:r>
              <a:rPr lang="en-US" dirty="0"/>
              <a:t>The mergers and acquisitions process was </a:t>
            </a:r>
            <a:r>
              <a:rPr lang="en-US" dirty="0">
                <a:solidFill>
                  <a:srgbClr val="FF0000"/>
                </a:solidFill>
              </a:rPr>
              <a:t>triggered </a:t>
            </a:r>
            <a:r>
              <a:rPr lang="en-US" dirty="0"/>
              <a:t>(activate) by the financial boom which was seen after the World War I.</a:t>
            </a:r>
          </a:p>
          <a:p>
            <a:r>
              <a:rPr lang="en-US" dirty="0"/>
              <a:t>The government strategies laid in 1920s made the corporate ambiance (atmosphere) supportive enough for firms to work in harmony. </a:t>
            </a:r>
          </a:p>
          <a:p>
            <a:r>
              <a:rPr lang="en-US" dirty="0"/>
              <a:t>Financial institutions like government and private banks also played a significant part in aiding the mergers and acquisitions process.</a:t>
            </a:r>
            <a:br>
              <a:rPr lang="en-US" dirty="0"/>
            </a:b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14400"/>
            <a:ext cx="8229600" cy="914400"/>
          </a:xfrm>
        </p:spPr>
        <p:txBody>
          <a:bodyPr>
            <a:normAutofit/>
          </a:bodyPr>
          <a:lstStyle/>
          <a:p>
            <a:r>
              <a:rPr lang="en-US" b="1" dirty="0"/>
              <a:t>From 1965 – 1970</a:t>
            </a:r>
            <a:endParaRPr lang="en-US" dirty="0"/>
          </a:p>
        </p:txBody>
      </p:sp>
      <p:sp>
        <p:nvSpPr>
          <p:cNvPr id="3" name="Content Placeholder 2"/>
          <p:cNvSpPr>
            <a:spLocks noGrp="1"/>
          </p:cNvSpPr>
          <p:nvPr>
            <p:ph idx="1"/>
          </p:nvPr>
        </p:nvSpPr>
        <p:spPr>
          <a:xfrm>
            <a:off x="457200" y="1905000"/>
            <a:ext cx="8229600" cy="4669536"/>
          </a:xfrm>
        </p:spPr>
        <p:txBody>
          <a:bodyPr>
            <a:normAutofit fontScale="92500"/>
          </a:bodyPr>
          <a:lstStyle/>
          <a:p>
            <a:r>
              <a:rPr lang="en-US" dirty="0"/>
              <a:t>Most of the mergers from 1965-70 were horizontal mergers and were triggered by elevating stock and interest rates, and stern implementation of </a:t>
            </a:r>
            <a:r>
              <a:rPr lang="en-US" dirty="0">
                <a:solidFill>
                  <a:srgbClr val="FF0000"/>
                </a:solidFill>
              </a:rPr>
              <a:t>anti-trust rules</a:t>
            </a:r>
            <a:r>
              <a:rPr lang="en-US" dirty="0"/>
              <a:t> and regulations. </a:t>
            </a:r>
          </a:p>
          <a:p>
            <a:r>
              <a:rPr lang="en-US" dirty="0"/>
              <a:t>During this phase the bidding companies were small in size and fiscal strength than the target companies. </a:t>
            </a:r>
          </a:p>
          <a:p>
            <a:r>
              <a:rPr lang="en-US" dirty="0"/>
              <a:t>These kinds of mergers were sponsored by equities, thereby eliminating the roles of banks which they actively played in investment activities earlier. </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p:cNvPicPr>
            <a:picLocks noChangeAspect="1" noChangeArrowheads="1"/>
          </p:cNvPicPr>
          <p:nvPr/>
        </p:nvPicPr>
        <p:blipFill>
          <a:blip r:embed="rId2" cstate="print"/>
          <a:srcRect/>
          <a:stretch>
            <a:fillRect/>
          </a:stretch>
        </p:blipFill>
        <p:spPr bwMode="auto">
          <a:xfrm>
            <a:off x="457200" y="685800"/>
            <a:ext cx="8229600" cy="5867400"/>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229600" cy="990600"/>
          </a:xfrm>
        </p:spPr>
        <p:txBody>
          <a:bodyPr/>
          <a:lstStyle/>
          <a:p>
            <a:r>
              <a:rPr lang="en-US" b="1" dirty="0"/>
              <a:t>From 1981 – 1989</a:t>
            </a:r>
            <a:endParaRPr lang="en-US" dirty="0"/>
          </a:p>
        </p:txBody>
      </p:sp>
      <p:sp>
        <p:nvSpPr>
          <p:cNvPr id="3" name="Content Placeholder 2"/>
          <p:cNvSpPr>
            <a:spLocks noGrp="1"/>
          </p:cNvSpPr>
          <p:nvPr>
            <p:ph idx="1"/>
          </p:nvPr>
        </p:nvSpPr>
        <p:spPr>
          <a:xfrm>
            <a:off x="457200" y="1981200"/>
            <a:ext cx="8229600" cy="4593336"/>
          </a:xfrm>
        </p:spPr>
        <p:txBody>
          <a:bodyPr>
            <a:normAutofit/>
          </a:bodyPr>
          <a:lstStyle/>
          <a:p>
            <a:r>
              <a:rPr lang="en-US" dirty="0"/>
              <a:t>This phase saw the </a:t>
            </a:r>
            <a:r>
              <a:rPr lang="en-US" dirty="0">
                <a:solidFill>
                  <a:srgbClr val="FF0000"/>
                </a:solidFill>
              </a:rPr>
              <a:t>acquisition</a:t>
            </a:r>
            <a:r>
              <a:rPr lang="en-US" dirty="0"/>
              <a:t> of the companies which were much bigger in size as compared to the firms in previous phases. </a:t>
            </a:r>
          </a:p>
          <a:p>
            <a:r>
              <a:rPr lang="en-US" dirty="0"/>
              <a:t>Industries like oil and gas, pharmaceuticals, banking, aviation combined their business with their national and international counterparts. </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229600" cy="1143000"/>
          </a:xfrm>
        </p:spPr>
        <p:txBody>
          <a:bodyPr/>
          <a:lstStyle/>
          <a:p>
            <a:r>
              <a:rPr lang="en-US" b="1" dirty="0"/>
              <a:t>From 1992 till present</a:t>
            </a:r>
            <a:endParaRPr lang="en-US" dirty="0"/>
          </a:p>
        </p:txBody>
      </p:sp>
      <p:sp>
        <p:nvSpPr>
          <p:cNvPr id="3" name="Content Placeholder 2"/>
          <p:cNvSpPr>
            <a:spLocks noGrp="1"/>
          </p:cNvSpPr>
          <p:nvPr>
            <p:ph idx="1"/>
          </p:nvPr>
        </p:nvSpPr>
        <p:spPr/>
        <p:txBody>
          <a:bodyPr>
            <a:normAutofit lnSpcReduction="10000"/>
          </a:bodyPr>
          <a:lstStyle/>
          <a:p>
            <a:r>
              <a:rPr lang="en-US" dirty="0"/>
              <a:t>This period was stimulated by </a:t>
            </a:r>
            <a:r>
              <a:rPr lang="en-US" dirty="0">
                <a:solidFill>
                  <a:srgbClr val="FF0000"/>
                </a:solidFill>
              </a:rPr>
              <a:t>globalization</a:t>
            </a:r>
            <a:r>
              <a:rPr lang="en-US" dirty="0"/>
              <a:t>, upsurge in stock market boom and </a:t>
            </a:r>
            <a:r>
              <a:rPr lang="en-US" dirty="0">
                <a:solidFill>
                  <a:srgbClr val="FF0000"/>
                </a:solidFill>
              </a:rPr>
              <a:t>deregulation</a:t>
            </a:r>
            <a:r>
              <a:rPr lang="en-US" dirty="0"/>
              <a:t> policies. </a:t>
            </a:r>
          </a:p>
          <a:p>
            <a:r>
              <a:rPr lang="en-US" dirty="0"/>
              <a:t>Major mergers were seen taking place between </a:t>
            </a:r>
            <a:r>
              <a:rPr lang="en-US" dirty="0">
                <a:solidFill>
                  <a:srgbClr val="FF0000"/>
                </a:solidFill>
              </a:rPr>
              <a:t>telecom and banking </a:t>
            </a:r>
            <a:r>
              <a:rPr lang="en-US" dirty="0"/>
              <a:t>giants out of which most were sponsored by equities. </a:t>
            </a:r>
          </a:p>
          <a:p>
            <a:r>
              <a:rPr lang="en-US" dirty="0"/>
              <a:t>Therefore, we can conclude that as long as business entities exist and the economic factors are favorable, the trend of mergers and acquisitions will continue.</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1066800"/>
          </a:xfrm>
        </p:spPr>
        <p:txBody>
          <a:bodyPr/>
          <a:lstStyle/>
          <a:p>
            <a:r>
              <a:rPr lang="en-US" b="1" dirty="0"/>
              <a:t>Causes of Business combination</a:t>
            </a:r>
            <a:endParaRPr lang="en-US" dirty="0"/>
          </a:p>
        </p:txBody>
      </p:sp>
      <p:sp>
        <p:nvSpPr>
          <p:cNvPr id="3" name="Content Placeholder 2"/>
          <p:cNvSpPr>
            <a:spLocks noGrp="1"/>
          </p:cNvSpPr>
          <p:nvPr>
            <p:ph idx="1"/>
          </p:nvPr>
        </p:nvSpPr>
        <p:spPr>
          <a:xfrm>
            <a:off x="457200" y="1905000"/>
            <a:ext cx="8229600" cy="4669536"/>
          </a:xfrm>
        </p:spPr>
        <p:txBody>
          <a:bodyPr>
            <a:normAutofit/>
          </a:bodyPr>
          <a:lstStyle/>
          <a:p>
            <a:r>
              <a:rPr lang="en-US" dirty="0"/>
              <a:t>Wasteful competition</a:t>
            </a:r>
          </a:p>
          <a:p>
            <a:r>
              <a:rPr lang="en-US" dirty="0"/>
              <a:t>Economics of large-scale operation</a:t>
            </a:r>
          </a:p>
          <a:p>
            <a:r>
              <a:rPr lang="en-US" dirty="0"/>
              <a:t>Desire for monopoly power</a:t>
            </a:r>
          </a:p>
          <a:p>
            <a:r>
              <a:rPr lang="en-US" dirty="0"/>
              <a:t>Business cycles</a:t>
            </a:r>
          </a:p>
          <a:p>
            <a:r>
              <a:rPr lang="en-US" dirty="0"/>
              <a:t>Tariffs</a:t>
            </a:r>
          </a:p>
          <a:p>
            <a:r>
              <a:rPr lang="en-US" dirty="0"/>
              <a:t>Individual organizing ability and ambition</a:t>
            </a:r>
          </a:p>
          <a:p>
            <a:r>
              <a:rPr lang="en-US" dirty="0"/>
              <a:t>Respect for large size business</a:t>
            </a:r>
          </a:p>
          <a:p>
            <a:r>
              <a:rPr lang="en-US" dirty="0"/>
              <a:t>Rationalization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Advantages of Business Combination</a:t>
            </a:r>
            <a:endParaRPr lang="en-US" dirty="0"/>
          </a:p>
        </p:txBody>
      </p:sp>
      <p:sp>
        <p:nvSpPr>
          <p:cNvPr id="3" name="Content Placeholder 2"/>
          <p:cNvSpPr>
            <a:spLocks noGrp="1"/>
          </p:cNvSpPr>
          <p:nvPr>
            <p:ph idx="1"/>
          </p:nvPr>
        </p:nvSpPr>
        <p:spPr/>
        <p:txBody>
          <a:bodyPr>
            <a:normAutofit fontScale="92500" lnSpcReduction="10000"/>
          </a:bodyPr>
          <a:lstStyle/>
          <a:p>
            <a:r>
              <a:rPr lang="en-US" dirty="0"/>
              <a:t>Increase in Capital</a:t>
            </a:r>
          </a:p>
          <a:p>
            <a:r>
              <a:rPr lang="en-US" dirty="0"/>
              <a:t>Elimination of Competition</a:t>
            </a:r>
          </a:p>
          <a:p>
            <a:r>
              <a:rPr lang="en-US" dirty="0"/>
              <a:t>Saving in Expenses</a:t>
            </a:r>
          </a:p>
          <a:p>
            <a:r>
              <a:rPr lang="en-US" dirty="0"/>
              <a:t>Controls over Production</a:t>
            </a:r>
          </a:p>
          <a:p>
            <a:r>
              <a:rPr lang="en-US" dirty="0"/>
              <a:t>Large Scale Marketing</a:t>
            </a:r>
          </a:p>
          <a:p>
            <a:r>
              <a:rPr lang="en-US" dirty="0"/>
              <a:t>Experts Services</a:t>
            </a:r>
          </a:p>
          <a:p>
            <a:r>
              <a:rPr lang="en-US" dirty="0"/>
              <a:t>Research Work</a:t>
            </a:r>
          </a:p>
          <a:p>
            <a:r>
              <a:rPr lang="en-US" dirty="0"/>
              <a:t>Use of Modern Technology</a:t>
            </a:r>
          </a:p>
          <a:p>
            <a:r>
              <a:rPr lang="en-US" dirty="0"/>
              <a:t>Stability</a:t>
            </a:r>
          </a:p>
          <a:p>
            <a:r>
              <a:rPr lang="en-US" dirty="0"/>
              <a:t>Division of Labor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990600"/>
            <a:ext cx="8305800" cy="914400"/>
          </a:xfrm>
        </p:spPr>
        <p:txBody>
          <a:bodyPr>
            <a:normAutofit/>
          </a:bodyPr>
          <a:lstStyle/>
          <a:p>
            <a:r>
              <a:rPr lang="en-US" sz="3200" b="1" dirty="0"/>
              <a:t>Disadvantages of Business Combination</a:t>
            </a:r>
            <a:endParaRPr lang="en-US" sz="3200" dirty="0"/>
          </a:p>
        </p:txBody>
      </p:sp>
      <p:sp>
        <p:nvSpPr>
          <p:cNvPr id="3" name="Content Placeholder 2"/>
          <p:cNvSpPr>
            <a:spLocks noGrp="1"/>
          </p:cNvSpPr>
          <p:nvPr>
            <p:ph idx="1"/>
          </p:nvPr>
        </p:nvSpPr>
        <p:spPr>
          <a:xfrm>
            <a:off x="457200" y="1981200"/>
            <a:ext cx="8229600" cy="4593336"/>
          </a:xfrm>
        </p:spPr>
        <p:txBody>
          <a:bodyPr>
            <a:normAutofit lnSpcReduction="10000"/>
          </a:bodyPr>
          <a:lstStyle/>
          <a:p>
            <a:r>
              <a:rPr lang="en-US" dirty="0"/>
              <a:t>Creation of Monopoly</a:t>
            </a:r>
          </a:p>
          <a:p>
            <a:r>
              <a:rPr lang="en-US" dirty="0"/>
              <a:t>Concentration of Wealth</a:t>
            </a:r>
          </a:p>
          <a:p>
            <a:r>
              <a:rPr lang="en-US" dirty="0"/>
              <a:t>Not Acceptable</a:t>
            </a:r>
          </a:p>
          <a:p>
            <a:r>
              <a:rPr lang="en-US" dirty="0"/>
              <a:t>Changes of Friction</a:t>
            </a:r>
          </a:p>
          <a:p>
            <a:r>
              <a:rPr lang="en-US" dirty="0"/>
              <a:t>No Personal Contact</a:t>
            </a:r>
          </a:p>
          <a:p>
            <a:r>
              <a:rPr lang="en-US" dirty="0"/>
              <a:t>Costly Management</a:t>
            </a:r>
          </a:p>
          <a:p>
            <a:r>
              <a:rPr lang="en-US" dirty="0"/>
              <a:t>Over Capitalization</a:t>
            </a:r>
          </a:p>
          <a:p>
            <a:r>
              <a:rPr lang="en-US" dirty="0"/>
              <a:t>Misuse of Funds</a:t>
            </a:r>
          </a:p>
          <a:p>
            <a:r>
              <a:rPr lang="en-US" dirty="0"/>
              <a:t>National Interest Ignored</a:t>
            </a:r>
          </a:p>
          <a:p>
            <a:r>
              <a:rPr lang="en-US" dirty="0"/>
              <a:t>Speculation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combinations</a:t>
            </a:r>
            <a:endParaRPr lang="en-US" dirty="0"/>
          </a:p>
        </p:txBody>
      </p:sp>
      <p:sp>
        <p:nvSpPr>
          <p:cNvPr id="3" name="Content Placeholder 2"/>
          <p:cNvSpPr>
            <a:spLocks noGrp="1"/>
          </p:cNvSpPr>
          <p:nvPr>
            <p:ph idx="1"/>
          </p:nvPr>
        </p:nvSpPr>
        <p:spPr/>
        <p:txBody>
          <a:bodyPr/>
          <a:lstStyle/>
          <a:p>
            <a:r>
              <a:rPr lang="en-US" b="1" dirty="0"/>
              <a:t>Horizontal combination: </a:t>
            </a:r>
          </a:p>
          <a:p>
            <a:r>
              <a:rPr lang="en-US" dirty="0"/>
              <a:t>A horizontal combination comes into being when units carrying on the same trade or pursuing the same productive activity join together with common end in view. </a:t>
            </a:r>
          </a:p>
          <a:p>
            <a:r>
              <a:rPr lang="en-US" dirty="0"/>
              <a:t>Examples of such combinations are provided by the Sugar Syndicate and Association of cement companies in Bangladesh</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14400"/>
            <a:ext cx="8229600" cy="990600"/>
          </a:xfrm>
        </p:spPr>
        <p:txBody>
          <a:bodyPr/>
          <a:lstStyle/>
          <a:p>
            <a:r>
              <a:rPr lang="en-US" b="1" dirty="0"/>
              <a:t>Horizontal combination</a:t>
            </a:r>
            <a:endParaRPr lang="en-US" dirty="0"/>
          </a:p>
        </p:txBody>
      </p:sp>
      <p:graphicFrame>
        <p:nvGraphicFramePr>
          <p:cNvPr id="4" name="Content Placeholder 3"/>
          <p:cNvGraphicFramePr>
            <a:graphicFrameLocks noGrp="1"/>
          </p:cNvGraphicFramePr>
          <p:nvPr>
            <p:ph idx="1"/>
          </p:nvPr>
        </p:nvGraphicFramePr>
        <p:xfrm>
          <a:off x="1371602" y="2209800"/>
          <a:ext cx="6705598" cy="2819400"/>
        </p:xfrm>
        <a:graphic>
          <a:graphicData uri="http://schemas.openxmlformats.org/drawingml/2006/table">
            <a:tbl>
              <a:tblPr/>
              <a:tblGrid>
                <a:gridCol w="1247553">
                  <a:extLst>
                    <a:ext uri="{9D8B030D-6E8A-4147-A177-3AD203B41FA5}">
                      <a16:colId xmlns:a16="http://schemas.microsoft.com/office/drawing/2014/main" val="20000"/>
                    </a:ext>
                  </a:extLst>
                </a:gridCol>
                <a:gridCol w="1448053">
                  <a:extLst>
                    <a:ext uri="{9D8B030D-6E8A-4147-A177-3AD203B41FA5}">
                      <a16:colId xmlns:a16="http://schemas.microsoft.com/office/drawing/2014/main" val="20001"/>
                    </a:ext>
                  </a:extLst>
                </a:gridCol>
                <a:gridCol w="1336664">
                  <a:extLst>
                    <a:ext uri="{9D8B030D-6E8A-4147-A177-3AD203B41FA5}">
                      <a16:colId xmlns:a16="http://schemas.microsoft.com/office/drawing/2014/main" val="20002"/>
                    </a:ext>
                  </a:extLst>
                </a:gridCol>
                <a:gridCol w="1336664">
                  <a:extLst>
                    <a:ext uri="{9D8B030D-6E8A-4147-A177-3AD203B41FA5}">
                      <a16:colId xmlns:a16="http://schemas.microsoft.com/office/drawing/2014/main" val="20003"/>
                    </a:ext>
                  </a:extLst>
                </a:gridCol>
                <a:gridCol w="1336664">
                  <a:extLst>
                    <a:ext uri="{9D8B030D-6E8A-4147-A177-3AD203B41FA5}">
                      <a16:colId xmlns:a16="http://schemas.microsoft.com/office/drawing/2014/main" val="20004"/>
                    </a:ext>
                  </a:extLst>
                </a:gridCol>
              </a:tblGrid>
              <a:tr h="939800">
                <a:tc>
                  <a:txBody>
                    <a:bodyPr/>
                    <a:lstStyle/>
                    <a:p>
                      <a:pPr marL="0" marR="0" algn="just">
                        <a:lnSpc>
                          <a:spcPct val="115000"/>
                        </a:lnSpc>
                        <a:spcBef>
                          <a:spcPts val="0"/>
                        </a:spcBef>
                        <a:spcAft>
                          <a:spcPts val="0"/>
                        </a:spcAft>
                      </a:pPr>
                      <a:r>
                        <a:rPr lang="en-US" sz="3600" dirty="0">
                          <a:solidFill>
                            <a:srgbClr val="FFFFFF"/>
                          </a:solidFill>
                          <a:latin typeface="Times New Roman"/>
                          <a:ea typeface="Calibri"/>
                          <a:cs typeface="Times New Roman"/>
                        </a:rPr>
                        <a:t>Sugar</a:t>
                      </a:r>
                      <a:endParaRPr lang="en-US" sz="3600" dirty="0">
                        <a:latin typeface="Calibri"/>
                        <a:ea typeface="Calibri"/>
                        <a:cs typeface="Times New Roman"/>
                      </a:endParaRPr>
                    </a:p>
                  </a:txBody>
                  <a:tcPr marL="68580" marR="68580" marT="0" marB="0">
                    <a:lnL>
                      <a:noFill/>
                    </a:lnL>
                    <a:lnR>
                      <a:noFill/>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000000"/>
                    </a:solidFill>
                  </a:tcPr>
                </a:tc>
                <a:tc>
                  <a:txBody>
                    <a:bodyPr/>
                    <a:lstStyle/>
                    <a:p>
                      <a:pPr marL="0" marR="0" algn="just">
                        <a:lnSpc>
                          <a:spcPct val="115000"/>
                        </a:lnSpc>
                        <a:spcBef>
                          <a:spcPts val="0"/>
                        </a:spcBef>
                        <a:spcAft>
                          <a:spcPts val="0"/>
                        </a:spcAft>
                      </a:pPr>
                      <a:r>
                        <a:rPr lang="en-US" sz="3600" dirty="0">
                          <a:solidFill>
                            <a:srgbClr val="FFFFFF"/>
                          </a:solidFill>
                          <a:latin typeface="Times New Roman"/>
                          <a:ea typeface="Calibri"/>
                          <a:cs typeface="Times New Roman"/>
                        </a:rPr>
                        <a:t>Sugar</a:t>
                      </a:r>
                      <a:endParaRPr lang="en-US" sz="3600" dirty="0">
                        <a:latin typeface="Calibri"/>
                        <a:ea typeface="Calibri"/>
                        <a:cs typeface="Times New Roman"/>
                      </a:endParaRPr>
                    </a:p>
                  </a:txBody>
                  <a:tcPr marL="68580" marR="68580" marT="0" marB="0">
                    <a:lnL>
                      <a:noFill/>
                    </a:lnL>
                    <a:lnR>
                      <a:noFill/>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000000"/>
                    </a:solidFill>
                  </a:tcPr>
                </a:tc>
                <a:tc>
                  <a:txBody>
                    <a:bodyPr/>
                    <a:lstStyle/>
                    <a:p>
                      <a:pPr marL="0" marR="0" algn="just">
                        <a:lnSpc>
                          <a:spcPct val="115000"/>
                        </a:lnSpc>
                        <a:spcBef>
                          <a:spcPts val="0"/>
                        </a:spcBef>
                        <a:spcAft>
                          <a:spcPts val="0"/>
                        </a:spcAft>
                      </a:pPr>
                      <a:r>
                        <a:rPr lang="en-US" sz="3600" dirty="0">
                          <a:solidFill>
                            <a:srgbClr val="FFFFFF"/>
                          </a:solidFill>
                          <a:latin typeface="Times New Roman"/>
                          <a:ea typeface="Calibri"/>
                          <a:cs typeface="Times New Roman"/>
                        </a:rPr>
                        <a:t>Sugar</a:t>
                      </a:r>
                      <a:endParaRPr lang="en-US" sz="3600" dirty="0">
                        <a:latin typeface="Calibri"/>
                        <a:ea typeface="Calibri"/>
                        <a:cs typeface="Times New Roman"/>
                      </a:endParaRPr>
                    </a:p>
                  </a:txBody>
                  <a:tcPr marL="68580" marR="68580" marT="0" marB="0">
                    <a:lnL>
                      <a:noFill/>
                    </a:lnL>
                    <a:lnR>
                      <a:noFill/>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000000"/>
                    </a:solidFill>
                  </a:tcPr>
                </a:tc>
                <a:tc>
                  <a:txBody>
                    <a:bodyPr/>
                    <a:lstStyle/>
                    <a:p>
                      <a:pPr marL="0" marR="0" algn="just">
                        <a:lnSpc>
                          <a:spcPct val="115000"/>
                        </a:lnSpc>
                        <a:spcBef>
                          <a:spcPts val="0"/>
                        </a:spcBef>
                        <a:spcAft>
                          <a:spcPts val="0"/>
                        </a:spcAft>
                      </a:pPr>
                      <a:r>
                        <a:rPr lang="en-US" sz="3600">
                          <a:solidFill>
                            <a:srgbClr val="FFFFFF"/>
                          </a:solidFill>
                          <a:latin typeface="Times New Roman"/>
                          <a:ea typeface="Calibri"/>
                          <a:cs typeface="Times New Roman"/>
                        </a:rPr>
                        <a:t>Sugar</a:t>
                      </a:r>
                      <a:endParaRPr lang="en-US" sz="3600">
                        <a:latin typeface="Calibri"/>
                        <a:ea typeface="Calibri"/>
                        <a:cs typeface="Times New Roman"/>
                      </a:endParaRPr>
                    </a:p>
                  </a:txBody>
                  <a:tcPr marL="68580" marR="68580" marT="0" marB="0">
                    <a:lnL>
                      <a:noFill/>
                    </a:lnL>
                    <a:lnR>
                      <a:noFill/>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000000"/>
                    </a:solidFill>
                  </a:tcPr>
                </a:tc>
                <a:tc rowSpan="3">
                  <a:txBody>
                    <a:bodyPr/>
                    <a:lstStyle/>
                    <a:p>
                      <a:pPr marL="0" marR="0" algn="ctr">
                        <a:lnSpc>
                          <a:spcPct val="115000"/>
                        </a:lnSpc>
                        <a:spcBef>
                          <a:spcPts val="0"/>
                        </a:spcBef>
                        <a:spcAft>
                          <a:spcPts val="0"/>
                        </a:spcAft>
                      </a:pPr>
                      <a:r>
                        <a:rPr lang="en-US" sz="2800" b="1" dirty="0">
                          <a:latin typeface="Times New Roman"/>
                          <a:ea typeface="Calibri"/>
                          <a:cs typeface="Times New Roman"/>
                        </a:rPr>
                        <a:t>Market</a:t>
                      </a:r>
                      <a:endParaRPr lang="en-US" sz="2800" dirty="0">
                        <a:latin typeface="Calibri"/>
                        <a:ea typeface="Calibri"/>
                        <a:cs typeface="Times New Roman"/>
                      </a:endParaRPr>
                    </a:p>
                    <a:p>
                      <a:pPr marL="0" marR="0" algn="ctr">
                        <a:lnSpc>
                          <a:spcPct val="115000"/>
                        </a:lnSpc>
                        <a:spcBef>
                          <a:spcPts val="0"/>
                        </a:spcBef>
                        <a:spcAft>
                          <a:spcPts val="1000"/>
                        </a:spcAft>
                      </a:pPr>
                      <a:r>
                        <a:rPr lang="en-US" sz="3600" b="1" dirty="0">
                          <a:latin typeface="Times New Roman"/>
                          <a:ea typeface="Calibri"/>
                          <a:cs typeface="Times New Roman"/>
                        </a:rPr>
                        <a:t>Total</a:t>
                      </a:r>
                      <a:endParaRPr lang="en-US" sz="3600" dirty="0">
                        <a:latin typeface="Calibri"/>
                        <a:ea typeface="Calibri"/>
                        <a:cs typeface="Times New Roman"/>
                      </a:endParaRPr>
                    </a:p>
                  </a:txBody>
                  <a:tcPr marL="68580" marR="68580" marT="0" marB="0">
                    <a:lnL>
                      <a:noFill/>
                    </a:lnL>
                    <a:lnR>
                      <a:noFill/>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939800">
                <a:tc>
                  <a:txBody>
                    <a:bodyPr/>
                    <a:lstStyle/>
                    <a:p>
                      <a:pPr marL="0" marR="0" algn="just">
                        <a:lnSpc>
                          <a:spcPct val="115000"/>
                        </a:lnSpc>
                        <a:spcBef>
                          <a:spcPts val="0"/>
                        </a:spcBef>
                        <a:spcAft>
                          <a:spcPts val="0"/>
                        </a:spcAft>
                      </a:pPr>
                      <a:r>
                        <a:rPr lang="en-US" sz="3600">
                          <a:latin typeface="Times New Roman"/>
                          <a:ea typeface="Calibri"/>
                          <a:cs typeface="Times New Roman"/>
                        </a:rPr>
                        <a:t>Mill</a:t>
                      </a:r>
                      <a:endParaRPr lang="en-US" sz="3600">
                        <a:latin typeface="Calibri"/>
                        <a:ea typeface="Calibri"/>
                        <a:cs typeface="Times New Roman"/>
                      </a:endParaRPr>
                    </a:p>
                  </a:txBody>
                  <a:tcPr marL="68580" marR="68580" marT="0" marB="0">
                    <a:lnL>
                      <a:noFill/>
                    </a:lnL>
                    <a:lnR>
                      <a:noFill/>
                    </a:lnR>
                    <a:lnT w="28575" cap="flat" cmpd="sng" algn="ctr">
                      <a:solidFill>
                        <a:srgbClr val="000000"/>
                      </a:solidFill>
                      <a:prstDash val="solid"/>
                      <a:round/>
                      <a:headEnd type="none" w="med" len="med"/>
                      <a:tailEnd type="none" w="med" len="med"/>
                    </a:lnT>
                    <a:lnB>
                      <a:noFill/>
                    </a:lnB>
                  </a:tcPr>
                </a:tc>
                <a:tc>
                  <a:txBody>
                    <a:bodyPr/>
                    <a:lstStyle/>
                    <a:p>
                      <a:pPr marL="0" marR="0" algn="just">
                        <a:lnSpc>
                          <a:spcPct val="115000"/>
                        </a:lnSpc>
                        <a:spcBef>
                          <a:spcPts val="0"/>
                        </a:spcBef>
                        <a:spcAft>
                          <a:spcPts val="0"/>
                        </a:spcAft>
                      </a:pPr>
                      <a:r>
                        <a:rPr lang="en-US" sz="3600">
                          <a:latin typeface="Times New Roman"/>
                          <a:ea typeface="Calibri"/>
                          <a:cs typeface="Times New Roman"/>
                        </a:rPr>
                        <a:t>Mill</a:t>
                      </a:r>
                      <a:endParaRPr lang="en-US" sz="3600">
                        <a:latin typeface="Calibri"/>
                        <a:ea typeface="Calibri"/>
                        <a:cs typeface="Times New Roman"/>
                      </a:endParaRPr>
                    </a:p>
                  </a:txBody>
                  <a:tcPr marL="68580" marR="68580" marT="0" marB="0">
                    <a:lnL>
                      <a:noFill/>
                    </a:lnL>
                    <a:lnR>
                      <a:noFill/>
                    </a:lnR>
                    <a:lnT w="28575" cap="flat" cmpd="sng" algn="ctr">
                      <a:solidFill>
                        <a:srgbClr val="000000"/>
                      </a:solidFill>
                      <a:prstDash val="solid"/>
                      <a:round/>
                      <a:headEnd type="none" w="med" len="med"/>
                      <a:tailEnd type="none" w="med" len="med"/>
                    </a:lnT>
                    <a:lnB>
                      <a:noFill/>
                    </a:lnB>
                  </a:tcPr>
                </a:tc>
                <a:tc>
                  <a:txBody>
                    <a:bodyPr/>
                    <a:lstStyle/>
                    <a:p>
                      <a:pPr marL="0" marR="0" algn="just">
                        <a:lnSpc>
                          <a:spcPct val="115000"/>
                        </a:lnSpc>
                        <a:spcBef>
                          <a:spcPts val="0"/>
                        </a:spcBef>
                        <a:spcAft>
                          <a:spcPts val="0"/>
                        </a:spcAft>
                      </a:pPr>
                      <a:r>
                        <a:rPr lang="en-US" sz="3600" dirty="0">
                          <a:latin typeface="Times New Roman"/>
                          <a:ea typeface="Calibri"/>
                          <a:cs typeface="Times New Roman"/>
                        </a:rPr>
                        <a:t>Mill</a:t>
                      </a:r>
                      <a:endParaRPr lang="en-US" sz="3600" dirty="0">
                        <a:latin typeface="Calibri"/>
                        <a:ea typeface="Calibri"/>
                        <a:cs typeface="Times New Roman"/>
                      </a:endParaRPr>
                    </a:p>
                  </a:txBody>
                  <a:tcPr marL="68580" marR="68580" marT="0" marB="0">
                    <a:lnL>
                      <a:noFill/>
                    </a:lnL>
                    <a:lnR>
                      <a:noFill/>
                    </a:lnR>
                    <a:lnT w="28575" cap="flat" cmpd="sng" algn="ctr">
                      <a:solidFill>
                        <a:srgbClr val="000000"/>
                      </a:solidFill>
                      <a:prstDash val="solid"/>
                      <a:round/>
                      <a:headEnd type="none" w="med" len="med"/>
                      <a:tailEnd type="none" w="med" len="med"/>
                    </a:lnT>
                    <a:lnB>
                      <a:noFill/>
                    </a:lnB>
                  </a:tcPr>
                </a:tc>
                <a:tc>
                  <a:txBody>
                    <a:bodyPr/>
                    <a:lstStyle/>
                    <a:p>
                      <a:pPr marL="0" marR="0" algn="just">
                        <a:lnSpc>
                          <a:spcPct val="115000"/>
                        </a:lnSpc>
                        <a:spcBef>
                          <a:spcPts val="0"/>
                        </a:spcBef>
                        <a:spcAft>
                          <a:spcPts val="0"/>
                        </a:spcAft>
                      </a:pPr>
                      <a:r>
                        <a:rPr lang="en-US" sz="3600" dirty="0">
                          <a:latin typeface="Times New Roman"/>
                          <a:ea typeface="Calibri"/>
                          <a:cs typeface="Times New Roman"/>
                        </a:rPr>
                        <a:t>Mill</a:t>
                      </a:r>
                      <a:endParaRPr lang="en-US" sz="3600" dirty="0">
                        <a:latin typeface="Calibri"/>
                        <a:ea typeface="Calibri"/>
                        <a:cs typeface="Times New Roman"/>
                      </a:endParaRPr>
                    </a:p>
                  </a:txBody>
                  <a:tcPr marL="68580" marR="68580" marT="0" marB="0">
                    <a:lnL>
                      <a:noFill/>
                    </a:lnL>
                    <a:lnR>
                      <a:noFill/>
                    </a:lnR>
                    <a:lnT w="28575" cap="flat" cmpd="sng" algn="ctr">
                      <a:solidFill>
                        <a:srgbClr val="000000"/>
                      </a:solidFill>
                      <a:prstDash val="solid"/>
                      <a:round/>
                      <a:headEnd type="none" w="med" len="med"/>
                      <a:tailEnd type="none" w="med" len="med"/>
                    </a:lnT>
                    <a:lnB>
                      <a:noFill/>
                    </a:lnB>
                  </a:tcPr>
                </a:tc>
                <a:tc vMerge="1">
                  <a:txBody>
                    <a:bodyPr/>
                    <a:lstStyle/>
                    <a:p>
                      <a:endParaRPr lang="en-US"/>
                    </a:p>
                  </a:txBody>
                  <a:tcPr/>
                </a:tc>
                <a:extLst>
                  <a:ext uri="{0D108BD9-81ED-4DB2-BD59-A6C34878D82A}">
                    <a16:rowId xmlns:a16="http://schemas.microsoft.com/office/drawing/2014/main" val="10001"/>
                  </a:ext>
                </a:extLst>
              </a:tr>
              <a:tr h="939800">
                <a:tc>
                  <a:txBody>
                    <a:bodyPr/>
                    <a:lstStyle/>
                    <a:p>
                      <a:pPr marL="0" marR="0" algn="just">
                        <a:lnSpc>
                          <a:spcPct val="115000"/>
                        </a:lnSpc>
                        <a:spcBef>
                          <a:spcPts val="0"/>
                        </a:spcBef>
                        <a:spcAft>
                          <a:spcPts val="0"/>
                        </a:spcAft>
                      </a:pPr>
                      <a:r>
                        <a:rPr lang="en-US" sz="3600">
                          <a:latin typeface="Times New Roman"/>
                          <a:ea typeface="Calibri"/>
                          <a:cs typeface="Times New Roman"/>
                        </a:rPr>
                        <a:t>1</a:t>
                      </a:r>
                      <a:endParaRPr lang="en-US" sz="3600">
                        <a:latin typeface="Calibri"/>
                        <a:ea typeface="Calibri"/>
                        <a:cs typeface="Times New Roman"/>
                      </a:endParaRPr>
                    </a:p>
                  </a:txBody>
                  <a:tcPr marL="68580" marR="68580" marT="0" marB="0">
                    <a:lnL>
                      <a:noFill/>
                    </a:lnL>
                    <a:lnR>
                      <a:noFill/>
                    </a:lnR>
                    <a:lnT>
                      <a:noFill/>
                    </a:lnT>
                    <a:lnB w="28575"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3600">
                          <a:latin typeface="Times New Roman"/>
                          <a:ea typeface="Calibri"/>
                          <a:cs typeface="Times New Roman"/>
                        </a:rPr>
                        <a:t>2</a:t>
                      </a:r>
                      <a:endParaRPr lang="en-US" sz="3600">
                        <a:latin typeface="Calibri"/>
                        <a:ea typeface="Calibri"/>
                        <a:cs typeface="Times New Roman"/>
                      </a:endParaRPr>
                    </a:p>
                  </a:txBody>
                  <a:tcPr marL="68580" marR="68580" marT="0" marB="0">
                    <a:lnL>
                      <a:noFill/>
                    </a:lnL>
                    <a:lnR>
                      <a:noFill/>
                    </a:lnR>
                    <a:lnT>
                      <a:noFill/>
                    </a:lnT>
                    <a:lnB w="28575"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3600">
                          <a:latin typeface="Times New Roman"/>
                          <a:ea typeface="Calibri"/>
                          <a:cs typeface="Times New Roman"/>
                        </a:rPr>
                        <a:t>3</a:t>
                      </a:r>
                      <a:endParaRPr lang="en-US" sz="3600">
                        <a:latin typeface="Calibri"/>
                        <a:ea typeface="Calibri"/>
                        <a:cs typeface="Times New Roman"/>
                      </a:endParaRPr>
                    </a:p>
                  </a:txBody>
                  <a:tcPr marL="68580" marR="68580" marT="0" marB="0">
                    <a:lnL>
                      <a:noFill/>
                    </a:lnL>
                    <a:lnR>
                      <a:noFill/>
                    </a:lnR>
                    <a:lnT>
                      <a:noFill/>
                    </a:lnT>
                    <a:lnB w="28575"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3600" dirty="0">
                          <a:latin typeface="Times New Roman"/>
                          <a:ea typeface="Calibri"/>
                          <a:cs typeface="Times New Roman"/>
                        </a:rPr>
                        <a:t>4</a:t>
                      </a:r>
                      <a:endParaRPr lang="en-US" sz="3600" dirty="0">
                        <a:latin typeface="Calibri"/>
                        <a:ea typeface="Calibri"/>
                        <a:cs typeface="Times New Roman"/>
                      </a:endParaRPr>
                    </a:p>
                  </a:txBody>
                  <a:tcPr marL="68580" marR="68580" marT="0" marB="0">
                    <a:lnL>
                      <a:noFill/>
                    </a:lnL>
                    <a:lnR>
                      <a:noFill/>
                    </a:lnR>
                    <a:lnT>
                      <a:noFill/>
                    </a:lnT>
                    <a:lnB w="28575"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Vertical combination</a:t>
            </a:r>
          </a:p>
        </p:txBody>
      </p:sp>
      <p:sp>
        <p:nvSpPr>
          <p:cNvPr id="3" name="Content Placeholder 2"/>
          <p:cNvSpPr>
            <a:spLocks noGrp="1"/>
          </p:cNvSpPr>
          <p:nvPr>
            <p:ph idx="1"/>
          </p:nvPr>
        </p:nvSpPr>
        <p:spPr/>
        <p:txBody>
          <a:bodyPr/>
          <a:lstStyle/>
          <a:p>
            <a:r>
              <a:rPr lang="en-US" dirty="0"/>
              <a:t>Vertical combination is the combination of firms in successive stages of the same industry. It implies the integration of various processes of an industry. </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185837370"/>
              </p:ext>
            </p:extLst>
          </p:nvPr>
        </p:nvGraphicFramePr>
        <p:xfrm>
          <a:off x="2209800" y="4343400"/>
          <a:ext cx="3657600" cy="1828800"/>
        </p:xfrm>
        <a:graphic>
          <a:graphicData uri="http://schemas.openxmlformats.org/drawingml/2006/table">
            <a:tbl>
              <a:tblPr firstRow="1" bandRow="1">
                <a:tableStyleId>{5C22544A-7EE6-4342-B048-85BDC9FD1C3A}</a:tableStyleId>
              </a:tblPr>
              <a:tblGrid>
                <a:gridCol w="9906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tblGrid>
              <a:tr h="370840">
                <a:tc>
                  <a:txBody>
                    <a:bodyPr/>
                    <a:lstStyle/>
                    <a:p>
                      <a:r>
                        <a:rPr lang="en-US" sz="2400" dirty="0">
                          <a:latin typeface="Times New Roman" panose="02020603050405020304" pitchFamily="18" charset="0"/>
                          <a:cs typeface="Times New Roman" panose="02020603050405020304" pitchFamily="18" charset="0"/>
                        </a:rPr>
                        <a:t>1</a:t>
                      </a:r>
                    </a:p>
                  </a:txBody>
                  <a:tcPr/>
                </a:tc>
                <a:tc>
                  <a:txBody>
                    <a:bodyPr/>
                    <a:lstStyle/>
                    <a:p>
                      <a:r>
                        <a:rPr lang="en-US" sz="2400" dirty="0">
                          <a:latin typeface="Times New Roman" panose="02020603050405020304" pitchFamily="18" charset="0"/>
                          <a:cs typeface="Times New Roman" panose="02020603050405020304" pitchFamily="18" charset="0"/>
                        </a:rPr>
                        <a:t>Cotton</a:t>
                      </a:r>
                    </a:p>
                  </a:txBody>
                  <a:tcPr/>
                </a:tc>
                <a:tc>
                  <a:txBody>
                    <a:bodyPr/>
                    <a:lstStyle/>
                    <a:p>
                      <a:r>
                        <a:rPr lang="en-US" sz="2400" dirty="0">
                          <a:latin typeface="Times New Roman" panose="02020603050405020304" pitchFamily="18" charset="0"/>
                          <a:cs typeface="Times New Roman" panose="02020603050405020304" pitchFamily="18" charset="0"/>
                        </a:rPr>
                        <a:t>Ginning</a:t>
                      </a:r>
                    </a:p>
                  </a:txBody>
                  <a:tcPr/>
                </a:tc>
                <a:extLst>
                  <a:ext uri="{0D108BD9-81ED-4DB2-BD59-A6C34878D82A}">
                    <a16:rowId xmlns:a16="http://schemas.microsoft.com/office/drawing/2014/main" val="10000"/>
                  </a:ext>
                </a:extLst>
              </a:tr>
              <a:tr h="370840">
                <a:tc>
                  <a:txBody>
                    <a:bodyPr/>
                    <a:lstStyle/>
                    <a:p>
                      <a:r>
                        <a:rPr lang="en-US" sz="2400" dirty="0">
                          <a:latin typeface="Times New Roman" panose="02020603050405020304" pitchFamily="18" charset="0"/>
                          <a:cs typeface="Times New Roman" panose="02020603050405020304" pitchFamily="18" charset="0"/>
                        </a:rPr>
                        <a:t>2</a:t>
                      </a:r>
                    </a:p>
                  </a:txBody>
                  <a:tcPr/>
                </a:tc>
                <a:tc>
                  <a:txBody>
                    <a:bodyPr/>
                    <a:lstStyle/>
                    <a:p>
                      <a:r>
                        <a:rPr lang="en-US" sz="2400" dirty="0">
                          <a:latin typeface="Times New Roman" panose="02020603050405020304" pitchFamily="18" charset="0"/>
                          <a:cs typeface="Times New Roman" panose="02020603050405020304" pitchFamily="18" charset="0"/>
                        </a:rPr>
                        <a:t>Cotton</a:t>
                      </a:r>
                    </a:p>
                  </a:txBody>
                  <a:tcPr/>
                </a:tc>
                <a:tc>
                  <a:txBody>
                    <a:bodyPr/>
                    <a:lstStyle/>
                    <a:p>
                      <a:r>
                        <a:rPr lang="en-US" sz="2400" dirty="0">
                          <a:latin typeface="Times New Roman" panose="02020603050405020304" pitchFamily="18" charset="0"/>
                          <a:cs typeface="Times New Roman" panose="02020603050405020304" pitchFamily="18" charset="0"/>
                        </a:rPr>
                        <a:t>Spinning</a:t>
                      </a:r>
                    </a:p>
                  </a:txBody>
                  <a:tcPr/>
                </a:tc>
                <a:extLst>
                  <a:ext uri="{0D108BD9-81ED-4DB2-BD59-A6C34878D82A}">
                    <a16:rowId xmlns:a16="http://schemas.microsoft.com/office/drawing/2014/main" val="10001"/>
                  </a:ext>
                </a:extLst>
              </a:tr>
              <a:tr h="370840">
                <a:tc>
                  <a:txBody>
                    <a:bodyPr/>
                    <a:lstStyle/>
                    <a:p>
                      <a:r>
                        <a:rPr lang="en-US" sz="2400" dirty="0">
                          <a:latin typeface="Times New Roman" panose="02020603050405020304" pitchFamily="18" charset="0"/>
                          <a:cs typeface="Times New Roman" panose="02020603050405020304" pitchFamily="18" charset="0"/>
                        </a:rPr>
                        <a:t>3</a:t>
                      </a:r>
                    </a:p>
                  </a:txBody>
                  <a:tcPr/>
                </a:tc>
                <a:tc>
                  <a:txBody>
                    <a:bodyPr/>
                    <a:lstStyle/>
                    <a:p>
                      <a:r>
                        <a:rPr lang="en-US" sz="2400" dirty="0">
                          <a:latin typeface="Times New Roman" panose="02020603050405020304" pitchFamily="18" charset="0"/>
                          <a:cs typeface="Times New Roman" panose="02020603050405020304" pitchFamily="18" charset="0"/>
                        </a:rPr>
                        <a:t>Cotton</a:t>
                      </a:r>
                    </a:p>
                  </a:txBody>
                  <a:tcPr/>
                </a:tc>
                <a:tc>
                  <a:txBody>
                    <a:bodyPr/>
                    <a:lstStyle/>
                    <a:p>
                      <a:r>
                        <a:rPr lang="en-US" sz="2400" dirty="0">
                          <a:latin typeface="Times New Roman" panose="02020603050405020304" pitchFamily="18" charset="0"/>
                          <a:cs typeface="Times New Roman" panose="02020603050405020304" pitchFamily="18" charset="0"/>
                        </a:rPr>
                        <a:t>Weaving </a:t>
                      </a:r>
                    </a:p>
                  </a:txBody>
                  <a:tcPr/>
                </a:tc>
                <a:extLst>
                  <a:ext uri="{0D108BD9-81ED-4DB2-BD59-A6C34878D82A}">
                    <a16:rowId xmlns:a16="http://schemas.microsoft.com/office/drawing/2014/main" val="10002"/>
                  </a:ext>
                </a:extLst>
              </a:tr>
              <a:tr h="370840">
                <a:tc>
                  <a:txBody>
                    <a:bodyPr/>
                    <a:lstStyle/>
                    <a:p>
                      <a:r>
                        <a:rPr lang="en-US" sz="2400" dirty="0">
                          <a:latin typeface="Times New Roman" panose="02020603050405020304" pitchFamily="18" charset="0"/>
                          <a:cs typeface="Times New Roman" panose="02020603050405020304" pitchFamily="18" charset="0"/>
                        </a:rPr>
                        <a:t>4</a:t>
                      </a:r>
                    </a:p>
                  </a:txBody>
                  <a:tcPr/>
                </a:tc>
                <a:tc>
                  <a:txBody>
                    <a:bodyPr/>
                    <a:lstStyle/>
                    <a:p>
                      <a:r>
                        <a:rPr lang="en-US" sz="2400" dirty="0">
                          <a:latin typeface="Times New Roman" panose="02020603050405020304" pitchFamily="18" charset="0"/>
                          <a:cs typeface="Times New Roman" panose="02020603050405020304" pitchFamily="18" charset="0"/>
                        </a:rPr>
                        <a:t>Cotton</a:t>
                      </a:r>
                    </a:p>
                  </a:txBody>
                  <a:tcPr/>
                </a:tc>
                <a:tc>
                  <a:txBody>
                    <a:bodyPr/>
                    <a:lstStyle/>
                    <a:p>
                      <a:r>
                        <a:rPr lang="en-US" sz="2400" dirty="0">
                          <a:latin typeface="Times New Roman" panose="02020603050405020304" pitchFamily="18" charset="0"/>
                          <a:cs typeface="Times New Roman" panose="02020603050405020304" pitchFamily="18" charset="0"/>
                        </a:rPr>
                        <a:t>Market</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0339036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990600"/>
          </a:xfrm>
        </p:spPr>
        <p:txBody>
          <a:bodyPr>
            <a:normAutofit/>
          </a:bodyPr>
          <a:lstStyle/>
          <a:p>
            <a:r>
              <a:rPr lang="en-US" b="1" dirty="0"/>
              <a:t>Lateral or Allied Combination</a:t>
            </a:r>
            <a:endParaRPr lang="en-US" dirty="0"/>
          </a:p>
        </p:txBody>
      </p:sp>
      <p:sp>
        <p:nvSpPr>
          <p:cNvPr id="3" name="Content Placeholder 2"/>
          <p:cNvSpPr>
            <a:spLocks noGrp="1"/>
          </p:cNvSpPr>
          <p:nvPr>
            <p:ph idx="1"/>
          </p:nvPr>
        </p:nvSpPr>
        <p:spPr>
          <a:xfrm>
            <a:off x="457200" y="1905000"/>
            <a:ext cx="8229600" cy="4221163"/>
          </a:xfrm>
        </p:spPr>
        <p:txBody>
          <a:bodyPr>
            <a:normAutofit/>
          </a:bodyPr>
          <a:lstStyle/>
          <a:p>
            <a:pPr lvl="0"/>
            <a:r>
              <a:rPr lang="en-US" dirty="0"/>
              <a:t>Lateral integration refers to the combination of those firms which manufacture different kinds of products though they are ‘allied in some way’.</a:t>
            </a:r>
          </a:p>
          <a:p>
            <a:pPr lvl="0"/>
            <a:r>
              <a:rPr lang="en-US" dirty="0"/>
              <a:t>It can be of two kinds </a:t>
            </a:r>
          </a:p>
          <a:p>
            <a:pPr lvl="0">
              <a:buNone/>
            </a:pPr>
            <a:r>
              <a:rPr lang="en-US" dirty="0"/>
              <a:t>	</a:t>
            </a:r>
            <a:r>
              <a:rPr lang="en-US" dirty="0" err="1"/>
              <a:t>i</a:t>
            </a:r>
            <a:r>
              <a:rPr lang="en-US" dirty="0"/>
              <a:t>) </a:t>
            </a:r>
            <a:r>
              <a:rPr lang="en-US" dirty="0">
                <a:solidFill>
                  <a:srgbClr val="FF0000"/>
                </a:solidFill>
              </a:rPr>
              <a:t>convergent lateral integration</a:t>
            </a:r>
            <a:r>
              <a:rPr lang="en-US" dirty="0"/>
              <a:t> and </a:t>
            </a:r>
          </a:p>
          <a:p>
            <a:pPr lvl="0">
              <a:buNone/>
            </a:pPr>
            <a:r>
              <a:rPr lang="en-US" dirty="0"/>
              <a:t>	ii) </a:t>
            </a:r>
            <a:r>
              <a:rPr lang="en-US" dirty="0">
                <a:solidFill>
                  <a:srgbClr val="FF0000"/>
                </a:solidFill>
              </a:rPr>
              <a:t>divergent lateral integration</a:t>
            </a:r>
            <a:r>
              <a:rPr lang="en-US" dirty="0"/>
              <a:t>.</a:t>
            </a:r>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838200"/>
          </a:xfrm>
        </p:spPr>
        <p:txBody>
          <a:bodyPr/>
          <a:lstStyle/>
          <a:p>
            <a:r>
              <a:rPr lang="en-US" b="1" dirty="0"/>
              <a:t>Lateral or Allied Combination</a:t>
            </a:r>
            <a:endParaRPr lang="en-US" dirty="0"/>
          </a:p>
        </p:txBody>
      </p:sp>
      <p:sp>
        <p:nvSpPr>
          <p:cNvPr id="3" name="Content Placeholder 2"/>
          <p:cNvSpPr>
            <a:spLocks noGrp="1"/>
          </p:cNvSpPr>
          <p:nvPr>
            <p:ph idx="1"/>
          </p:nvPr>
        </p:nvSpPr>
        <p:spPr/>
        <p:txBody>
          <a:bodyPr/>
          <a:lstStyle/>
          <a:p>
            <a:r>
              <a:rPr lang="en-US" dirty="0">
                <a:solidFill>
                  <a:srgbClr val="FF0000"/>
                </a:solidFill>
              </a:rPr>
              <a:t>Convergent lateral combination </a:t>
            </a:r>
            <a:r>
              <a:rPr lang="en-US" dirty="0"/>
              <a:t>comes into existence when different firms join together to supply goods and services to help the functioning of one major undertaking. </a:t>
            </a:r>
          </a:p>
          <a:p>
            <a:r>
              <a:rPr lang="en-US" dirty="0"/>
              <a:t>For instance a book publishing may join with other units producing paper, doing printing work and providing book binding services.</a:t>
            </a:r>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1219200"/>
          </a:xfrm>
        </p:spPr>
        <p:txBody>
          <a:bodyPr/>
          <a:lstStyle/>
          <a:p>
            <a:r>
              <a:rPr lang="en-US" dirty="0">
                <a:solidFill>
                  <a:srgbClr val="0070C0"/>
                </a:solidFill>
              </a:rPr>
              <a:t>Convergent lateral combination</a:t>
            </a:r>
          </a:p>
        </p:txBody>
      </p:sp>
      <p:grpSp>
        <p:nvGrpSpPr>
          <p:cNvPr id="4" name="Group 2"/>
          <p:cNvGrpSpPr>
            <a:grpSpLocks/>
          </p:cNvGrpSpPr>
          <p:nvPr/>
        </p:nvGrpSpPr>
        <p:grpSpPr bwMode="auto">
          <a:xfrm>
            <a:off x="1219200" y="2286001"/>
            <a:ext cx="6324600" cy="3352799"/>
            <a:chOff x="1980" y="5340"/>
            <a:chExt cx="3570" cy="3285"/>
          </a:xfrm>
        </p:grpSpPr>
        <p:sp>
          <p:nvSpPr>
            <p:cNvPr id="31747" name="Text Box 3"/>
            <p:cNvSpPr txBox="1">
              <a:spLocks noChangeArrowheads="1"/>
            </p:cNvSpPr>
            <p:nvPr/>
          </p:nvSpPr>
          <p:spPr bwMode="auto">
            <a:xfrm>
              <a:off x="1980" y="5340"/>
              <a:ext cx="1155" cy="132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600"/>
                </a:spcAft>
                <a:buClrTx/>
                <a:buSzTx/>
                <a:buFontTx/>
                <a:buNone/>
                <a:tabLst/>
              </a:pPr>
              <a:r>
                <a:rPr kumimoji="0" lang="en-US" sz="3200" b="0" i="0" u="none" strike="noStrike" cap="none" normalizeH="0" baseline="0" dirty="0">
                  <a:ln>
                    <a:noFill/>
                  </a:ln>
                  <a:solidFill>
                    <a:schemeClr val="tx1"/>
                  </a:solidFill>
                  <a:effectLst/>
                  <a:latin typeface="Times New Roman" pitchFamily="18" charset="0"/>
                  <a:cs typeface="Arial" pitchFamily="34" charset="0"/>
                </a:rPr>
                <a:t>Printing</a:t>
              </a:r>
            </a:p>
            <a:p>
              <a:pPr marL="0" marR="0" lvl="0" indent="0" algn="ctr" defTabSz="914400" rtl="0" eaLnBrk="1" fontAlgn="base" latinLnBrk="0" hangingPunct="1">
                <a:lnSpc>
                  <a:spcPct val="100000"/>
                </a:lnSpc>
                <a:spcBef>
                  <a:spcPct val="0"/>
                </a:spcBef>
                <a:spcAft>
                  <a:spcPts val="600"/>
                </a:spcAft>
                <a:buClrTx/>
                <a:buSzTx/>
                <a:buFontTx/>
                <a:buNone/>
                <a:tabLst/>
              </a:pPr>
              <a:r>
                <a:rPr kumimoji="0" lang="en-US" sz="3200" b="0" i="0" u="none" strike="noStrike" cap="none" normalizeH="0" baseline="0" dirty="0">
                  <a:ln>
                    <a:noFill/>
                  </a:ln>
                  <a:solidFill>
                    <a:schemeClr val="tx1"/>
                  </a:solidFill>
                  <a:effectLst/>
                  <a:latin typeface="Times New Roman" pitchFamily="18" charset="0"/>
                  <a:cs typeface="Arial" pitchFamily="34" charset="0"/>
                </a:rPr>
                <a:t>Press</a:t>
              </a:r>
              <a:endParaRPr kumimoji="0" lang="en-US" sz="3200" b="0" i="0" u="none" strike="noStrike" cap="none" normalizeH="0" baseline="0" dirty="0">
                <a:ln>
                  <a:noFill/>
                </a:ln>
                <a:solidFill>
                  <a:schemeClr val="tx1"/>
                </a:solidFill>
                <a:effectLst/>
                <a:latin typeface="Arial" pitchFamily="34" charset="0"/>
                <a:cs typeface="Arial" pitchFamily="34" charset="0"/>
              </a:endParaRPr>
            </a:p>
          </p:txBody>
        </p:sp>
        <p:sp>
          <p:nvSpPr>
            <p:cNvPr id="31748" name="Text Box 4"/>
            <p:cNvSpPr txBox="1">
              <a:spLocks noChangeArrowheads="1"/>
            </p:cNvSpPr>
            <p:nvPr/>
          </p:nvSpPr>
          <p:spPr bwMode="auto">
            <a:xfrm>
              <a:off x="4395" y="5340"/>
              <a:ext cx="1155" cy="132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3200" b="0" i="0" u="none" strike="noStrike" cap="none" normalizeH="0" baseline="0" dirty="0">
                  <a:ln>
                    <a:noFill/>
                  </a:ln>
                  <a:solidFill>
                    <a:schemeClr val="tx1"/>
                  </a:solidFill>
                  <a:effectLst/>
                  <a:latin typeface="Times New Roman" pitchFamily="18" charset="0"/>
                  <a:cs typeface="Arial" pitchFamily="34" charset="0"/>
                </a:rPr>
                <a:t>Paper</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3200" b="0" i="0" u="none" strike="noStrike" cap="none" normalizeH="0" baseline="0" dirty="0">
                  <a:ln>
                    <a:noFill/>
                  </a:ln>
                  <a:solidFill>
                    <a:schemeClr val="tx1"/>
                  </a:solidFill>
                  <a:effectLst/>
                  <a:latin typeface="Times New Roman" pitchFamily="18" charset="0"/>
                  <a:cs typeface="Arial" pitchFamily="34" charset="0"/>
                </a:rPr>
                <a:t>Mill</a:t>
              </a:r>
              <a:endParaRPr kumimoji="0" lang="en-US" sz="3200" b="0" i="0" u="none" strike="noStrike" cap="none" normalizeH="0" baseline="0" dirty="0">
                <a:ln>
                  <a:noFill/>
                </a:ln>
                <a:solidFill>
                  <a:schemeClr val="tx1"/>
                </a:solidFill>
                <a:effectLst/>
                <a:latin typeface="Arial" pitchFamily="34" charset="0"/>
                <a:cs typeface="Arial" pitchFamily="34" charset="0"/>
              </a:endParaRPr>
            </a:p>
          </p:txBody>
        </p:sp>
        <p:sp>
          <p:nvSpPr>
            <p:cNvPr id="31749" name="Text Box 5"/>
            <p:cNvSpPr txBox="1">
              <a:spLocks noChangeArrowheads="1"/>
            </p:cNvSpPr>
            <p:nvPr/>
          </p:nvSpPr>
          <p:spPr bwMode="auto">
            <a:xfrm>
              <a:off x="1980" y="7140"/>
              <a:ext cx="3570" cy="540"/>
            </a:xfrm>
            <a:prstGeom prst="rect">
              <a:avLst/>
            </a:prstGeom>
            <a:noFill/>
            <a:ln w="38100">
              <a:solidFill>
                <a:srgbClr val="F2F2F2"/>
              </a:solidFill>
              <a:miter lim="800000"/>
              <a:headEnd/>
              <a:tailEnd/>
            </a:ln>
            <a:effectLst>
              <a:outerShdw dist="28398" dir="3806097" algn="ctr" rotWithShape="0">
                <a:srgbClr val="7F7F7F">
                  <a:alpha val="50000"/>
                </a:srgbClr>
              </a:out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2800" b="0" i="0" u="none" strike="noStrike" cap="none" normalizeH="0" baseline="0">
                  <a:ln>
                    <a:noFill/>
                  </a:ln>
                  <a:solidFill>
                    <a:schemeClr val="tx1"/>
                  </a:solidFill>
                  <a:effectLst/>
                  <a:latin typeface="Calibri" pitchFamily="34" charset="0"/>
                  <a:cs typeface="Arial" pitchFamily="34" charset="0"/>
                </a:rPr>
                <a:t>Book                       Publishing</a:t>
              </a:r>
              <a:endParaRPr kumimoji="0" lang="en-US" sz="4400" b="0" i="0" u="none" strike="noStrike" cap="none" normalizeH="0" baseline="0">
                <a:ln>
                  <a:noFill/>
                </a:ln>
                <a:solidFill>
                  <a:schemeClr val="tx1"/>
                </a:solidFill>
                <a:effectLst/>
                <a:latin typeface="Arial" pitchFamily="34" charset="0"/>
                <a:cs typeface="Arial" pitchFamily="34" charset="0"/>
              </a:endParaRPr>
            </a:p>
          </p:txBody>
        </p:sp>
        <p:sp>
          <p:nvSpPr>
            <p:cNvPr id="31750" name="Text Box 6"/>
            <p:cNvSpPr txBox="1">
              <a:spLocks noChangeArrowheads="1"/>
            </p:cNvSpPr>
            <p:nvPr/>
          </p:nvSpPr>
          <p:spPr bwMode="auto">
            <a:xfrm>
              <a:off x="1980" y="8085"/>
              <a:ext cx="3570" cy="54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3200" b="0" i="0" u="none" strike="noStrike" cap="none" normalizeH="0" baseline="0" dirty="0">
                  <a:ln>
                    <a:noFill/>
                  </a:ln>
                  <a:solidFill>
                    <a:schemeClr val="tx1"/>
                  </a:solidFill>
                  <a:effectLst/>
                  <a:latin typeface="Calibri" pitchFamily="34" charset="0"/>
                  <a:cs typeface="Arial" pitchFamily="34" charset="0"/>
                </a:rPr>
                <a:t>Binding		Form</a:t>
              </a:r>
              <a:endParaRPr kumimoji="0" lang="en-US" sz="3200" b="0" i="0" u="none" strike="noStrike" cap="none" normalizeH="0" baseline="0" dirty="0">
                <a:ln>
                  <a:noFill/>
                </a:ln>
                <a:solidFill>
                  <a:schemeClr val="tx1"/>
                </a:solidFill>
                <a:effectLst/>
                <a:latin typeface="Arial" pitchFamily="34" charset="0"/>
                <a:cs typeface="Arial" pitchFamily="34" charset="0"/>
              </a:endParaRPr>
            </a:p>
          </p:txBody>
        </p:sp>
        <p:cxnSp>
          <p:nvCxnSpPr>
            <p:cNvPr id="31751" name="AutoShape 7"/>
            <p:cNvCxnSpPr>
              <a:cxnSpLocks noChangeShapeType="1"/>
            </p:cNvCxnSpPr>
            <p:nvPr/>
          </p:nvCxnSpPr>
          <p:spPr bwMode="auto">
            <a:xfrm>
              <a:off x="2685" y="6660"/>
              <a:ext cx="285" cy="480"/>
            </a:xfrm>
            <a:prstGeom prst="straightConnector1">
              <a:avLst/>
            </a:prstGeom>
            <a:noFill/>
            <a:ln w="9525">
              <a:solidFill>
                <a:srgbClr val="000000"/>
              </a:solidFill>
              <a:round/>
              <a:headEnd/>
              <a:tailEnd type="triangle" w="med" len="med"/>
            </a:ln>
          </p:spPr>
        </p:cxnSp>
        <p:cxnSp>
          <p:nvCxnSpPr>
            <p:cNvPr id="31752" name="AutoShape 8"/>
            <p:cNvCxnSpPr>
              <a:cxnSpLocks noChangeShapeType="1"/>
            </p:cNvCxnSpPr>
            <p:nvPr/>
          </p:nvCxnSpPr>
          <p:spPr bwMode="auto">
            <a:xfrm flipH="1">
              <a:off x="4785" y="6660"/>
              <a:ext cx="285" cy="480"/>
            </a:xfrm>
            <a:prstGeom prst="straightConnector1">
              <a:avLst/>
            </a:prstGeom>
            <a:noFill/>
            <a:ln w="9525">
              <a:solidFill>
                <a:srgbClr val="000000"/>
              </a:solidFill>
              <a:round/>
              <a:headEnd/>
              <a:tailEnd type="triangle" w="med" len="med"/>
            </a:ln>
          </p:spPr>
        </p:cxnSp>
        <p:cxnSp>
          <p:nvCxnSpPr>
            <p:cNvPr id="31753" name="AutoShape 9"/>
            <p:cNvCxnSpPr>
              <a:cxnSpLocks noChangeShapeType="1"/>
            </p:cNvCxnSpPr>
            <p:nvPr/>
          </p:nvCxnSpPr>
          <p:spPr bwMode="auto">
            <a:xfrm flipV="1">
              <a:off x="3630" y="7680"/>
              <a:ext cx="0" cy="405"/>
            </a:xfrm>
            <a:prstGeom prst="straightConnector1">
              <a:avLst/>
            </a:prstGeom>
            <a:noFill/>
            <a:ln w="9525">
              <a:solidFill>
                <a:srgbClr val="000000"/>
              </a:solidFill>
              <a:round/>
              <a:headEnd/>
              <a:tailEnd type="triangle" w="med" len="med"/>
            </a:ln>
          </p:spPr>
        </p:cxn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229600" cy="1066800"/>
          </a:xfrm>
        </p:spPr>
        <p:txBody>
          <a:bodyPr>
            <a:normAutofit fontScale="90000"/>
          </a:bodyPr>
          <a:lstStyle/>
          <a:p>
            <a:r>
              <a:rPr lang="en-US" b="1" dirty="0"/>
              <a:t>Divergent lateral integration or combination</a:t>
            </a:r>
          </a:p>
        </p:txBody>
      </p:sp>
      <p:sp>
        <p:nvSpPr>
          <p:cNvPr id="3" name="Content Placeholder 2"/>
          <p:cNvSpPr>
            <a:spLocks noGrp="1"/>
          </p:cNvSpPr>
          <p:nvPr>
            <p:ph idx="1"/>
          </p:nvPr>
        </p:nvSpPr>
        <p:spPr/>
        <p:txBody>
          <a:bodyPr>
            <a:normAutofit/>
          </a:bodyPr>
          <a:lstStyle/>
          <a:p>
            <a:r>
              <a:rPr lang="en-US" dirty="0">
                <a:solidFill>
                  <a:srgbClr val="FF0000"/>
                </a:solidFill>
              </a:rPr>
              <a:t>When a major firm supplies its product to the other combining firms which use it as their raw material. </a:t>
            </a:r>
          </a:p>
          <a:p>
            <a:r>
              <a:rPr lang="en-US" dirty="0"/>
              <a:t>Thus, the product of one firm becomes the raw material of many other firms. </a:t>
            </a:r>
          </a:p>
          <a:p>
            <a:r>
              <a:rPr lang="en-US" dirty="0"/>
              <a:t>For example, ship breaking output will use in the Steel mill as r/m.</a:t>
            </a:r>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14400"/>
            <a:ext cx="8229600" cy="838200"/>
          </a:xfrm>
        </p:spPr>
        <p:txBody>
          <a:bodyPr>
            <a:normAutofit fontScale="90000"/>
          </a:bodyPr>
          <a:lstStyle/>
          <a:p>
            <a:r>
              <a:rPr lang="en-US" b="1" dirty="0"/>
              <a:t>Divergent lateral integration or combination</a:t>
            </a:r>
            <a:endParaRPr lang="en-US" dirty="0"/>
          </a:p>
        </p:txBody>
      </p:sp>
      <p:grpSp>
        <p:nvGrpSpPr>
          <p:cNvPr id="32770" name="Group 2"/>
          <p:cNvGrpSpPr>
            <a:grpSpLocks/>
          </p:cNvGrpSpPr>
          <p:nvPr/>
        </p:nvGrpSpPr>
        <p:grpSpPr bwMode="auto">
          <a:xfrm>
            <a:off x="1638300" y="2362200"/>
            <a:ext cx="5067300" cy="3048000"/>
            <a:chOff x="2580" y="11055"/>
            <a:chExt cx="6075" cy="1170"/>
          </a:xfrm>
        </p:grpSpPr>
        <p:sp>
          <p:nvSpPr>
            <p:cNvPr id="32771" name="Text Box 3"/>
            <p:cNvSpPr txBox="1">
              <a:spLocks noChangeArrowheads="1"/>
            </p:cNvSpPr>
            <p:nvPr/>
          </p:nvSpPr>
          <p:spPr bwMode="auto">
            <a:xfrm>
              <a:off x="2580" y="11055"/>
              <a:ext cx="1065" cy="1170"/>
            </a:xfrm>
            <a:prstGeom prst="rect">
              <a:avLst/>
            </a:prstGeom>
            <a:solidFill>
              <a:schemeClr val="bg1"/>
            </a:solidFill>
            <a:ln w="38100">
              <a:solidFill>
                <a:srgbClr val="F2F2F2"/>
              </a:solidFill>
              <a:miter lim="800000"/>
              <a:headEnd/>
              <a:tailEnd/>
            </a:ln>
            <a:effectLst>
              <a:outerShdw dist="28398" dir="3806097" algn="ctr" rotWithShape="0">
                <a:srgbClr val="7F7F7F">
                  <a:alpha val="50000"/>
                </a:srgbClr>
              </a:outerShdw>
            </a:effectLst>
          </p:spPr>
          <p:txBody>
            <a:bodyPr vert="vert270"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endParaRPr kumimoji="0" lang="en-US" sz="1050" b="1" i="0" u="none" strike="noStrike" cap="none" normalizeH="0" baseline="0" dirty="0">
                <a:ln>
                  <a:noFill/>
                </a:ln>
                <a:effectLst/>
                <a:latin typeface="Times New Roman" pitchFamily="18" charset="0"/>
                <a:cs typeface="Arial" pitchFamily="34" charset="0"/>
              </a:endParaRPr>
            </a:p>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3200" b="1" i="0" u="none" strike="noStrike" cap="none" normalizeH="0" baseline="0" dirty="0">
                  <a:ln>
                    <a:noFill/>
                  </a:ln>
                  <a:effectLst/>
                  <a:latin typeface="Calibri" pitchFamily="34" charset="0"/>
                  <a:cs typeface="Arial" pitchFamily="34" charset="0"/>
                </a:rPr>
                <a:t>Steel</a:t>
              </a:r>
              <a:endParaRPr kumimoji="0" lang="en-US" sz="4800" b="1" i="0" u="none" strike="noStrike" cap="none" normalizeH="0" baseline="0" dirty="0">
                <a:ln>
                  <a:noFill/>
                </a:ln>
                <a:effectLst/>
                <a:latin typeface="Arial" pitchFamily="34" charset="0"/>
                <a:cs typeface="Arial" pitchFamily="34" charset="0"/>
              </a:endParaRPr>
            </a:p>
          </p:txBody>
        </p:sp>
        <p:sp>
          <p:nvSpPr>
            <p:cNvPr id="32772" name="Text Box 4"/>
            <p:cNvSpPr txBox="1">
              <a:spLocks noChangeArrowheads="1"/>
            </p:cNvSpPr>
            <p:nvPr/>
          </p:nvSpPr>
          <p:spPr bwMode="auto">
            <a:xfrm>
              <a:off x="4230" y="11400"/>
              <a:ext cx="1065" cy="435"/>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800" b="0" i="0" u="none" strike="noStrike" cap="none" normalizeH="0" baseline="0" dirty="0">
                  <a:ln>
                    <a:noFill/>
                  </a:ln>
                  <a:solidFill>
                    <a:schemeClr val="tx1"/>
                  </a:solidFill>
                  <a:effectLst/>
                  <a:latin typeface="Calibri" pitchFamily="34" charset="0"/>
                  <a:cs typeface="Arial" pitchFamily="34" charset="0"/>
                </a:rPr>
                <a:t>Tube</a:t>
              </a:r>
              <a:endParaRPr kumimoji="0" lang="en-US" sz="2800" b="0" i="0" u="none" strike="noStrike" cap="none" normalizeH="0" baseline="0" dirty="0">
                <a:ln>
                  <a:noFill/>
                </a:ln>
                <a:solidFill>
                  <a:schemeClr val="tx1"/>
                </a:solidFill>
                <a:effectLst/>
                <a:latin typeface="Arial" pitchFamily="34" charset="0"/>
                <a:cs typeface="Arial" pitchFamily="34" charset="0"/>
              </a:endParaRPr>
            </a:p>
          </p:txBody>
        </p:sp>
        <p:sp>
          <p:nvSpPr>
            <p:cNvPr id="32773" name="Text Box 5"/>
            <p:cNvSpPr txBox="1">
              <a:spLocks noChangeArrowheads="1"/>
            </p:cNvSpPr>
            <p:nvPr/>
          </p:nvSpPr>
          <p:spPr bwMode="auto">
            <a:xfrm>
              <a:off x="6045" y="11400"/>
              <a:ext cx="1240" cy="435"/>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3200" b="0" i="0" u="none" strike="noStrike" cap="none" normalizeH="0" baseline="0" dirty="0">
                  <a:ln>
                    <a:noFill/>
                  </a:ln>
                  <a:solidFill>
                    <a:schemeClr val="tx1"/>
                  </a:solidFill>
                  <a:effectLst/>
                  <a:latin typeface="Calibri" pitchFamily="34" charset="0"/>
                  <a:cs typeface="Arial" pitchFamily="34" charset="0"/>
                </a:rPr>
                <a:t>Wire</a:t>
              </a:r>
              <a:endParaRPr kumimoji="0" lang="en-US" sz="3200" b="0" i="0" u="none" strike="noStrike" cap="none" normalizeH="0" baseline="0" dirty="0">
                <a:ln>
                  <a:noFill/>
                </a:ln>
                <a:solidFill>
                  <a:schemeClr val="tx1"/>
                </a:solidFill>
                <a:effectLst/>
                <a:latin typeface="Arial" pitchFamily="34" charset="0"/>
                <a:cs typeface="Arial" pitchFamily="34" charset="0"/>
              </a:endParaRPr>
            </a:p>
          </p:txBody>
        </p:sp>
        <p:sp>
          <p:nvSpPr>
            <p:cNvPr id="32774" name="Text Box 6"/>
            <p:cNvSpPr txBox="1">
              <a:spLocks noChangeArrowheads="1"/>
            </p:cNvSpPr>
            <p:nvPr/>
          </p:nvSpPr>
          <p:spPr bwMode="auto">
            <a:xfrm>
              <a:off x="7590" y="11400"/>
              <a:ext cx="1065" cy="435"/>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800" b="0" i="0" u="none" strike="noStrike" cap="none" normalizeH="0" baseline="0" dirty="0">
                  <a:ln>
                    <a:noFill/>
                  </a:ln>
                  <a:solidFill>
                    <a:schemeClr val="tx1"/>
                  </a:solidFill>
                  <a:effectLst/>
                  <a:latin typeface="Calibri" pitchFamily="34" charset="0"/>
                  <a:cs typeface="Arial" pitchFamily="34" charset="0"/>
                </a:rPr>
                <a:t>Nails</a:t>
              </a:r>
              <a:endParaRPr kumimoji="0" lang="en-US" sz="2800" b="0" i="0" u="none" strike="noStrike" cap="none" normalizeH="0" baseline="0" dirty="0">
                <a:ln>
                  <a:noFill/>
                </a:ln>
                <a:solidFill>
                  <a:schemeClr val="tx1"/>
                </a:solidFill>
                <a:effectLst/>
                <a:latin typeface="Arial" pitchFamily="34" charset="0"/>
                <a:cs typeface="Arial" pitchFamily="34" charset="0"/>
              </a:endParaRPr>
            </a:p>
          </p:txBody>
        </p:sp>
        <p:cxnSp>
          <p:nvCxnSpPr>
            <p:cNvPr id="32775" name="AutoShape 7"/>
            <p:cNvCxnSpPr>
              <a:cxnSpLocks noChangeShapeType="1"/>
            </p:cNvCxnSpPr>
            <p:nvPr/>
          </p:nvCxnSpPr>
          <p:spPr bwMode="auto">
            <a:xfrm flipV="1">
              <a:off x="3645" y="11835"/>
              <a:ext cx="4320" cy="285"/>
            </a:xfrm>
            <a:prstGeom prst="straightConnector1">
              <a:avLst/>
            </a:prstGeom>
            <a:noFill/>
            <a:ln w="9525">
              <a:solidFill>
                <a:srgbClr val="000000"/>
              </a:solidFill>
              <a:round/>
              <a:headEnd/>
              <a:tailEnd type="triangle" w="med" len="med"/>
            </a:ln>
          </p:spPr>
        </p:cxnSp>
        <p:cxnSp>
          <p:nvCxnSpPr>
            <p:cNvPr id="32776" name="AutoShape 8"/>
            <p:cNvCxnSpPr>
              <a:cxnSpLocks noChangeShapeType="1"/>
            </p:cNvCxnSpPr>
            <p:nvPr/>
          </p:nvCxnSpPr>
          <p:spPr bwMode="auto">
            <a:xfrm>
              <a:off x="3645" y="11145"/>
              <a:ext cx="2985" cy="255"/>
            </a:xfrm>
            <a:prstGeom prst="straightConnector1">
              <a:avLst/>
            </a:prstGeom>
            <a:noFill/>
            <a:ln w="9525">
              <a:solidFill>
                <a:srgbClr val="000000"/>
              </a:solidFill>
              <a:round/>
              <a:headEnd/>
              <a:tailEnd type="triangle" w="med" len="med"/>
            </a:ln>
          </p:spPr>
        </p:cxnSp>
        <p:cxnSp>
          <p:nvCxnSpPr>
            <p:cNvPr id="32777" name="AutoShape 9"/>
            <p:cNvCxnSpPr>
              <a:cxnSpLocks noChangeShapeType="1"/>
            </p:cNvCxnSpPr>
            <p:nvPr/>
          </p:nvCxnSpPr>
          <p:spPr bwMode="auto">
            <a:xfrm>
              <a:off x="3645" y="11625"/>
              <a:ext cx="585" cy="0"/>
            </a:xfrm>
            <a:prstGeom prst="straightConnector1">
              <a:avLst/>
            </a:prstGeom>
            <a:noFill/>
            <a:ln w="9525">
              <a:solidFill>
                <a:srgbClr val="000000"/>
              </a:solidFill>
              <a:round/>
              <a:headEnd/>
              <a:tailEnd type="triangle" w="med" len="med"/>
            </a:ln>
          </p:spPr>
        </p:cxn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229600" cy="1066800"/>
          </a:xfrm>
        </p:spPr>
        <p:txBody>
          <a:bodyPr/>
          <a:lstStyle/>
          <a:p>
            <a:r>
              <a:rPr lang="en-US" b="1" dirty="0"/>
              <a:t>Diagonal combination</a:t>
            </a:r>
            <a:endParaRPr lang="en-US" dirty="0"/>
          </a:p>
        </p:txBody>
      </p:sp>
      <p:sp>
        <p:nvSpPr>
          <p:cNvPr id="3" name="Content Placeholder 2"/>
          <p:cNvSpPr>
            <a:spLocks noGrp="1"/>
          </p:cNvSpPr>
          <p:nvPr>
            <p:ph idx="1"/>
          </p:nvPr>
        </p:nvSpPr>
        <p:spPr/>
        <p:txBody>
          <a:bodyPr/>
          <a:lstStyle/>
          <a:p>
            <a:r>
              <a:rPr lang="en-US" dirty="0"/>
              <a:t>It is also called ‘Service’ integration. Diagonal integration comes into existence when a unit providing auxiliary goods and services to an industry is combined with a unit engaged in the main line of production, within the organization.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685800"/>
          </a:xfrm>
        </p:spPr>
        <p:txBody>
          <a:bodyPr>
            <a:normAutofit fontScale="90000"/>
          </a:bodyPr>
          <a:lstStyle/>
          <a:p>
            <a:r>
              <a:rPr lang="en-US" b="1" dirty="0"/>
              <a:t>Diagonal combination</a:t>
            </a:r>
            <a:endParaRPr lang="en-US" dirty="0"/>
          </a:p>
        </p:txBody>
      </p:sp>
      <p:grpSp>
        <p:nvGrpSpPr>
          <p:cNvPr id="33794" name="Group 2"/>
          <p:cNvGrpSpPr>
            <a:grpSpLocks/>
          </p:cNvGrpSpPr>
          <p:nvPr/>
        </p:nvGrpSpPr>
        <p:grpSpPr bwMode="auto">
          <a:xfrm>
            <a:off x="1143000" y="2590373"/>
            <a:ext cx="6858000" cy="3032553"/>
            <a:chOff x="1440" y="3089"/>
            <a:chExt cx="8820" cy="2401"/>
          </a:xfrm>
        </p:grpSpPr>
        <p:sp>
          <p:nvSpPr>
            <p:cNvPr id="33795" name="Text Box 3"/>
            <p:cNvSpPr txBox="1">
              <a:spLocks noChangeArrowheads="1"/>
            </p:cNvSpPr>
            <p:nvPr/>
          </p:nvSpPr>
          <p:spPr bwMode="auto">
            <a:xfrm>
              <a:off x="2028" y="3089"/>
              <a:ext cx="2052" cy="661"/>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2400" b="0" i="0" u="none" strike="noStrike" cap="none" normalizeH="0" baseline="0" dirty="0">
                  <a:ln>
                    <a:noFill/>
                  </a:ln>
                  <a:solidFill>
                    <a:schemeClr val="tx1"/>
                  </a:solidFill>
                  <a:effectLst/>
                  <a:latin typeface="Calibri" pitchFamily="34" charset="0"/>
                  <a:cs typeface="Arial" pitchFamily="34" charset="0"/>
                </a:rPr>
                <a:t>Steel       Plant</a:t>
              </a:r>
              <a:endParaRPr kumimoji="0" lang="en-US" sz="2400" b="0" i="0" u="none" strike="noStrike" cap="none" normalizeH="0" baseline="0" dirty="0">
                <a:ln>
                  <a:noFill/>
                </a:ln>
                <a:solidFill>
                  <a:schemeClr val="tx1"/>
                </a:solidFill>
                <a:effectLst/>
                <a:latin typeface="Arial" pitchFamily="34" charset="0"/>
                <a:cs typeface="Arial" pitchFamily="34" charset="0"/>
              </a:endParaRPr>
            </a:p>
          </p:txBody>
        </p:sp>
        <p:sp>
          <p:nvSpPr>
            <p:cNvPr id="33796" name="Text Box 4"/>
            <p:cNvSpPr txBox="1">
              <a:spLocks noChangeArrowheads="1"/>
            </p:cNvSpPr>
            <p:nvPr/>
          </p:nvSpPr>
          <p:spPr bwMode="auto">
            <a:xfrm>
              <a:off x="1440" y="4125"/>
              <a:ext cx="2640" cy="132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3200" b="0" i="0" u="none" strike="noStrike" cap="none" normalizeH="0" baseline="0" dirty="0">
                  <a:ln>
                    <a:noFill/>
                  </a:ln>
                  <a:solidFill>
                    <a:schemeClr val="tx1"/>
                  </a:solidFill>
                  <a:effectLst/>
                  <a:latin typeface="Calibri" pitchFamily="34" charset="0"/>
                  <a:cs typeface="Arial" pitchFamily="34" charset="0"/>
                </a:rPr>
                <a:t>Transport</a:t>
              </a:r>
            </a:p>
            <a:p>
              <a:pPr marL="0" marR="0" lvl="0" indent="0" algn="l" defTabSz="914400" rtl="0" eaLnBrk="1" fontAlgn="base" latinLnBrk="0" hangingPunct="1">
                <a:lnSpc>
                  <a:spcPct val="100000"/>
                </a:lnSpc>
                <a:spcBef>
                  <a:spcPct val="0"/>
                </a:spcBef>
                <a:spcAft>
                  <a:spcPts val="1000"/>
                </a:spcAft>
                <a:buClrTx/>
                <a:buSzTx/>
                <a:buFontTx/>
                <a:buNone/>
                <a:tabLst/>
              </a:pPr>
              <a:r>
                <a:rPr kumimoji="0" lang="en-US" sz="3200" b="0" i="0" u="none" strike="noStrike" cap="none" normalizeH="0" baseline="0" dirty="0">
                  <a:ln>
                    <a:noFill/>
                  </a:ln>
                  <a:solidFill>
                    <a:schemeClr val="tx1"/>
                  </a:solidFill>
                  <a:effectLst/>
                  <a:latin typeface="Calibri" pitchFamily="34" charset="0"/>
                  <a:cs typeface="Arial" pitchFamily="34" charset="0"/>
                </a:rPr>
                <a:t>Company</a:t>
              </a:r>
              <a:endParaRPr kumimoji="0" lang="en-US" sz="3200" b="0" i="0" u="none" strike="noStrike" cap="none" normalizeH="0" baseline="0" dirty="0">
                <a:ln>
                  <a:noFill/>
                </a:ln>
                <a:solidFill>
                  <a:schemeClr val="tx1"/>
                </a:solidFill>
                <a:effectLst/>
                <a:latin typeface="Arial" pitchFamily="34" charset="0"/>
                <a:cs typeface="Arial" pitchFamily="34" charset="0"/>
              </a:endParaRPr>
            </a:p>
          </p:txBody>
        </p:sp>
        <p:sp>
          <p:nvSpPr>
            <p:cNvPr id="33797" name="Freeform 5"/>
            <p:cNvSpPr>
              <a:spLocks/>
            </p:cNvSpPr>
            <p:nvPr/>
          </p:nvSpPr>
          <p:spPr bwMode="auto">
            <a:xfrm>
              <a:off x="6813" y="4095"/>
              <a:ext cx="3402" cy="1395"/>
            </a:xfrm>
            <a:custGeom>
              <a:avLst/>
              <a:gdLst/>
              <a:ahLst/>
              <a:cxnLst>
                <a:cxn ang="0">
                  <a:pos x="102" y="0"/>
                </a:cxn>
                <a:cxn ang="0">
                  <a:pos x="2517" y="0"/>
                </a:cxn>
                <a:cxn ang="0">
                  <a:pos x="2517" y="930"/>
                </a:cxn>
                <a:cxn ang="0">
                  <a:pos x="537" y="930"/>
                </a:cxn>
                <a:cxn ang="0">
                  <a:pos x="0" y="0"/>
                </a:cxn>
                <a:cxn ang="0">
                  <a:pos x="432" y="0"/>
                </a:cxn>
              </a:cxnLst>
              <a:rect l="0" t="0" r="r" b="b"/>
              <a:pathLst>
                <a:path w="2517" h="930">
                  <a:moveTo>
                    <a:pt x="102" y="0"/>
                  </a:moveTo>
                  <a:lnTo>
                    <a:pt x="2517" y="0"/>
                  </a:lnTo>
                  <a:lnTo>
                    <a:pt x="2517" y="930"/>
                  </a:lnTo>
                  <a:lnTo>
                    <a:pt x="537" y="930"/>
                  </a:lnTo>
                  <a:lnTo>
                    <a:pt x="0" y="0"/>
                  </a:lnTo>
                  <a:lnTo>
                    <a:pt x="432" y="0"/>
                  </a:lnTo>
                </a:path>
              </a:pathLst>
            </a:cu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3798" name="Text Box 6"/>
            <p:cNvSpPr txBox="1">
              <a:spLocks noChangeArrowheads="1"/>
            </p:cNvSpPr>
            <p:nvPr/>
          </p:nvSpPr>
          <p:spPr bwMode="auto">
            <a:xfrm>
              <a:off x="4575" y="4125"/>
              <a:ext cx="1920" cy="1320"/>
            </a:xfrm>
            <a:prstGeom prst="rect">
              <a:avLst/>
            </a:prstGeom>
            <a:solidFill>
              <a:srgbClr val="000000"/>
            </a:solidFill>
            <a:ln w="38100">
              <a:solidFill>
                <a:srgbClr val="F2F2F2"/>
              </a:solidFill>
              <a:miter lim="800000"/>
              <a:headEnd/>
              <a:tailEnd/>
            </a:ln>
            <a:effectLst>
              <a:outerShdw dist="28398" dir="3806097" algn="ctr" rotWithShape="0">
                <a:srgbClr val="7F7F7F">
                  <a:alpha val="50000"/>
                </a:srgbClr>
              </a:out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chemeClr val="bg1"/>
                  </a:solidFill>
                  <a:effectLst/>
                  <a:latin typeface="Calibri" pitchFamily="34" charset="0"/>
                  <a:cs typeface="Arial" pitchFamily="34" charset="0"/>
                </a:rPr>
                <a:t>Power</a:t>
              </a:r>
            </a:p>
            <a:p>
              <a:pPr marL="0" marR="0" lvl="0" indent="0" algn="l" defTabSz="914400" rtl="0" eaLnBrk="1" fontAlgn="base" latinLnBrk="0" hangingPunct="1">
                <a:lnSpc>
                  <a:spcPct val="100000"/>
                </a:lnSpc>
                <a:spcBef>
                  <a:spcPct val="0"/>
                </a:spcBef>
                <a:spcAft>
                  <a:spcPts val="1000"/>
                </a:spcAft>
                <a:buClrTx/>
                <a:buSzTx/>
                <a:buFontTx/>
                <a:buNone/>
                <a:tabLst/>
              </a:pPr>
              <a:r>
                <a:rPr kumimoji="0" lang="en-US" sz="2000" b="0" i="0" u="none" strike="noStrike" cap="none" normalizeH="0" baseline="0" dirty="0">
                  <a:ln>
                    <a:noFill/>
                  </a:ln>
                  <a:solidFill>
                    <a:schemeClr val="bg1"/>
                  </a:solidFill>
                  <a:effectLst/>
                  <a:latin typeface="Calibri" pitchFamily="34" charset="0"/>
                  <a:cs typeface="Arial" pitchFamily="34" charset="0"/>
                </a:rPr>
                <a:t>Generation</a:t>
              </a:r>
              <a:endParaRPr kumimoji="0" lang="en-US" sz="3600" b="0" i="0" u="none" strike="noStrike" cap="none" normalizeH="0" baseline="0" dirty="0">
                <a:ln>
                  <a:noFill/>
                </a:ln>
                <a:solidFill>
                  <a:schemeClr val="bg1"/>
                </a:solidFill>
                <a:effectLst/>
                <a:latin typeface="Arial" pitchFamily="34" charset="0"/>
                <a:cs typeface="Arial" pitchFamily="34" charset="0"/>
              </a:endParaRPr>
            </a:p>
          </p:txBody>
        </p:sp>
        <p:sp>
          <p:nvSpPr>
            <p:cNvPr id="33799" name="Text Box 7"/>
            <p:cNvSpPr txBox="1">
              <a:spLocks noChangeArrowheads="1"/>
            </p:cNvSpPr>
            <p:nvPr/>
          </p:nvSpPr>
          <p:spPr bwMode="auto">
            <a:xfrm>
              <a:off x="7305" y="4125"/>
              <a:ext cx="2955" cy="132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2800" b="0" i="0" u="none" strike="noStrike" cap="none" normalizeH="0" baseline="0" dirty="0">
                  <a:ln>
                    <a:noFill/>
                  </a:ln>
                  <a:solidFill>
                    <a:schemeClr val="tx1"/>
                  </a:solidFill>
                  <a:effectLst/>
                  <a:latin typeface="Calibri" pitchFamily="34" charset="0"/>
                  <a:cs typeface="Arial" pitchFamily="34" charset="0"/>
                </a:rPr>
                <a:t>Repairs of maintenance</a:t>
              </a:r>
            </a:p>
            <a:p>
              <a:pPr marL="0" marR="0" lvl="0" indent="0" algn="l" defTabSz="914400" rtl="0" eaLnBrk="1" fontAlgn="base" latinLnBrk="0" hangingPunct="1">
                <a:lnSpc>
                  <a:spcPct val="100000"/>
                </a:lnSpc>
                <a:spcBef>
                  <a:spcPct val="0"/>
                </a:spcBef>
                <a:spcAft>
                  <a:spcPts val="1000"/>
                </a:spcAft>
                <a:buClrTx/>
                <a:buSzTx/>
                <a:buFontTx/>
                <a:buNone/>
                <a:tabLst/>
              </a:pPr>
              <a:r>
                <a:rPr kumimoji="0" lang="en-US" sz="2800" b="0" i="0" u="none" strike="noStrike" cap="none" normalizeH="0" baseline="0" dirty="0">
                  <a:ln>
                    <a:noFill/>
                  </a:ln>
                  <a:solidFill>
                    <a:schemeClr val="tx1"/>
                  </a:solidFill>
                  <a:effectLst/>
                  <a:latin typeface="Calibri" pitchFamily="34" charset="0"/>
                  <a:cs typeface="Arial" pitchFamily="34" charset="0"/>
                </a:rPr>
                <a:t>Maintenance</a:t>
              </a:r>
              <a:endParaRPr kumimoji="0" lang="en-US" sz="2800" b="0" i="0" u="none" strike="noStrike" cap="none" normalizeH="0" baseline="0" dirty="0">
                <a:ln>
                  <a:noFill/>
                </a:ln>
                <a:solidFill>
                  <a:schemeClr val="tx1"/>
                </a:solidFill>
                <a:effectLst/>
                <a:latin typeface="Arial" pitchFamily="34" charset="0"/>
                <a:cs typeface="Arial" pitchFamily="34" charset="0"/>
              </a:endParaRPr>
            </a:p>
          </p:txBody>
        </p:sp>
        <p:sp>
          <p:nvSpPr>
            <p:cNvPr id="33800" name="Freeform 8"/>
            <p:cNvSpPr>
              <a:spLocks/>
            </p:cNvSpPr>
            <p:nvPr/>
          </p:nvSpPr>
          <p:spPr bwMode="auto">
            <a:xfrm>
              <a:off x="4305" y="4125"/>
              <a:ext cx="2978" cy="1365"/>
            </a:xfrm>
            <a:custGeom>
              <a:avLst/>
              <a:gdLst/>
              <a:ahLst/>
              <a:cxnLst>
                <a:cxn ang="0">
                  <a:pos x="0" y="0"/>
                </a:cxn>
                <a:cxn ang="0">
                  <a:pos x="2190" y="0"/>
                </a:cxn>
                <a:cxn ang="0">
                  <a:pos x="2978" y="1365"/>
                </a:cxn>
                <a:cxn ang="0">
                  <a:pos x="420" y="1365"/>
                </a:cxn>
                <a:cxn ang="0">
                  <a:pos x="0" y="0"/>
                </a:cxn>
              </a:cxnLst>
              <a:rect l="0" t="0" r="r" b="b"/>
              <a:pathLst>
                <a:path w="2978" h="1365">
                  <a:moveTo>
                    <a:pt x="0" y="0"/>
                  </a:moveTo>
                  <a:lnTo>
                    <a:pt x="2190" y="0"/>
                  </a:lnTo>
                  <a:lnTo>
                    <a:pt x="2978" y="1365"/>
                  </a:lnTo>
                  <a:lnTo>
                    <a:pt x="420" y="1365"/>
                  </a:lnTo>
                  <a:lnTo>
                    <a:pt x="0" y="0"/>
                  </a:lnTo>
                  <a:close/>
                </a:path>
              </a:pathLst>
            </a:cu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cxnSp>
          <p:nvCxnSpPr>
            <p:cNvPr id="33801" name="AutoShape 9"/>
            <p:cNvCxnSpPr>
              <a:cxnSpLocks noChangeShapeType="1"/>
            </p:cNvCxnSpPr>
            <p:nvPr/>
          </p:nvCxnSpPr>
          <p:spPr bwMode="auto">
            <a:xfrm>
              <a:off x="2655" y="3750"/>
              <a:ext cx="75" cy="375"/>
            </a:xfrm>
            <a:prstGeom prst="straightConnector1">
              <a:avLst/>
            </a:prstGeom>
            <a:noFill/>
            <a:ln w="9525">
              <a:solidFill>
                <a:srgbClr val="000000"/>
              </a:solidFill>
              <a:round/>
              <a:headEnd/>
              <a:tailEnd/>
            </a:ln>
          </p:spPr>
        </p:cxnSp>
        <p:cxnSp>
          <p:nvCxnSpPr>
            <p:cNvPr id="33802" name="AutoShape 10"/>
            <p:cNvCxnSpPr>
              <a:cxnSpLocks noChangeShapeType="1"/>
            </p:cNvCxnSpPr>
            <p:nvPr/>
          </p:nvCxnSpPr>
          <p:spPr bwMode="auto">
            <a:xfrm>
              <a:off x="3750" y="3750"/>
              <a:ext cx="825" cy="345"/>
            </a:xfrm>
            <a:prstGeom prst="straightConnector1">
              <a:avLst/>
            </a:prstGeom>
            <a:noFill/>
            <a:ln w="9525">
              <a:solidFill>
                <a:srgbClr val="000000"/>
              </a:solidFill>
              <a:round/>
              <a:headEnd/>
              <a:tailEnd/>
            </a:ln>
          </p:spPr>
        </p:cxnSp>
        <p:cxnSp>
          <p:nvCxnSpPr>
            <p:cNvPr id="33803" name="AutoShape 11"/>
            <p:cNvCxnSpPr>
              <a:cxnSpLocks noChangeShapeType="1"/>
            </p:cNvCxnSpPr>
            <p:nvPr/>
          </p:nvCxnSpPr>
          <p:spPr bwMode="auto">
            <a:xfrm>
              <a:off x="4080" y="3465"/>
              <a:ext cx="3720" cy="630"/>
            </a:xfrm>
            <a:prstGeom prst="straightConnector1">
              <a:avLst/>
            </a:prstGeom>
            <a:noFill/>
            <a:ln w="9525">
              <a:solidFill>
                <a:srgbClr val="000000"/>
              </a:solidFill>
              <a:round/>
              <a:headEnd/>
              <a:tailEnd/>
            </a:ln>
          </p:spPr>
        </p:cxn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229600" cy="990600"/>
          </a:xfrm>
        </p:spPr>
        <p:txBody>
          <a:bodyPr>
            <a:normAutofit/>
          </a:bodyPr>
          <a:lstStyle/>
          <a:p>
            <a:r>
              <a:rPr lang="en-US" b="1" dirty="0"/>
              <a:t>Circular combination</a:t>
            </a:r>
            <a:endParaRPr lang="en-US" dirty="0"/>
          </a:p>
        </p:txBody>
      </p:sp>
      <p:sp>
        <p:nvSpPr>
          <p:cNvPr id="3" name="Content Placeholder 2"/>
          <p:cNvSpPr>
            <a:spLocks noGrp="1"/>
          </p:cNvSpPr>
          <p:nvPr>
            <p:ph idx="1"/>
          </p:nvPr>
        </p:nvSpPr>
        <p:spPr>
          <a:xfrm>
            <a:off x="457200" y="1905000"/>
            <a:ext cx="8229600" cy="4669536"/>
          </a:xfrm>
        </p:spPr>
        <p:txBody>
          <a:bodyPr/>
          <a:lstStyle/>
          <a:p>
            <a:pPr lvl="0"/>
            <a:r>
              <a:rPr lang="en-US" dirty="0"/>
              <a:t>When firms belonging to different industries and producing altogether different products combine together under the banner of a central agency, it is referred to as a mixed or circular combination.</a:t>
            </a:r>
          </a:p>
          <a:p>
            <a:endParaRPr lang="en-US" dirty="0"/>
          </a:p>
        </p:txBody>
      </p:sp>
      <p:grpSp>
        <p:nvGrpSpPr>
          <p:cNvPr id="34818" name="Group 2"/>
          <p:cNvGrpSpPr>
            <a:grpSpLocks/>
          </p:cNvGrpSpPr>
          <p:nvPr/>
        </p:nvGrpSpPr>
        <p:grpSpPr bwMode="auto">
          <a:xfrm>
            <a:off x="1143000" y="4495802"/>
            <a:ext cx="6553199" cy="2078573"/>
            <a:chOff x="2160" y="7890"/>
            <a:chExt cx="6342" cy="2156"/>
          </a:xfrm>
        </p:grpSpPr>
        <p:sp>
          <p:nvSpPr>
            <p:cNvPr id="34819" name="Rectangle 3"/>
            <p:cNvSpPr>
              <a:spLocks noChangeArrowheads="1"/>
            </p:cNvSpPr>
            <p:nvPr/>
          </p:nvSpPr>
          <p:spPr bwMode="auto">
            <a:xfrm>
              <a:off x="2160" y="8595"/>
              <a:ext cx="1380" cy="465"/>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4820" name="Text Box 4"/>
            <p:cNvSpPr txBox="1">
              <a:spLocks noChangeArrowheads="1"/>
            </p:cNvSpPr>
            <p:nvPr/>
          </p:nvSpPr>
          <p:spPr bwMode="auto">
            <a:xfrm>
              <a:off x="2160" y="7890"/>
              <a:ext cx="1500" cy="46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2400" b="0" i="0" u="none" strike="noStrike" cap="none" normalizeH="0" baseline="0" dirty="0">
                  <a:ln>
                    <a:noFill/>
                  </a:ln>
                  <a:solidFill>
                    <a:schemeClr val="tx1"/>
                  </a:solidFill>
                  <a:effectLst/>
                  <a:latin typeface="Calibri" pitchFamily="34" charset="0"/>
                  <a:cs typeface="Arial" pitchFamily="34" charset="0"/>
                </a:rPr>
                <a:t>Godrej</a:t>
              </a:r>
              <a:endParaRPr kumimoji="0" lang="en-US" sz="2400" b="0" i="0" u="none" strike="noStrike" cap="none" normalizeH="0" baseline="0" dirty="0">
                <a:ln>
                  <a:noFill/>
                </a:ln>
                <a:solidFill>
                  <a:schemeClr val="tx1"/>
                </a:solidFill>
                <a:effectLst/>
                <a:latin typeface="Arial" pitchFamily="34" charset="0"/>
                <a:cs typeface="Arial" pitchFamily="34" charset="0"/>
              </a:endParaRPr>
            </a:p>
          </p:txBody>
        </p:sp>
        <p:sp>
          <p:nvSpPr>
            <p:cNvPr id="34821" name="Text Box 5"/>
            <p:cNvSpPr txBox="1">
              <a:spLocks noChangeArrowheads="1"/>
            </p:cNvSpPr>
            <p:nvPr/>
          </p:nvSpPr>
          <p:spPr bwMode="auto">
            <a:xfrm>
              <a:off x="2160" y="8595"/>
              <a:ext cx="1500" cy="46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2400" b="0" i="0" u="none" strike="noStrike" cap="none" normalizeH="0" baseline="0" dirty="0">
                  <a:ln>
                    <a:noFill/>
                  </a:ln>
                  <a:solidFill>
                    <a:schemeClr val="tx1"/>
                  </a:solidFill>
                  <a:effectLst/>
                  <a:latin typeface="Calibri" pitchFamily="34" charset="0"/>
                  <a:cs typeface="Arial" pitchFamily="34" charset="0"/>
                </a:rPr>
                <a:t>Cosmetics</a:t>
              </a:r>
              <a:endParaRPr kumimoji="0" lang="en-US" sz="2400" b="0" i="0" u="none" strike="noStrike" cap="none" normalizeH="0" baseline="0" dirty="0">
                <a:ln>
                  <a:noFill/>
                </a:ln>
                <a:solidFill>
                  <a:schemeClr val="tx1"/>
                </a:solidFill>
                <a:effectLst/>
                <a:latin typeface="Arial" pitchFamily="34" charset="0"/>
                <a:cs typeface="Arial" pitchFamily="34" charset="0"/>
              </a:endParaRPr>
            </a:p>
          </p:txBody>
        </p:sp>
        <p:sp>
          <p:nvSpPr>
            <p:cNvPr id="34822" name="Text Box 6"/>
            <p:cNvSpPr txBox="1">
              <a:spLocks noChangeArrowheads="1"/>
            </p:cNvSpPr>
            <p:nvPr/>
          </p:nvSpPr>
          <p:spPr bwMode="auto">
            <a:xfrm>
              <a:off x="4080" y="8595"/>
              <a:ext cx="1500" cy="465"/>
            </a:xfrm>
            <a:prstGeom prst="rect">
              <a:avLst/>
            </a:prstGeom>
            <a:solidFill>
              <a:srgbClr val="000000"/>
            </a:solidFill>
            <a:ln w="38100">
              <a:solidFill>
                <a:srgbClr val="F2F2F2"/>
              </a:solidFill>
              <a:miter lim="800000"/>
              <a:headEnd/>
              <a:tailEnd/>
            </a:ln>
            <a:effectLst>
              <a:outerShdw dist="28398" dir="3806097" algn="ctr" rotWithShape="0">
                <a:srgbClr val="7F7F7F">
                  <a:alpha val="50000"/>
                </a:srgbClr>
              </a:out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2400" b="0" i="0" u="none" strike="noStrike" cap="none" normalizeH="0" baseline="0">
                  <a:ln>
                    <a:noFill/>
                  </a:ln>
                  <a:solidFill>
                    <a:schemeClr val="bg1"/>
                  </a:solidFill>
                  <a:effectLst/>
                  <a:latin typeface="Calibri" pitchFamily="34" charset="0"/>
                  <a:cs typeface="Arial" pitchFamily="34" charset="0"/>
                </a:rPr>
                <a:t>Electrical </a:t>
              </a:r>
              <a:endParaRPr kumimoji="0" lang="en-US" sz="4000" b="0" i="0" u="none" strike="noStrike" cap="none" normalizeH="0" baseline="0">
                <a:ln>
                  <a:noFill/>
                </a:ln>
                <a:solidFill>
                  <a:schemeClr val="bg1"/>
                </a:solidFill>
                <a:effectLst/>
                <a:latin typeface="Arial" pitchFamily="34" charset="0"/>
                <a:cs typeface="Arial" pitchFamily="34" charset="0"/>
              </a:endParaRPr>
            </a:p>
          </p:txBody>
        </p:sp>
        <p:sp>
          <p:nvSpPr>
            <p:cNvPr id="34823" name="Text Box 7"/>
            <p:cNvSpPr txBox="1">
              <a:spLocks noChangeArrowheads="1"/>
            </p:cNvSpPr>
            <p:nvPr/>
          </p:nvSpPr>
          <p:spPr bwMode="auto">
            <a:xfrm>
              <a:off x="5970" y="8595"/>
              <a:ext cx="1035" cy="46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3200" b="0" i="0" u="none" strike="noStrike" cap="none" normalizeH="0" baseline="0" dirty="0">
                  <a:ln>
                    <a:noFill/>
                  </a:ln>
                  <a:solidFill>
                    <a:schemeClr val="tx1"/>
                  </a:solidFill>
                  <a:effectLst/>
                  <a:latin typeface="Calibri" pitchFamily="34" charset="0"/>
                  <a:cs typeface="Arial" pitchFamily="34" charset="0"/>
                </a:rPr>
                <a:t>Lock </a:t>
              </a:r>
              <a:endParaRPr kumimoji="0" lang="en-US" sz="3200" b="0" i="0" u="none" strike="noStrike" cap="none" normalizeH="0" baseline="0" dirty="0">
                <a:ln>
                  <a:noFill/>
                </a:ln>
                <a:solidFill>
                  <a:schemeClr val="tx1"/>
                </a:solidFill>
                <a:effectLst/>
                <a:latin typeface="Arial" pitchFamily="34" charset="0"/>
                <a:cs typeface="Arial" pitchFamily="34" charset="0"/>
              </a:endParaRPr>
            </a:p>
          </p:txBody>
        </p:sp>
        <p:sp>
          <p:nvSpPr>
            <p:cNvPr id="34824" name="Text Box 8"/>
            <p:cNvSpPr txBox="1">
              <a:spLocks noChangeArrowheads="1"/>
            </p:cNvSpPr>
            <p:nvPr/>
          </p:nvSpPr>
          <p:spPr bwMode="auto">
            <a:xfrm>
              <a:off x="7467" y="8595"/>
              <a:ext cx="1035" cy="98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2800" b="0" i="0" u="none" strike="noStrike" cap="none" normalizeH="0" baseline="0" dirty="0">
                  <a:ln>
                    <a:noFill/>
                  </a:ln>
                  <a:solidFill>
                    <a:schemeClr val="tx1"/>
                  </a:solidFill>
                  <a:effectLst/>
                  <a:latin typeface="Calibri" pitchFamily="34" charset="0"/>
                  <a:cs typeface="Arial" pitchFamily="34" charset="0"/>
                </a:rPr>
                <a:t>Office </a:t>
              </a:r>
              <a:endParaRPr kumimoji="0" lang="en-US" sz="2800" b="0" i="0" u="none" strike="noStrike" cap="none" normalizeH="0" baseline="0" dirty="0">
                <a:ln>
                  <a:noFill/>
                </a:ln>
                <a:solidFill>
                  <a:schemeClr val="tx1"/>
                </a:solidFill>
                <a:effectLst/>
                <a:latin typeface="Arial" pitchFamily="34" charset="0"/>
                <a:cs typeface="Arial" pitchFamily="34" charset="0"/>
              </a:endParaRPr>
            </a:p>
          </p:txBody>
        </p:sp>
        <p:sp>
          <p:nvSpPr>
            <p:cNvPr id="34825" name="Text Box 9"/>
            <p:cNvSpPr txBox="1">
              <a:spLocks noChangeArrowheads="1"/>
            </p:cNvSpPr>
            <p:nvPr/>
          </p:nvSpPr>
          <p:spPr bwMode="auto">
            <a:xfrm>
              <a:off x="2247" y="9480"/>
              <a:ext cx="1035" cy="46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2400" b="0" i="0" u="none" strike="noStrike" cap="none" normalizeH="0" baseline="0" dirty="0">
                  <a:ln>
                    <a:noFill/>
                  </a:ln>
                  <a:solidFill>
                    <a:schemeClr val="tx1"/>
                  </a:solidFill>
                  <a:effectLst/>
                  <a:latin typeface="Calibri" pitchFamily="34" charset="0"/>
                  <a:cs typeface="Arial" pitchFamily="34" charset="0"/>
                </a:rPr>
                <a:t>Goods </a:t>
              </a:r>
              <a:endParaRPr kumimoji="0" lang="en-US" sz="2400" b="0" i="0" u="none" strike="noStrike" cap="none" normalizeH="0" baseline="0" dirty="0">
                <a:ln>
                  <a:noFill/>
                </a:ln>
                <a:solidFill>
                  <a:schemeClr val="tx1"/>
                </a:solidFill>
                <a:effectLst/>
                <a:latin typeface="Arial" pitchFamily="34" charset="0"/>
                <a:cs typeface="Arial" pitchFamily="34" charset="0"/>
              </a:endParaRPr>
            </a:p>
          </p:txBody>
        </p:sp>
        <p:sp>
          <p:nvSpPr>
            <p:cNvPr id="34826" name="Text Box 10"/>
            <p:cNvSpPr txBox="1">
              <a:spLocks noChangeArrowheads="1"/>
            </p:cNvSpPr>
            <p:nvPr/>
          </p:nvSpPr>
          <p:spPr bwMode="auto">
            <a:xfrm>
              <a:off x="6709" y="9581"/>
              <a:ext cx="1665" cy="46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2400" b="0" i="0" u="none" strike="noStrike" cap="none" normalizeH="0" baseline="0" dirty="0">
                  <a:ln>
                    <a:noFill/>
                  </a:ln>
                  <a:solidFill>
                    <a:schemeClr val="tx1"/>
                  </a:solidFill>
                  <a:effectLst/>
                  <a:latin typeface="Calibri" pitchFamily="34" charset="0"/>
                  <a:cs typeface="Arial" pitchFamily="34" charset="0"/>
                </a:rPr>
                <a:t>Equipments</a:t>
              </a:r>
              <a:r>
                <a:rPr kumimoji="0" lang="en-US" sz="1100" b="0" i="0" u="none" strike="noStrike" cap="none" normalizeH="0" baseline="0" dirty="0">
                  <a:ln>
                    <a:noFill/>
                  </a:ln>
                  <a:solidFill>
                    <a:schemeClr val="tx1"/>
                  </a:solidFill>
                  <a:effectLst/>
                  <a:latin typeface="Calibri" pitchFamily="34" charset="0"/>
                  <a:cs typeface="Arial" pitchFamily="34" charset="0"/>
                </a:rPr>
                <a:t> </a:t>
              </a: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
          <p:nvSpPr>
            <p:cNvPr id="34827" name="Rectangle 11"/>
            <p:cNvSpPr>
              <a:spLocks noChangeArrowheads="1"/>
            </p:cNvSpPr>
            <p:nvPr/>
          </p:nvSpPr>
          <p:spPr bwMode="auto">
            <a:xfrm>
              <a:off x="2160" y="7890"/>
              <a:ext cx="1122" cy="465"/>
            </a:xfrm>
            <a:prstGeom prst="rect">
              <a:avLst/>
            </a:prstGeom>
            <a:no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4828" name="Rectangle 12"/>
            <p:cNvSpPr>
              <a:spLocks noChangeArrowheads="1"/>
            </p:cNvSpPr>
            <p:nvPr/>
          </p:nvSpPr>
          <p:spPr bwMode="auto">
            <a:xfrm>
              <a:off x="7467" y="8595"/>
              <a:ext cx="903" cy="465"/>
            </a:xfrm>
            <a:prstGeom prst="rect">
              <a:avLst/>
            </a:prstGeom>
            <a:no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a:p>
          </p:txBody>
        </p:sp>
        <p:cxnSp>
          <p:nvCxnSpPr>
            <p:cNvPr id="34829" name="AutoShape 13"/>
            <p:cNvCxnSpPr>
              <a:cxnSpLocks noChangeShapeType="1"/>
            </p:cNvCxnSpPr>
            <p:nvPr/>
          </p:nvCxnSpPr>
          <p:spPr bwMode="auto">
            <a:xfrm>
              <a:off x="3282" y="8130"/>
              <a:ext cx="4653" cy="0"/>
            </a:xfrm>
            <a:prstGeom prst="straightConnector1">
              <a:avLst/>
            </a:prstGeom>
            <a:noFill/>
            <a:ln w="9525">
              <a:solidFill>
                <a:srgbClr val="000000"/>
              </a:solidFill>
              <a:round/>
              <a:headEnd/>
              <a:tailEnd/>
            </a:ln>
          </p:spPr>
        </p:cxnSp>
        <p:cxnSp>
          <p:nvCxnSpPr>
            <p:cNvPr id="34830" name="AutoShape 14"/>
            <p:cNvCxnSpPr>
              <a:cxnSpLocks noChangeShapeType="1"/>
            </p:cNvCxnSpPr>
            <p:nvPr/>
          </p:nvCxnSpPr>
          <p:spPr bwMode="auto">
            <a:xfrm>
              <a:off x="7935" y="8130"/>
              <a:ext cx="0" cy="465"/>
            </a:xfrm>
            <a:prstGeom prst="straightConnector1">
              <a:avLst/>
            </a:prstGeom>
            <a:noFill/>
            <a:ln w="9525">
              <a:solidFill>
                <a:srgbClr val="000000"/>
              </a:solidFill>
              <a:round/>
              <a:headEnd/>
              <a:tailEnd/>
            </a:ln>
          </p:spPr>
        </p:cxnSp>
        <p:cxnSp>
          <p:nvCxnSpPr>
            <p:cNvPr id="34831" name="AutoShape 15"/>
            <p:cNvCxnSpPr>
              <a:cxnSpLocks noChangeShapeType="1"/>
            </p:cNvCxnSpPr>
            <p:nvPr/>
          </p:nvCxnSpPr>
          <p:spPr bwMode="auto">
            <a:xfrm>
              <a:off x="3360" y="8130"/>
              <a:ext cx="0" cy="465"/>
            </a:xfrm>
            <a:prstGeom prst="straightConnector1">
              <a:avLst/>
            </a:prstGeom>
            <a:noFill/>
            <a:ln w="9525">
              <a:solidFill>
                <a:srgbClr val="000000"/>
              </a:solidFill>
              <a:round/>
              <a:headEnd/>
              <a:tailEnd/>
            </a:ln>
          </p:spPr>
        </p:cxnSp>
        <p:sp>
          <p:nvSpPr>
            <p:cNvPr id="34832" name="Freeform 16"/>
            <p:cNvSpPr>
              <a:spLocks/>
            </p:cNvSpPr>
            <p:nvPr/>
          </p:nvSpPr>
          <p:spPr bwMode="auto">
            <a:xfrm>
              <a:off x="2160" y="8595"/>
              <a:ext cx="3270" cy="1350"/>
            </a:xfrm>
            <a:custGeom>
              <a:avLst/>
              <a:gdLst/>
              <a:ahLst/>
              <a:cxnLst>
                <a:cxn ang="0">
                  <a:pos x="1920" y="0"/>
                </a:cxn>
                <a:cxn ang="0">
                  <a:pos x="3270" y="0"/>
                </a:cxn>
                <a:cxn ang="0">
                  <a:pos x="3270" y="360"/>
                </a:cxn>
                <a:cxn ang="0">
                  <a:pos x="945" y="1350"/>
                </a:cxn>
                <a:cxn ang="0">
                  <a:pos x="0" y="1350"/>
                </a:cxn>
                <a:cxn ang="0">
                  <a:pos x="0" y="885"/>
                </a:cxn>
                <a:cxn ang="0">
                  <a:pos x="1920" y="0"/>
                </a:cxn>
              </a:cxnLst>
              <a:rect l="0" t="0" r="r" b="b"/>
              <a:pathLst>
                <a:path w="3270" h="1350">
                  <a:moveTo>
                    <a:pt x="1920" y="0"/>
                  </a:moveTo>
                  <a:lnTo>
                    <a:pt x="3270" y="0"/>
                  </a:lnTo>
                  <a:lnTo>
                    <a:pt x="3270" y="360"/>
                  </a:lnTo>
                  <a:lnTo>
                    <a:pt x="945" y="1350"/>
                  </a:lnTo>
                  <a:lnTo>
                    <a:pt x="0" y="1350"/>
                  </a:lnTo>
                  <a:lnTo>
                    <a:pt x="0" y="885"/>
                  </a:lnTo>
                  <a:lnTo>
                    <a:pt x="1920" y="0"/>
                  </a:lnTo>
                  <a:close/>
                </a:path>
              </a:pathLst>
            </a:cu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4833" name="Freeform 17"/>
            <p:cNvSpPr>
              <a:spLocks/>
            </p:cNvSpPr>
            <p:nvPr/>
          </p:nvSpPr>
          <p:spPr bwMode="auto">
            <a:xfrm>
              <a:off x="4215" y="8595"/>
              <a:ext cx="2598" cy="1350"/>
            </a:xfrm>
            <a:custGeom>
              <a:avLst/>
              <a:gdLst/>
              <a:ahLst/>
              <a:cxnLst>
                <a:cxn ang="0">
                  <a:pos x="1530" y="0"/>
                </a:cxn>
                <a:cxn ang="0">
                  <a:pos x="2598" y="0"/>
                </a:cxn>
                <a:cxn ang="0">
                  <a:pos x="2598" y="465"/>
                </a:cxn>
                <a:cxn ang="0">
                  <a:pos x="1560" y="1350"/>
                </a:cxn>
                <a:cxn ang="0">
                  <a:pos x="0" y="1350"/>
                </a:cxn>
                <a:cxn ang="0">
                  <a:pos x="0" y="1005"/>
                </a:cxn>
                <a:cxn ang="0">
                  <a:pos x="1515" y="465"/>
                </a:cxn>
                <a:cxn ang="0">
                  <a:pos x="1530" y="0"/>
                </a:cxn>
              </a:cxnLst>
              <a:rect l="0" t="0" r="r" b="b"/>
              <a:pathLst>
                <a:path w="2598" h="1350">
                  <a:moveTo>
                    <a:pt x="1530" y="0"/>
                  </a:moveTo>
                  <a:lnTo>
                    <a:pt x="2598" y="0"/>
                  </a:lnTo>
                  <a:lnTo>
                    <a:pt x="2598" y="465"/>
                  </a:lnTo>
                  <a:lnTo>
                    <a:pt x="1560" y="1350"/>
                  </a:lnTo>
                  <a:lnTo>
                    <a:pt x="0" y="1350"/>
                  </a:lnTo>
                  <a:lnTo>
                    <a:pt x="0" y="1005"/>
                  </a:lnTo>
                  <a:lnTo>
                    <a:pt x="1515" y="465"/>
                  </a:lnTo>
                  <a:lnTo>
                    <a:pt x="1530" y="0"/>
                  </a:lnTo>
                  <a:close/>
                </a:path>
              </a:pathLst>
            </a:cu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14400"/>
            <a:ext cx="8229600" cy="990600"/>
          </a:xfrm>
        </p:spPr>
        <p:txBody>
          <a:bodyPr>
            <a:normAutofit fontScale="90000"/>
          </a:bodyPr>
          <a:lstStyle/>
          <a:p>
            <a:r>
              <a:rPr lang="en-US" b="1" dirty="0"/>
              <a:t>Techniques of Business combination</a:t>
            </a:r>
            <a:endParaRPr lang="en-US" dirty="0"/>
          </a:p>
        </p:txBody>
      </p:sp>
      <p:sp>
        <p:nvSpPr>
          <p:cNvPr id="3" name="Content Placeholder 2"/>
          <p:cNvSpPr>
            <a:spLocks noGrp="1"/>
          </p:cNvSpPr>
          <p:nvPr>
            <p:ph idx="1"/>
          </p:nvPr>
        </p:nvSpPr>
        <p:spPr/>
        <p:txBody>
          <a:bodyPr/>
          <a:lstStyle/>
          <a:p>
            <a:r>
              <a:rPr lang="en-US" b="1" dirty="0"/>
              <a:t>Merger</a:t>
            </a:r>
          </a:p>
          <a:p>
            <a:r>
              <a:rPr lang="en-US" dirty="0"/>
              <a:t>Merger is a combination that mainly refers to asset liquidation of the acquired. </a:t>
            </a:r>
          </a:p>
          <a:p>
            <a:endParaRPr lang="en-US"/>
          </a:p>
          <a:p>
            <a:r>
              <a:rPr lang="en-US"/>
              <a:t>After </a:t>
            </a:r>
            <a:r>
              <a:rPr lang="en-US" dirty="0"/>
              <a:t>a merger, the original companies may lose their separate identities and form a new company, or one company may absorb the other.</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Diagram 52"/>
          <p:cNvPicPr/>
          <p:nvPr/>
        </p:nvPicPr>
        <p:blipFill>
          <a:blip r:embed="rId2" cstate="print"/>
          <a:srcRect/>
          <a:stretch>
            <a:fillRect/>
          </a:stretch>
        </p:blipFill>
        <p:spPr bwMode="auto">
          <a:xfrm>
            <a:off x="990600" y="914400"/>
            <a:ext cx="6705600" cy="2438400"/>
          </a:xfrm>
          <a:prstGeom prst="rect">
            <a:avLst/>
          </a:prstGeom>
          <a:noFill/>
          <a:ln w="9525">
            <a:noFill/>
            <a:miter lim="800000"/>
            <a:headEnd/>
            <a:tailEnd/>
          </a:ln>
          <a:effectLst>
            <a:outerShdw dist="107763" dir="18900000" algn="ctr" rotWithShape="0">
              <a:srgbClr val="808080">
                <a:alpha val="50000"/>
              </a:srgbClr>
            </a:outerShdw>
          </a:effectLst>
        </p:spPr>
      </p:pic>
      <p:pic>
        <p:nvPicPr>
          <p:cNvPr id="3" name="Picture 2" descr="example of merger"/>
          <p:cNvPicPr/>
          <p:nvPr/>
        </p:nvPicPr>
        <p:blipFill>
          <a:blip r:embed="rId3" cstate="print">
            <a:duotone>
              <a:prstClr val="black"/>
              <a:schemeClr val="bg1">
                <a:tint val="45000"/>
                <a:satMod val="400000"/>
              </a:schemeClr>
            </a:duotone>
          </a:blip>
          <a:srcRect/>
          <a:stretch>
            <a:fillRect/>
          </a:stretch>
        </p:blipFill>
        <p:spPr bwMode="auto">
          <a:xfrm>
            <a:off x="1828800" y="3733800"/>
            <a:ext cx="5410200" cy="24384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90600"/>
            <a:ext cx="8229600" cy="685800"/>
          </a:xfrm>
        </p:spPr>
        <p:txBody>
          <a:bodyPr>
            <a:normAutofit fontScale="90000"/>
          </a:bodyPr>
          <a:lstStyle/>
          <a:p>
            <a:r>
              <a:rPr lang="en-US" b="1" dirty="0"/>
              <a:t>Conglomerate</a:t>
            </a:r>
            <a:endParaRPr lang="en-US" dirty="0"/>
          </a:p>
        </p:txBody>
      </p:sp>
      <p:sp>
        <p:nvSpPr>
          <p:cNvPr id="3" name="Content Placeholder 2"/>
          <p:cNvSpPr>
            <a:spLocks noGrp="1"/>
          </p:cNvSpPr>
          <p:nvPr>
            <p:ph idx="1"/>
          </p:nvPr>
        </p:nvSpPr>
        <p:spPr>
          <a:xfrm>
            <a:off x="457200" y="1905000"/>
            <a:ext cx="8229600" cy="4669536"/>
          </a:xfrm>
        </p:spPr>
        <p:txBody>
          <a:bodyPr>
            <a:normAutofit/>
          </a:bodyPr>
          <a:lstStyle/>
          <a:p>
            <a:r>
              <a:rPr lang="en-US" dirty="0"/>
              <a:t>A merger between firms that are involved in totally unrelated business activities. </a:t>
            </a:r>
          </a:p>
          <a:p>
            <a:r>
              <a:rPr lang="en-US" dirty="0"/>
              <a:t>There are two types of conglomerate mergers: pure and mixed. </a:t>
            </a:r>
          </a:p>
          <a:p>
            <a:r>
              <a:rPr lang="en-US" dirty="0"/>
              <a:t>Pure conglomerate mergers involve firms with nothing in common, while mixed conglomerate mergers involve firms that are looking for product extensions or market extensions. </a:t>
            </a:r>
            <a:r>
              <a:rPr lang="en-US" b="1" dirty="0"/>
              <a:t>Example</a:t>
            </a:r>
            <a:r>
              <a:rPr lang="en-US" dirty="0"/>
              <a:t>: A leading manufacturer of athletic shoes merges with a soft drink firm.</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3B7A9-A946-40B1-AF40-8C71E9A855C8}"/>
              </a:ext>
            </a:extLst>
          </p:cNvPr>
          <p:cNvSpPr>
            <a:spLocks noGrp="1"/>
          </p:cNvSpPr>
          <p:nvPr>
            <p:ph type="title"/>
          </p:nvPr>
        </p:nvSpPr>
        <p:spPr>
          <a:xfrm>
            <a:off x="304800" y="762000"/>
            <a:ext cx="8382000" cy="609600"/>
          </a:xfrm>
        </p:spPr>
        <p:txBody>
          <a:bodyPr>
            <a:normAutofit/>
          </a:bodyPr>
          <a:lstStyle/>
          <a:p>
            <a:r>
              <a:rPr lang="en-US" sz="3200" dirty="0"/>
              <a:t>Example of a Conglomerate in Bangladesh</a:t>
            </a:r>
          </a:p>
        </p:txBody>
      </p:sp>
      <p:sp>
        <p:nvSpPr>
          <p:cNvPr id="3" name="Content Placeholder 2">
            <a:extLst>
              <a:ext uri="{FF2B5EF4-FFF2-40B4-BE49-F238E27FC236}">
                <a16:creationId xmlns:a16="http://schemas.microsoft.com/office/drawing/2014/main" id="{345A2EAF-1082-4118-93BE-A02BEDFA7535}"/>
              </a:ext>
            </a:extLst>
          </p:cNvPr>
          <p:cNvSpPr>
            <a:spLocks noGrp="1"/>
          </p:cNvSpPr>
          <p:nvPr>
            <p:ph idx="1"/>
          </p:nvPr>
        </p:nvSpPr>
        <p:spPr>
          <a:xfrm>
            <a:off x="533400" y="1524000"/>
            <a:ext cx="8153400" cy="5050536"/>
          </a:xfrm>
        </p:spPr>
        <p:txBody>
          <a:bodyPr>
            <a:normAutofit fontScale="92500" lnSpcReduction="20000"/>
          </a:bodyPr>
          <a:lstStyle/>
          <a:p>
            <a:pPr marL="109728" indent="0">
              <a:buNone/>
            </a:pPr>
            <a:r>
              <a:rPr lang="en-US" b="1" dirty="0"/>
              <a:t>BEXIMCO Group</a:t>
            </a:r>
          </a:p>
          <a:p>
            <a:pPr marL="109728" indent="0">
              <a:buNone/>
            </a:pPr>
            <a:r>
              <a:rPr lang="en-US" dirty="0"/>
              <a:t>Industries it operates in:</a:t>
            </a:r>
          </a:p>
          <a:p>
            <a:pPr marL="109728" indent="0">
              <a:buNone/>
            </a:pPr>
            <a:r>
              <a:rPr lang="en-US" dirty="0"/>
              <a:t>Textiles and garments</a:t>
            </a:r>
          </a:p>
          <a:p>
            <a:pPr marL="109728" indent="0">
              <a:buNone/>
            </a:pPr>
            <a:r>
              <a:rPr lang="en-US" dirty="0"/>
              <a:t>Pharmaceuticals</a:t>
            </a:r>
          </a:p>
          <a:p>
            <a:pPr marL="109728" indent="0">
              <a:buNone/>
            </a:pPr>
            <a:r>
              <a:rPr lang="en-US" dirty="0"/>
              <a:t>Real estate</a:t>
            </a:r>
          </a:p>
          <a:p>
            <a:pPr marL="109728" indent="0">
              <a:buNone/>
            </a:pPr>
            <a:r>
              <a:rPr lang="en-US" dirty="0"/>
              <a:t>Energy (oil, gas, and power)</a:t>
            </a:r>
          </a:p>
          <a:p>
            <a:pPr marL="109728" indent="0">
              <a:buNone/>
            </a:pPr>
            <a:r>
              <a:rPr lang="en-US" dirty="0"/>
              <a:t>Information technology</a:t>
            </a:r>
          </a:p>
          <a:p>
            <a:pPr marL="109728" indent="0">
              <a:buNone/>
            </a:pPr>
            <a:r>
              <a:rPr lang="en-US" dirty="0"/>
              <a:t>Consumer products</a:t>
            </a:r>
          </a:p>
          <a:p>
            <a:pPr marL="109728" indent="0">
              <a:buNone/>
            </a:pPr>
            <a:r>
              <a:rPr lang="en-US" b="1" dirty="0"/>
              <a:t>Other examples:</a:t>
            </a:r>
          </a:p>
          <a:p>
            <a:pPr marL="109728" indent="0">
              <a:buNone/>
            </a:pPr>
            <a:r>
              <a:rPr lang="en-US" dirty="0" err="1"/>
              <a:t>Akij</a:t>
            </a:r>
            <a:r>
              <a:rPr lang="en-US" dirty="0"/>
              <a:t> Group – tobacco, textiles, cement, food &amp; beverage, ceramics</a:t>
            </a:r>
          </a:p>
          <a:p>
            <a:pPr marL="109728" indent="0">
              <a:buNone/>
            </a:pPr>
            <a:r>
              <a:rPr lang="en-US" dirty="0"/>
              <a:t>PRAN-RFL Group – food and beverages, plastics, electronics, agriculture</a:t>
            </a:r>
          </a:p>
        </p:txBody>
      </p:sp>
    </p:spTree>
    <p:extLst>
      <p:ext uri="{BB962C8B-B14F-4D97-AF65-F5344CB8AC3E}">
        <p14:creationId xmlns:p14="http://schemas.microsoft.com/office/powerpoint/2010/main" val="29306666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229600" cy="685800"/>
          </a:xfrm>
        </p:spPr>
        <p:txBody>
          <a:bodyPr>
            <a:normAutofit fontScale="90000"/>
          </a:bodyPr>
          <a:lstStyle/>
          <a:p>
            <a:r>
              <a:rPr lang="en-US" b="1" dirty="0"/>
              <a:t>Horizontal Merger</a:t>
            </a:r>
            <a:endParaRPr lang="en-US" dirty="0"/>
          </a:p>
        </p:txBody>
      </p:sp>
      <p:sp>
        <p:nvSpPr>
          <p:cNvPr id="3" name="Content Placeholder 2"/>
          <p:cNvSpPr>
            <a:spLocks noGrp="1"/>
          </p:cNvSpPr>
          <p:nvPr>
            <p:ph idx="1"/>
          </p:nvPr>
        </p:nvSpPr>
        <p:spPr>
          <a:xfrm>
            <a:off x="304800" y="1676400"/>
            <a:ext cx="8382000" cy="4898136"/>
          </a:xfrm>
        </p:spPr>
        <p:txBody>
          <a:bodyPr>
            <a:normAutofit fontScale="92500" lnSpcReduction="10000"/>
          </a:bodyPr>
          <a:lstStyle/>
          <a:p>
            <a:r>
              <a:rPr lang="en-US" dirty="0"/>
              <a:t>A merger occurring between companies in the same industry. </a:t>
            </a:r>
          </a:p>
          <a:p>
            <a:r>
              <a:rPr lang="en-US" dirty="0"/>
              <a:t>Horizontal merger is a business consolidation that occurs between firms who operate in the same space, often as competitors offering the same good or service. </a:t>
            </a:r>
          </a:p>
          <a:p>
            <a:r>
              <a:rPr lang="en-US" dirty="0"/>
              <a:t>Horizontal mergers are common in industries with fewer firms, as competition tends to be higher and the synergies and potential gains in market share are much greater for merging firms in such an industry.</a:t>
            </a:r>
          </a:p>
          <a:p>
            <a:r>
              <a:rPr lang="en-US" b="1" dirty="0"/>
              <a:t>Example</a:t>
            </a:r>
            <a:r>
              <a:rPr lang="en-US" dirty="0"/>
              <a:t>: A merger between Coca-Cola and the Pepsi beverage division.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229600" cy="838200"/>
          </a:xfrm>
        </p:spPr>
        <p:txBody>
          <a:bodyPr/>
          <a:lstStyle/>
          <a:p>
            <a:r>
              <a:rPr lang="en-US" b="1" dirty="0"/>
              <a:t>Market Extension Mergers</a:t>
            </a:r>
            <a:endParaRPr lang="en-US" dirty="0"/>
          </a:p>
        </p:txBody>
      </p:sp>
      <p:sp>
        <p:nvSpPr>
          <p:cNvPr id="3" name="Content Placeholder 2"/>
          <p:cNvSpPr>
            <a:spLocks noGrp="1"/>
          </p:cNvSpPr>
          <p:nvPr>
            <p:ph idx="1"/>
          </p:nvPr>
        </p:nvSpPr>
        <p:spPr>
          <a:xfrm>
            <a:off x="228600" y="1828800"/>
            <a:ext cx="8458200" cy="4745736"/>
          </a:xfrm>
        </p:spPr>
        <p:txBody>
          <a:bodyPr>
            <a:normAutofit/>
          </a:bodyPr>
          <a:lstStyle/>
          <a:p>
            <a:r>
              <a:rPr lang="en-US" dirty="0"/>
              <a:t>A market extension merger takes place between two companies that deal in the same products but in separate markets. </a:t>
            </a:r>
          </a:p>
          <a:p>
            <a:r>
              <a:rPr lang="en-US" dirty="0"/>
              <a:t>The main purpose of the market extension merger is to make sure that the merging companies can get access to a bigger market and that ensures a bigger client base. </a:t>
            </a:r>
          </a:p>
          <a:p>
            <a:endParaRPr lang="en-US" dirty="0"/>
          </a:p>
          <a:p>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914400"/>
          </a:xfrm>
        </p:spPr>
        <p:txBody>
          <a:bodyPr/>
          <a:lstStyle/>
          <a:p>
            <a:r>
              <a:rPr lang="en-US" b="1" dirty="0"/>
              <a:t>Product Extension Mergers</a:t>
            </a:r>
            <a:endParaRPr lang="en-US" dirty="0"/>
          </a:p>
        </p:txBody>
      </p:sp>
      <p:sp>
        <p:nvSpPr>
          <p:cNvPr id="3" name="Content Placeholder 2"/>
          <p:cNvSpPr>
            <a:spLocks noGrp="1"/>
          </p:cNvSpPr>
          <p:nvPr>
            <p:ph idx="1"/>
          </p:nvPr>
        </p:nvSpPr>
        <p:spPr>
          <a:xfrm>
            <a:off x="381000" y="1752600"/>
            <a:ext cx="8305800" cy="4821936"/>
          </a:xfrm>
        </p:spPr>
        <p:txBody>
          <a:bodyPr>
            <a:normAutofit/>
          </a:bodyPr>
          <a:lstStyle/>
          <a:p>
            <a:r>
              <a:rPr lang="en-US" dirty="0"/>
              <a:t>A product extension merger takes place between two business organizations that deal in products that are related to each other and operate in the same market. </a:t>
            </a:r>
          </a:p>
          <a:p>
            <a:r>
              <a:rPr lang="en-US" dirty="0"/>
              <a:t>The product extension merger allows the merging companies to group together their products and get access to a bigger set of consumers. This ensures that they earn higher profits. </a:t>
            </a:r>
          </a:p>
          <a:p>
            <a:endParaRPr lang="en-US" b="1"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229600" cy="838200"/>
          </a:xfrm>
        </p:spPr>
        <p:txBody>
          <a:bodyPr/>
          <a:lstStyle/>
          <a:p>
            <a:r>
              <a:rPr lang="en-US" b="1" dirty="0"/>
              <a:t>Vertical Merger</a:t>
            </a:r>
            <a:endParaRPr lang="en-US" dirty="0"/>
          </a:p>
        </p:txBody>
      </p:sp>
      <p:sp>
        <p:nvSpPr>
          <p:cNvPr id="3" name="Content Placeholder 2"/>
          <p:cNvSpPr>
            <a:spLocks noGrp="1"/>
          </p:cNvSpPr>
          <p:nvPr>
            <p:ph idx="1"/>
          </p:nvPr>
        </p:nvSpPr>
        <p:spPr>
          <a:xfrm>
            <a:off x="457200" y="1828800"/>
            <a:ext cx="8229600" cy="4745736"/>
          </a:xfrm>
        </p:spPr>
        <p:txBody>
          <a:bodyPr>
            <a:normAutofit/>
          </a:bodyPr>
          <a:lstStyle/>
          <a:p>
            <a:r>
              <a:rPr lang="en-US" dirty="0"/>
              <a:t>A merger between two companies producing different goods or services for one specific finished product. </a:t>
            </a:r>
          </a:p>
          <a:p>
            <a:r>
              <a:rPr lang="en-US" dirty="0"/>
              <a:t>A vertical merger occurs when two or more firms, operating at different levels within an industry's supply chain, merge operations. </a:t>
            </a:r>
          </a:p>
          <a:p>
            <a:r>
              <a:rPr lang="en-US" dirty="0"/>
              <a:t>Most often the logic behind the merger is to increase synergies created by merging firms that would be more efficient operating as one. </a:t>
            </a:r>
          </a:p>
          <a:p>
            <a:endParaRPr lang="en-US" b="1"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5F971-4FE4-4544-81B5-873A98225996}"/>
              </a:ext>
            </a:extLst>
          </p:cNvPr>
          <p:cNvSpPr>
            <a:spLocks noGrp="1"/>
          </p:cNvSpPr>
          <p:nvPr>
            <p:ph type="title"/>
          </p:nvPr>
        </p:nvSpPr>
        <p:spPr/>
        <p:txBody>
          <a:bodyPr/>
          <a:lstStyle/>
          <a:p>
            <a:r>
              <a:rPr lang="en-US" dirty="0"/>
              <a:t>Vertical merger</a:t>
            </a:r>
          </a:p>
        </p:txBody>
      </p:sp>
      <p:sp>
        <p:nvSpPr>
          <p:cNvPr id="3" name="Content Placeholder 2">
            <a:extLst>
              <a:ext uri="{FF2B5EF4-FFF2-40B4-BE49-F238E27FC236}">
                <a16:creationId xmlns:a16="http://schemas.microsoft.com/office/drawing/2014/main" id="{6BE59526-AA0A-498A-B91A-23CE6E2D4EB0}"/>
              </a:ext>
            </a:extLst>
          </p:cNvPr>
          <p:cNvSpPr>
            <a:spLocks noGrp="1"/>
          </p:cNvSpPr>
          <p:nvPr>
            <p:ph idx="1"/>
          </p:nvPr>
        </p:nvSpPr>
        <p:spPr/>
        <p:txBody>
          <a:bodyPr>
            <a:normAutofit fontScale="92500" lnSpcReduction="10000"/>
          </a:bodyPr>
          <a:lstStyle/>
          <a:p>
            <a:r>
              <a:rPr lang="en-US" dirty="0"/>
              <a:t>A notable example of a vertical merger in Bangladesh is the 2016 merger between </a:t>
            </a:r>
            <a:r>
              <a:rPr lang="en-US" dirty="0" err="1"/>
              <a:t>Robi</a:t>
            </a:r>
            <a:r>
              <a:rPr lang="en-US" dirty="0"/>
              <a:t> Axiata and Airtel Bangladesh. This strategic move combined </a:t>
            </a:r>
            <a:r>
              <a:rPr lang="en-US" dirty="0" err="1"/>
              <a:t>Robi</a:t>
            </a:r>
            <a:r>
              <a:rPr lang="en-US" dirty="0"/>
              <a:t> Axiata, a telecommunications service provider, with Airtel Bangladesh, creating a single entity that enhanced their control over various stages of the telecommunications supply chain. By integrating operations, the merger allowed for improved network infrastructure, streamlined services, and a more robust market presence in the country's competitive telecom sector.</a:t>
            </a:r>
          </a:p>
        </p:txBody>
      </p:sp>
    </p:spTree>
    <p:extLst>
      <p:ext uri="{BB962C8B-B14F-4D97-AF65-F5344CB8AC3E}">
        <p14:creationId xmlns:p14="http://schemas.microsoft.com/office/powerpoint/2010/main" val="186188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90600"/>
            <a:ext cx="8229600" cy="914400"/>
          </a:xfrm>
        </p:spPr>
        <p:txBody>
          <a:bodyPr/>
          <a:lstStyle/>
          <a:p>
            <a:r>
              <a:rPr lang="en-US" b="1" dirty="0"/>
              <a:t>Reverse merge</a:t>
            </a:r>
            <a:endParaRPr lang="en-US" dirty="0"/>
          </a:p>
        </p:txBody>
      </p:sp>
      <p:sp>
        <p:nvSpPr>
          <p:cNvPr id="3" name="Content Placeholder 2"/>
          <p:cNvSpPr>
            <a:spLocks noGrp="1"/>
          </p:cNvSpPr>
          <p:nvPr>
            <p:ph idx="1"/>
          </p:nvPr>
        </p:nvSpPr>
        <p:spPr/>
        <p:txBody>
          <a:bodyPr/>
          <a:lstStyle/>
          <a:p>
            <a:r>
              <a:rPr lang="en-US" dirty="0"/>
              <a:t>Occurs when a privately held company acquires a publicly traded, but usually dormant, company. </a:t>
            </a:r>
          </a:p>
          <a:p>
            <a:r>
              <a:rPr lang="en-US" dirty="0"/>
              <a:t>By doing so, the private company becomes public.</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229600" cy="990600"/>
          </a:xfrm>
        </p:spPr>
        <p:txBody>
          <a:bodyPr>
            <a:normAutofit/>
          </a:bodyPr>
          <a:lstStyle/>
          <a:p>
            <a:r>
              <a:rPr lang="en-US" b="1" dirty="0"/>
              <a:t>Acquisition</a:t>
            </a:r>
            <a:endParaRPr lang="en-US" dirty="0"/>
          </a:p>
        </p:txBody>
      </p:sp>
      <p:sp>
        <p:nvSpPr>
          <p:cNvPr id="3" name="Content Placeholder 2"/>
          <p:cNvSpPr>
            <a:spLocks noGrp="1"/>
          </p:cNvSpPr>
          <p:nvPr>
            <p:ph idx="1"/>
          </p:nvPr>
        </p:nvSpPr>
        <p:spPr>
          <a:xfrm>
            <a:off x="457200" y="1828800"/>
            <a:ext cx="8229600" cy="4745736"/>
          </a:xfrm>
        </p:spPr>
        <p:txBody>
          <a:bodyPr>
            <a:normAutofit lnSpcReduction="10000"/>
          </a:bodyPr>
          <a:lstStyle/>
          <a:p>
            <a:pPr lvl="0"/>
            <a:r>
              <a:rPr lang="en-US" dirty="0"/>
              <a:t>An acquisition is a kind of business combination that refers to purchase of a company's asset. </a:t>
            </a:r>
          </a:p>
          <a:p>
            <a:pPr lvl="0"/>
            <a:r>
              <a:rPr lang="en-US" dirty="0"/>
              <a:t>In this type one company that is more stable and financially strong in the market buys the assets of the weaker company and integrates all the operations in its own firm. </a:t>
            </a:r>
          </a:p>
          <a:p>
            <a:pPr lvl="0"/>
            <a:r>
              <a:rPr lang="en-US" dirty="0"/>
              <a:t>The stronger company buys the assets of the target company and then takes over the company with all its assets and liabilities. </a:t>
            </a:r>
          </a:p>
          <a:p>
            <a:pPr lvl="0"/>
            <a:r>
              <a:rPr lang="en-US" dirty="0"/>
              <a:t>This type is much similar to a merger but is known to be a forceful combination.</a:t>
            </a:r>
          </a:p>
          <a:p>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762000"/>
          </a:xfrm>
        </p:spPr>
        <p:txBody>
          <a:bodyPr/>
          <a:lstStyle/>
          <a:p>
            <a:r>
              <a:rPr lang="en-US" b="1" dirty="0"/>
              <a:t>Consolidation</a:t>
            </a:r>
            <a:endParaRPr lang="en-US" dirty="0"/>
          </a:p>
        </p:txBody>
      </p:sp>
      <p:sp>
        <p:nvSpPr>
          <p:cNvPr id="3" name="Content Placeholder 2"/>
          <p:cNvSpPr>
            <a:spLocks noGrp="1"/>
          </p:cNvSpPr>
          <p:nvPr>
            <p:ph idx="1"/>
          </p:nvPr>
        </p:nvSpPr>
        <p:spPr>
          <a:xfrm>
            <a:off x="304800" y="2057400"/>
            <a:ext cx="8382000" cy="4517136"/>
          </a:xfrm>
        </p:spPr>
        <p:txBody>
          <a:bodyPr/>
          <a:lstStyle/>
          <a:p>
            <a:pPr lvl="0"/>
            <a:r>
              <a:rPr lang="en-US" dirty="0"/>
              <a:t>Consolidation is a kind of association in which two or more companies of same size come together to form a new identity in the market. </a:t>
            </a:r>
          </a:p>
          <a:p>
            <a:pPr lvl="0"/>
            <a:r>
              <a:rPr lang="en-US" dirty="0"/>
              <a:t>All the combined companies share equal shares, assets, and liabilities along with their resources, talent, technology, and other essentials. </a:t>
            </a:r>
          </a:p>
          <a:p>
            <a:pPr lvl="0"/>
            <a:r>
              <a:rPr lang="en-US" dirty="0"/>
              <a:t>The combined companies loose their name and identity and are finally known by the new structure and name.</a:t>
            </a:r>
          </a:p>
          <a:p>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p:cNvGraphicFramePr/>
          <p:nvPr/>
        </p:nvGraphicFramePr>
        <p:xfrm>
          <a:off x="1219201" y="1143000"/>
          <a:ext cx="670560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14400"/>
            <a:ext cx="8229600" cy="990600"/>
          </a:xfrm>
        </p:spPr>
        <p:txBody>
          <a:bodyPr/>
          <a:lstStyle/>
          <a:p>
            <a:r>
              <a:rPr lang="en-US" b="1" dirty="0"/>
              <a:t>Takeover</a:t>
            </a:r>
            <a:endParaRPr lang="en-US" dirty="0"/>
          </a:p>
        </p:txBody>
      </p:sp>
      <p:sp>
        <p:nvSpPr>
          <p:cNvPr id="3" name="Content Placeholder 2"/>
          <p:cNvSpPr>
            <a:spLocks noGrp="1"/>
          </p:cNvSpPr>
          <p:nvPr>
            <p:ph idx="1"/>
          </p:nvPr>
        </p:nvSpPr>
        <p:spPr>
          <a:xfrm>
            <a:off x="457200" y="1905000"/>
            <a:ext cx="8229600" cy="4669536"/>
          </a:xfrm>
        </p:spPr>
        <p:txBody>
          <a:bodyPr/>
          <a:lstStyle/>
          <a:p>
            <a:r>
              <a:rPr lang="en-US" dirty="0"/>
              <a:t>Takeover is a form of acquisition usually followed by a merger. Takeover can be hostile or friendly. </a:t>
            </a:r>
          </a:p>
          <a:p>
            <a:r>
              <a:rPr lang="en-US" dirty="0"/>
              <a:t>The public tender offer is a means of acquiring a target firm against the wishes of management.</a:t>
            </a:r>
          </a:p>
          <a:p>
            <a:r>
              <a:rPr lang="en-US" dirty="0"/>
              <a:t>In a friendly takeover the acquiring firm negotiates with the targeted company.</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p:cNvGraphicFramePr/>
          <p:nvPr/>
        </p:nvGraphicFramePr>
        <p:xfrm>
          <a:off x="457200" y="1143000"/>
          <a:ext cx="8229600" cy="4800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Thanks to Join with us!</a:t>
            </a:r>
          </a:p>
        </p:txBody>
      </p:sp>
      <p:sp>
        <p:nvSpPr>
          <p:cNvPr id="3" name="Subtitle 2"/>
          <p:cNvSpPr>
            <a:spLocks noGrp="1"/>
          </p:cNvSpPr>
          <p:nvPr>
            <p:ph type="subTitle" idx="1"/>
          </p:nvPr>
        </p:nvSpPr>
        <p:spPr/>
        <p:txBody>
          <a:bodyPr/>
          <a:lstStyle/>
          <a:p>
            <a:r>
              <a:rPr lang="en-US" dirty="0"/>
              <a:t>Question so far?</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rban">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Urba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396</TotalTime>
  <Words>1781</Words>
  <Application>Microsoft Office PowerPoint</Application>
  <PresentationFormat>On-screen Show (4:3)</PresentationFormat>
  <Paragraphs>216</Paragraphs>
  <Slides>41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Arial</vt:lpstr>
      <vt:lpstr>Calibri</vt:lpstr>
      <vt:lpstr>Georgia</vt:lpstr>
      <vt:lpstr>Times New Roman</vt:lpstr>
      <vt:lpstr>Trebuchet MS</vt:lpstr>
      <vt:lpstr>Wingdings 2</vt:lpstr>
      <vt:lpstr>Urban</vt:lpstr>
      <vt:lpstr>Chapter 4  Business Combination</vt:lpstr>
      <vt:lpstr>Learning Goals</vt:lpstr>
      <vt:lpstr>Chapter Contents</vt:lpstr>
      <vt:lpstr>Definition of Business Combination</vt:lpstr>
      <vt:lpstr>Emergence of Various techniques of business combinations</vt:lpstr>
      <vt:lpstr>From 1903 – 1905</vt:lpstr>
      <vt:lpstr>From 1916 – 1940</vt:lpstr>
      <vt:lpstr>From 1965 – 1970</vt:lpstr>
      <vt:lpstr>PowerPoint Presentation</vt:lpstr>
      <vt:lpstr>From 1981 – 1989</vt:lpstr>
      <vt:lpstr>From 1992 till present</vt:lpstr>
      <vt:lpstr>Causes of Business combination</vt:lpstr>
      <vt:lpstr>Advantages of Business Combination</vt:lpstr>
      <vt:lpstr>Disadvantages of Business Combination</vt:lpstr>
      <vt:lpstr>Types of combinations</vt:lpstr>
      <vt:lpstr>Horizontal combination</vt:lpstr>
      <vt:lpstr>2. Vertical combination</vt:lpstr>
      <vt:lpstr>Lateral or Allied Combination</vt:lpstr>
      <vt:lpstr>Lateral or Allied Combination</vt:lpstr>
      <vt:lpstr>Convergent lateral combination</vt:lpstr>
      <vt:lpstr>Divergent lateral integration or combination</vt:lpstr>
      <vt:lpstr>Divergent lateral integration or combination</vt:lpstr>
      <vt:lpstr>Diagonal combination</vt:lpstr>
      <vt:lpstr>Diagonal combination</vt:lpstr>
      <vt:lpstr>Circular combination</vt:lpstr>
      <vt:lpstr>Techniques of Business combination</vt:lpstr>
      <vt:lpstr>PowerPoint Presentation</vt:lpstr>
      <vt:lpstr>Conglomerate</vt:lpstr>
      <vt:lpstr>Example of a Conglomerate in Bangladesh</vt:lpstr>
      <vt:lpstr>Horizontal Merger</vt:lpstr>
      <vt:lpstr>Market Extension Mergers</vt:lpstr>
      <vt:lpstr>Product Extension Mergers</vt:lpstr>
      <vt:lpstr>Vertical Merger</vt:lpstr>
      <vt:lpstr>Vertical merger</vt:lpstr>
      <vt:lpstr>Reverse merge</vt:lpstr>
      <vt:lpstr>Acquisition</vt:lpstr>
      <vt:lpstr>Consolidation</vt:lpstr>
      <vt:lpstr>PowerPoint Presentation</vt:lpstr>
      <vt:lpstr>Takeover</vt:lpstr>
      <vt:lpstr>PowerPoint Presentation</vt:lpstr>
      <vt:lpstr>Thanks to Join with us!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Combination</dc:title>
  <dc:creator>Zia</dc:creator>
  <cp:lastModifiedBy>User</cp:lastModifiedBy>
  <cp:revision>56</cp:revision>
  <dcterms:created xsi:type="dcterms:W3CDTF">2006-08-16T00:00:00Z</dcterms:created>
  <dcterms:modified xsi:type="dcterms:W3CDTF">2025-09-21T16:07:04Z</dcterms:modified>
</cp:coreProperties>
</file>